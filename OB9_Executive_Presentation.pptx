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0"/>
            <a:ext cx="2743200" cy="2743200"/>
          </a:xfrm>
          <a:prstGeom prst="ellipse">
            <a:avLst/>
          </a:prstGeom>
          <a:ln w="31750">
            <a:solidFill>
              <a:srgbClr val="1E4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5029200"/>
            <a:ext cx="1097280" cy="10972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9829800" y="4800600"/>
            <a:ext cx="1554480" cy="1554480"/>
          </a:xfrm>
          <a:prstGeom prst="ellipse">
            <a:avLst/>
          </a:prstGeom>
          <a:ln w="31750">
            <a:solidFill>
              <a:srgbClr val="2A5A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96144" y="5266944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Predictive Maintenance Dashboard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ระบบบริหารจัดการงานซ่อมบำรุงเชิงป้องกัน/พยากรณ์ สำหรับเครื่องจักรหลักหน้างาน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25400">
            <a:solidFill>
              <a:srgbClr val="0B6E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Mae Moh Mine  ·  thyssenkrupp Industrial Solutions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นำเสนอผู้บริหาร  ·  8 กรกฎาคม 2569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6E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ความท้าทายเดิม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ก่อนมีระบบ OB9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7F9FA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532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ข้อมูลกระจัดกระจาย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บันทึกตรวจเช็คและงานซ่อมแยกกันหลายไฟล์ หลายคน ไม่มีจุดศูนย์กลาง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160020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7F9FA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874520"/>
            <a:ext cx="502920" cy="502920"/>
          </a:xfrm>
          <a:prstGeom prst="ellipse">
            <a:avLst/>
          </a:prstGeom>
          <a:solidFill>
            <a:srgbClr val="15324A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856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ระบุตำแหน่งเสียได้ยาก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63640" y="246888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ต้องอาศัยประสบการณ์ตีความชื่อชิ้นส่วนจากคู่มือ เสี่ยงเบิกอะไหล่ผิด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7F9FA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1532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142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ผู้บริหารไม่เห็นภาพรวมทันเวลา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ต้องรอรายงานสรุปเป็นรอบ ไม่ทราบสถานะเครื่องจักรแบบเรียลไทม์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89320" y="388620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7F9FA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4160520"/>
            <a:ext cx="502920" cy="502920"/>
          </a:xfrm>
          <a:prstGeom prst="ellipse">
            <a:avLst/>
          </a:prstGeom>
          <a:solidFill>
            <a:srgbClr val="15324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4142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เสี่ยงข้อมูลสูญหาย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63640" y="475488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 Excel เดี่ยวไม่มีระบบสำรองอัตโนมัติ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 Predictive Maintenance Dashboard  ·  Mae Moh Mine  ·  thyssenkrupp Industrial Solutions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6E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หน้าจอการทำงาน 5 ส่วน เชื่อมโยงเป็นระบบเดียว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920240" cy="23774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E2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7048" y="2377440"/>
            <a:ext cx="512064" cy="512064"/>
          </a:xfrm>
          <a:prstGeom prst="ellipse">
            <a:avLst/>
          </a:prstGeom>
          <a:solidFill>
            <a:srgbClr val="E3F1EC"/>
          </a:solidFill>
          <a:ln/>
        </p:spPr>
      </p:sp>
      <p:sp>
        <p:nvSpPr>
          <p:cNvPr id="6" name="Text 4"/>
          <p:cNvSpPr/>
          <p:nvPr/>
        </p:nvSpPr>
        <p:spPr>
          <a:xfrm>
            <a:off x="152704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6E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361188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0" y="3017520"/>
            <a:ext cx="251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E8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94660" y="2103120"/>
            <a:ext cx="1920240" cy="2377440"/>
          </a:xfrm>
          <a:prstGeom prst="roundRect">
            <a:avLst>
              <a:gd name="adj" fmla="val 4286"/>
            </a:avLst>
          </a:prstGeom>
          <a:solidFill>
            <a:srgbClr val="15324A"/>
          </a:solidFill>
          <a:ln w="15875">
            <a:solidFill>
              <a:srgbClr val="15324A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98748" y="237744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369874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86100" y="3017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4388" y="361188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0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ศูนย์กลางข้อมูล PM / WO / อะไหล่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14900" y="3017520"/>
            <a:ext cx="251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E8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166360" y="2103120"/>
            <a:ext cx="1920240" cy="23774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E2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70448" y="2377440"/>
            <a:ext cx="512064" cy="512064"/>
          </a:xfrm>
          <a:prstGeom prst="ellipse">
            <a:avLst/>
          </a:prstGeom>
          <a:solidFill>
            <a:srgbClr val="E3F1EC"/>
          </a:solidFill>
          <a:ln/>
        </p:spPr>
      </p:sp>
      <p:sp>
        <p:nvSpPr>
          <p:cNvPr id="18" name="Text 16"/>
          <p:cNvSpPr/>
          <p:nvPr/>
        </p:nvSpPr>
        <p:spPr>
          <a:xfrm>
            <a:off x="587044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6E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57800" y="3017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Daily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Inspection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76088" y="361188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ตรวจเช็คประจำวัน + ระบุตำแหน่ง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86600" y="3017520"/>
            <a:ext cx="251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E8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38060" y="2103120"/>
            <a:ext cx="1920240" cy="23774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E2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2148" y="2377440"/>
            <a:ext cx="512064" cy="512064"/>
          </a:xfrm>
          <a:prstGeom prst="ellipse">
            <a:avLst/>
          </a:prstGeom>
          <a:solidFill>
            <a:srgbClr val="E3F1EC"/>
          </a:solidFill>
          <a:ln/>
        </p:spPr>
      </p:sp>
      <p:sp>
        <p:nvSpPr>
          <p:cNvPr id="24" name="Text 22"/>
          <p:cNvSpPr/>
          <p:nvPr/>
        </p:nvSpPr>
        <p:spPr>
          <a:xfrm>
            <a:off x="804214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6E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29500" y="3017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 Form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47788" y="361188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แจ้งซ่อมหน้างาน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58300" y="3017520"/>
            <a:ext cx="251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E8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509760" y="2103120"/>
            <a:ext cx="1920240" cy="23774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E2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13848" y="2377440"/>
            <a:ext cx="512064" cy="512064"/>
          </a:xfrm>
          <a:prstGeom prst="ellipse">
            <a:avLst/>
          </a:prstGeom>
          <a:solidFill>
            <a:srgbClr val="E3F1EC"/>
          </a:solidFill>
          <a:ln/>
        </p:spPr>
      </p:sp>
      <p:sp>
        <p:nvSpPr>
          <p:cNvPr id="30" name="Text 28"/>
          <p:cNvSpPr/>
          <p:nvPr/>
        </p:nvSpPr>
        <p:spPr>
          <a:xfrm>
            <a:off x="1021384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6E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01200" y="3017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Executive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Summary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19488" y="361188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สรุปสำหรับผู้บริหาร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ข้อมูลทั้งหมดเชื่อมโยงกันผ่านระบบเดียว — บันทึกครั้งเดียว ใช้ได้ทุกหน้าจอ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 Predictive Maintenance Dashboard  ·  Mae Moh Mine  ·  thyssenkrupp Industrial Solutions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6E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ฟีเจอร์เด่น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ตรวจเช็คประจำวัน พร้อมระบุตำแหน่งชิ้นส่วนแม่นยำ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เช็คลิสต์มาตรฐานต่อเครื่องจักร ลดความคลาดเคลื่อนระหว่างผู้ตรวจ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รายการวิกฤต (CRIT) แปลงเป็นใบแจ้งซ่อมอัตโนมัติทันที ไม่ต้องกรอกซ้ำ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กล่องสรุป “Designation — Spare Data Link”: เครื่องจักร › ระบบ › ชิ้นส่วน › ตำแหน่ง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ลดเวลาสื่อสารและความผิดพลาดในการเบิกอะไหล่ผิดชิ้น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66560" y="1691640"/>
            <a:ext cx="4892040" cy="4206240"/>
          </a:xfrm>
          <a:prstGeom prst="roundRect">
            <a:avLst>
              <a:gd name="adj" fmla="val 1739"/>
            </a:avLst>
          </a:prstGeom>
          <a:solidFill>
            <a:srgbClr val="0B1F30"/>
          </a:solidFill>
          <a:ln/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9202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ผังตำแหน่งชิ้นส่วน (ตัวอย่าง)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2697480"/>
            <a:ext cx="3794760" cy="1463040"/>
          </a:xfrm>
          <a:prstGeom prst="roundRect">
            <a:avLst>
              <a:gd name="adj" fmla="val 3750"/>
            </a:avLst>
          </a:prstGeom>
          <a:solidFill>
            <a:srgbClr val="1C3C54"/>
          </a:solidFill>
          <a:ln w="12700">
            <a:solidFill>
              <a:srgbClr val="2A5A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063240"/>
            <a:ext cx="2880360" cy="320040"/>
          </a:xfrm>
          <a:prstGeom prst="rect">
            <a:avLst/>
          </a:prstGeom>
          <a:solidFill>
            <a:srgbClr val="15324A"/>
          </a:solidFill>
          <a:ln/>
        </p:spPr>
      </p:sp>
      <p:sp>
        <p:nvSpPr>
          <p:cNvPr id="9" name="Shape 7"/>
          <p:cNvSpPr/>
          <p:nvPr/>
        </p:nvSpPr>
        <p:spPr>
          <a:xfrm>
            <a:off x="9994392" y="2816352"/>
            <a:ext cx="585216" cy="585216"/>
          </a:xfrm>
          <a:prstGeom prst="ellipse">
            <a:avLst/>
          </a:prstGeom>
          <a:ln w="317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69957" y="2991917"/>
            <a:ext cx="234086" cy="23408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1" name="Shape 9"/>
          <p:cNvSpPr/>
          <p:nvPr/>
        </p:nvSpPr>
        <p:spPr>
          <a:xfrm>
            <a:off x="8101584" y="3621024"/>
            <a:ext cx="438912" cy="438912"/>
          </a:xfrm>
          <a:prstGeom prst="ellipse">
            <a:avLst/>
          </a:prstGeom>
          <a:ln w="31750">
            <a:solidFill>
              <a:srgbClr val="0B6E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33258" y="3752698"/>
            <a:ext cx="175565" cy="175565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44348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Shift — Drive System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48006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Pos.6  ·  Limit switch (สวิตช์จำกัดระยะ)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0" y="52120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6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วงกลมกระพริบสีแดงชี้ตำแหน่งจริงบนผังรูป อัปเดตอัตโนมัติตามชิ้นส่วนที่เลือก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 Predictive Maintenance Dashboard  ·  Mae Moh Mine  ·  thyssenkrupp Industrial Solutions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6E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ฟีเจอร์เด่น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รายงานอัตโนมัติ และความปลอดภัยของข้อมูล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607040" cy="1298448"/>
          </a:xfrm>
          <a:prstGeom prst="roundRect">
            <a:avLst>
              <a:gd name="adj" fmla="val 5634"/>
            </a:avLst>
          </a:prstGeom>
          <a:solidFill>
            <a:srgbClr val="F7F9FA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66544"/>
            <a:ext cx="640080" cy="640080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90195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 Sheet — Excel 5 ชีทในไฟล์เดียว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737360" y="230428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Executive Summary, PM Checklist, Work Orders, ประวัติตรวจเช็ค, รายการ DUE/WARN พร้อมใช้ในคลิกเดียว รวมถึง Word และ PowerPoint สรุปผล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0607040" cy="1298448"/>
          </a:xfrm>
          <a:prstGeom prst="roundRect">
            <a:avLst>
              <a:gd name="adj" fmla="val 5634"/>
            </a:avLst>
          </a:prstGeom>
          <a:solidFill>
            <a:srgbClr val="F7F9FA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529584"/>
            <a:ext cx="640080" cy="640080"/>
          </a:xfrm>
          <a:prstGeom prst="ellipse">
            <a:avLst/>
          </a:prstGeom>
          <a:solidFill>
            <a:srgbClr val="15324A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336499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สำรองข้อมูลอัตโนมัติทุกวัน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737360" y="376732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ระบบตรวจสอบและสำรองไฟล์ .json ให้เองทุก 24 ชั่วโมง พร้อมสำรอง/กู้คืนด้วยตนเองและลาก-วางไฟล์ได้ทุกเมื่อ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0607040" cy="1298448"/>
          </a:xfrm>
          <a:prstGeom prst="roundRect">
            <a:avLst>
              <a:gd name="adj" fmla="val 5634"/>
            </a:avLst>
          </a:prstGeom>
          <a:solidFill>
            <a:srgbClr val="F7F9FA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992624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482803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เชื่อมต่อ Google Sheets แบบอัตโนมัติ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737360" y="523036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ทุกครั้งที่บันทึกงานซ่อม ข้อมูลจะขึ้นสำเนาบน Google Sheets ให้เองภายในไม่ถึง 1 วินาที ไม่ต้องกดปุ่มเพิ่ม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 Predictive Maintenance Dashboard  ·  Mae Moh Mine  ·  thyssenkrupp Industrial Solutions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ขอบเขตของระบบ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 Dashboard ในตัวเลข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C3C54"/>
          </a:solidFill>
          <a:ln w="12700">
            <a:solidFill>
              <a:srgbClr val="2A5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กลุ่มเครื่องจักรหลัก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6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· Tripper · Line Shift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9272" y="196596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C3C54"/>
          </a:solidFill>
          <a:ln w="12700">
            <a:solidFill>
              <a:srgbClr val="2A5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22860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502152" y="3566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รายการตรวจเช็คมาตรฐาน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02152" y="4251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6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PM Checklist ต่อรอบตรวจ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9904" y="196596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C3C54"/>
          </a:solidFill>
          <a:ln w="12700">
            <a:solidFill>
              <a:srgbClr val="2A5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9904" y="22860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272784" y="3566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หน้าจอการทำงาน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72784" y="4251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6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เชื่อมโยงข้อมูลเป็นระบบเดียว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0536" y="196596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C3C54"/>
          </a:solidFill>
          <a:ln w="12700">
            <a:solidFill>
              <a:srgbClr val="2A5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0536" y="22860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9043416" y="3566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รูปแบบรายงาน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43416" y="4251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6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Excel · Word · PowerPoint · Print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3D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 Predictive Maintenance Dashboard  ·  Mae Moh Mine  ·  thyssenkrupp Industrial Solutions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6E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คุณค่าที่ได้รับ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ประโยชน์ต่อผู้ใช้งานแต่ละกลุ่ม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7F9FA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429000" cy="77724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0B6E4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03120"/>
            <a:ext cx="3429000" cy="36576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91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ช่างซ่อมบำรุง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2880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ระบุตำแหน่งชิ้นส่วนแม่นยำจากผังรูปจริง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กรอกข้อมูลเร็วจากหน้างาน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ไม่ต้องกรอกซ้ำระหว่างตรวจเช็ค–แจ้งซ่อม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7F9FA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691640"/>
            <a:ext cx="3429000" cy="777240"/>
          </a:xfrm>
          <a:prstGeom prst="rect">
            <a:avLst/>
          </a:prstGeom>
          <a:solidFill>
            <a:srgbClr val="15324A"/>
          </a:solidFill>
          <a:ln/>
        </p:spPr>
      </p:sp>
      <p:sp>
        <p:nvSpPr>
          <p:cNvPr id="12" name="Shape 10"/>
          <p:cNvSpPr/>
          <p:nvPr/>
        </p:nvSpPr>
        <p:spPr>
          <a:xfrm>
            <a:off x="4251960" y="169164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532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2103120"/>
            <a:ext cx="3429000" cy="365760"/>
          </a:xfrm>
          <a:prstGeom prst="rect">
            <a:avLst/>
          </a:prstGeom>
          <a:solidFill>
            <a:srgbClr val="15324A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691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หัวหน้างาน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6280" y="2697480"/>
            <a:ext cx="2880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ติดตามสถานะงานซ่อมแบบเรียลไทม์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ออกรายงานได้ทันทีโดยไม่ต้องรวบรวมเอง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เห็นระบบที่เสียบ่อยที่สุด (Top Failures)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7F9FA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0" y="1691640"/>
            <a:ext cx="3429000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Shape 16"/>
          <p:cNvSpPr/>
          <p:nvPr/>
        </p:nvSpPr>
        <p:spPr>
          <a:xfrm>
            <a:off x="7955280" y="169164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E8A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0" y="2103120"/>
            <a:ext cx="3429000" cy="3657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1691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ผู้บริหาร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29600" y="2697480"/>
            <a:ext cx="2880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เห็นภาพรวม KPI จากหน้าเดียว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ทราบงานค้าง Critical/High ทันที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มีสไลด์นำเสนอสำเร็จรูปพร้อมใช้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 Predictive Maintenance Dashboard  ·  Mae Moh Mine  ·  thyssenkrupp Industrial Solutions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6E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สถานะปัจจุบัน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ข้อจำกัดที่ควรทราบ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607040" cy="1691640"/>
          </a:xfrm>
          <a:prstGeom prst="roundRect">
            <a:avLst>
              <a:gd name="adj" fmla="val 4324"/>
            </a:avLst>
          </a:prstGeom>
          <a:solidFill>
            <a:srgbClr val="FDF3E2"/>
          </a:solidFill>
          <a:ln w="12700">
            <a:solidFill>
              <a:srgbClr val="F0D9AE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98424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A4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 Line Shift — Drive System / Structural Inspection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91640" y="25146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40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ยังเป็นข้อมูลร่าง (DRAFT) รอข้อมูลจริงจากคู่มือเครื่องจักรเพื่อยืนยันความถูกต้อง มีป้ายเตือนกำกับไว้ชัดเจนในระบบแล้ว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0607040" cy="1691640"/>
          </a:xfrm>
          <a:prstGeom prst="roundRect">
            <a:avLst>
              <a:gd name="adj" fmla="val 4324"/>
            </a:avLst>
          </a:prstGeom>
          <a:solidFill>
            <a:srgbClr val="FDF3E2"/>
          </a:solidFill>
          <a:ln w="12700">
            <a:solidFill>
              <a:srgbClr val="F0D9AE"/>
            </a:solidFill>
            <a:prstDash val="solid"/>
          </a:ln>
          <a:effectLst>
            <a:outerShdw sx="100000" sy="100000" kx="0" ky="0" algn="bl" rotWithShape="0" blurRad="127000" dist="38100" dir="5400000">
              <a:srgbClr val="1532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40233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395020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A4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 OEE / Availability / MTTR / MTBF / ต้นทุน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91640" y="4480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40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บางส่วนยังอ้างอิงค่าตัวอย่าง (DEMO) รอเชื่อมต่อระบบวัดข้อมูลการผลิตจริงแยกต่างหาก ตัวเลขจาก Work Order จริงถูกต้องเสมอ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 Predictive Maintenance Dashboard  ·  Mae Moh Mine  ·  thyssenkrupp Industrial Solutions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6E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แผนถัดไป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ข้อเสนอแนะขั้นตอนต่อไป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85800" cy="685800"/>
          </a:xfrm>
          <a:prstGeom prst="ellipse">
            <a:avLst/>
          </a:prstGeom>
          <a:solidFill>
            <a:srgbClr val="1532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91540" y="2514600"/>
            <a:ext cx="0" cy="594360"/>
          </a:xfrm>
          <a:prstGeom prst="line">
            <a:avLst/>
          </a:prstGeom>
          <a:noFill/>
          <a:ln w="19050">
            <a:solidFill>
              <a:srgbClr val="E2E8E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508760" y="18105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ยืนยันข้อมูล Line Shift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508760" y="2231136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รวบรวมข้อมูลจริงของ Drive System และ Structural Inspection จากคู่มือเครื่องจักร เพื่อปลดป้ายเตือน DRAFT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685800" cy="685800"/>
          </a:xfrm>
          <a:prstGeom prst="ellipse">
            <a:avLst/>
          </a:prstGeom>
          <a:solidFill>
            <a:srgbClr val="15324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91540" y="3840480"/>
            <a:ext cx="0" cy="594360"/>
          </a:xfrm>
          <a:prstGeom prst="line">
            <a:avLst/>
          </a:prstGeom>
          <a:noFill/>
          <a:ln w="19050">
            <a:solidFill>
              <a:srgbClr val="E2E8E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508760" y="313639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เชื่อมระบบวัดข้อมูลการผลิตจริง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508760" y="3557016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เชื่อมต่อแหล่งข้อมูล production/downtime จริง เพื่อคำนวณ OEE, Availability, MTTR, MTBF แทนค่าตัวอย่าง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685800" cy="685800"/>
          </a:xfrm>
          <a:prstGeom prst="ellipse">
            <a:avLst/>
          </a:prstGeom>
          <a:solidFill>
            <a:srgbClr val="15324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08760" y="446227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32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ขยายผู้ใช้งานและอบรมทีมงาน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508760" y="4882896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เปิดใช้งานเต็มรูปแบบกับทีมช่างและหัวหน้างานทุกกะ พร้อมติดตามผลลัพธ์การใช้งานจริง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 Predictive Maintenance Dashboard  ·  Mae Moh Mine  ·  thyssenkrupp Industrial Solutions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0704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2011680"/>
          </a:xfrm>
          <a:prstGeom prst="ellipse">
            <a:avLst/>
          </a:prstGeom>
          <a:ln w="31750">
            <a:solidFill>
              <a:srgbClr val="1E4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" y="969264"/>
            <a:ext cx="804672" cy="8046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" y="804672"/>
            <a:ext cx="1133856" cy="1133856"/>
          </a:xfrm>
          <a:prstGeom prst="ellipse">
            <a:avLst/>
          </a:prstGeom>
          <a:ln w="31750">
            <a:solidFill>
              <a:srgbClr val="2A5A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6269" y="1144829"/>
            <a:ext cx="453542" cy="45354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 Predictive Maintenance Dashboard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D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Mae Moh Mine  ·  thyssenkrupp Industrial Solutions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OB9 Predictive Maintenance Dashboard</dc:title>
  <dc:subject>PptxGenJS Presentation</dc:subject>
  <dc:creator>OB9 Predictive Maintenance</dc:creator>
  <cp:lastModifiedBy>OB9 Predictive Maintenance</cp:lastModifiedBy>
  <cp:revision>1</cp:revision>
  <dcterms:created xsi:type="dcterms:W3CDTF">2026-07-08T09:27:05Z</dcterms:created>
  <dcterms:modified xsi:type="dcterms:W3CDTF">2026-07-08T09:27:05Z</dcterms:modified>
</cp:coreProperties>
</file>