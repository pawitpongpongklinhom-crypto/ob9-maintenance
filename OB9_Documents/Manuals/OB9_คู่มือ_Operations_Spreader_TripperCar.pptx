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slideMasters/slideMaster122.xml" ContentType="application/vnd.openxmlformats-officedocument.presentationml.slideMaster+xml"/>
  <Override PartName="/ppt/slides/slide122.xml" ContentType="application/vnd.openxmlformats-officedocument.presentationml.slide+xml"/>
  <Override PartName="/ppt/slideMasters/slideMaster123.xml" ContentType="application/vnd.openxmlformats-officedocument.presentationml.slideMaster+xml"/>
  <Override PartName="/ppt/slides/slide123.xml" ContentType="application/vnd.openxmlformats-officedocument.presentationml.slide+xml"/>
  <Override PartName="/ppt/slideMasters/slideMaster124.xml" ContentType="application/vnd.openxmlformats-officedocument.presentationml.slideMaster+xml"/>
  <Override PartName="/ppt/slides/slide1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</p:sldIdLst>
  <p:notesMasterIdLst>
    <p:notesMasterId r:id="rId1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notesMaster" Target="notesMasters/notesMaster1.xml"/><Relationship Id="rId127" Type="http://schemas.openxmlformats.org/officeDocument/2006/relationships/presProps" Target="presProps.xml"/><Relationship Id="rId128" Type="http://schemas.openxmlformats.org/officeDocument/2006/relationships/viewProps" Target="viewProps.xml"/><Relationship Id="rId129" Type="http://schemas.openxmlformats.org/officeDocument/2006/relationships/theme" Target="theme/theme1.xml"/><Relationship Id="rId1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_rels/notesSlide1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2.xml"/>
		</Relationships>
</file>

<file path=ppt/notesSlides/_rels/notesSlide1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3.xml"/>
		</Relationships>
</file>

<file path=ppt/notesSlides/_rels/notesSlide1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OB9-MAN-OPS-01  |  คู่มือการเดินเครื่อง (Operations)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image" Target="../media/image-5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image" Target="../media/image-5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image" Target="../media/image-5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image" Target="../media/image-5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image" Target="../media/image-6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image" Target="../media/image-6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image" Target="../media/image-6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image" Target="../media/image-6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png"/><Relationship Id="rId2" Type="http://schemas.openxmlformats.org/officeDocument/2006/relationships/image" Target="../media/image-6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png"/><Relationship Id="rId2" Type="http://schemas.openxmlformats.org/officeDocument/2006/relationships/image" Target="../media/image-6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6-1.png"/><Relationship Id="rId2" Type="http://schemas.openxmlformats.org/officeDocument/2006/relationships/image" Target="../media/image-6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7-1.png"/><Relationship Id="rId2" Type="http://schemas.openxmlformats.org/officeDocument/2006/relationships/image" Target="../media/image-6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8-1.png"/><Relationship Id="rId2" Type="http://schemas.openxmlformats.org/officeDocument/2006/relationships/image" Target="../media/image-6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2-1.png"/><Relationship Id="rId2" Type="http://schemas.openxmlformats.org/officeDocument/2006/relationships/image" Target="../media/image-7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0-1.png"/><Relationship Id="rId2" Type="http://schemas.openxmlformats.org/officeDocument/2006/relationships/image" Target="../media/image-8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1-1.png"/><Relationship Id="rId2" Type="http://schemas.openxmlformats.org/officeDocument/2006/relationships/image" Target="../media/image-8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2-1.png"/><Relationship Id="rId2" Type="http://schemas.openxmlformats.org/officeDocument/2006/relationships/image" Target="../media/image-8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3-1.png"/><Relationship Id="rId2" Type="http://schemas.openxmlformats.org/officeDocument/2006/relationships/image" Target="../media/image-8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4-1.png"/><Relationship Id="rId2" Type="http://schemas.openxmlformats.org/officeDocument/2006/relationships/image" Target="../media/image-8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5-1.png"/><Relationship Id="rId2" Type="http://schemas.openxmlformats.org/officeDocument/2006/relationships/image" Target="../media/image-8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6-1.png"/><Relationship Id="rId2" Type="http://schemas.openxmlformats.org/officeDocument/2006/relationships/image" Target="../media/image-8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7-1.png"/><Relationship Id="rId2" Type="http://schemas.openxmlformats.org/officeDocument/2006/relationships/image" Target="../media/image-8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8-1.png"/><Relationship Id="rId2" Type="http://schemas.openxmlformats.org/officeDocument/2006/relationships/image" Target="../media/image-8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9-1.png"/><Relationship Id="rId2" Type="http://schemas.openxmlformats.org/officeDocument/2006/relationships/image" Target="../media/image-8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2-1.png"/><Relationship Id="rId2" Type="http://schemas.openxmlformats.org/officeDocument/2006/relationships/image" Target="../media/image-92-2.png"/><Relationship Id="rId3" Type="http://schemas.openxmlformats.org/officeDocument/2006/relationships/image" Target="../media/image-9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5-1.png"/><Relationship Id="rId2" Type="http://schemas.openxmlformats.org/officeDocument/2006/relationships/image" Target="../media/image-9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6-1.png"/><Relationship Id="rId2" Type="http://schemas.openxmlformats.org/officeDocument/2006/relationships/image" Target="../media/image-9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7-1.png"/><Relationship Id="rId2" Type="http://schemas.openxmlformats.org/officeDocument/2006/relationships/image" Target="../media/image-9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8-1.png"/><Relationship Id="rId2" Type="http://schemas.openxmlformats.org/officeDocument/2006/relationships/image" Target="../media/image-9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3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4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5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6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7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8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9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0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1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3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-circle-1"/>
          <p:cNvSpPr/>
          <p:nvPr/>
        </p:nvSpPr>
        <p:spPr>
          <a:xfrm>
            <a:off x="7863840" y="2011680"/>
            <a:ext cx="5669280" cy="5669280"/>
          </a:xfrm>
          <a:prstGeom prst="ellipse">
            <a:avLst/>
          </a:prstGeom>
          <a:solidFill>
            <a:srgbClr val="F4A200">
              <a:alpha val="18000"/>
            </a:srgbClr>
          </a:solidFill>
          <a:ln w="12700">
            <a:solidFill>
              <a:srgbClr val="F4A200">
                <a:alpha val="0"/>
              </a:srgbClr>
            </a:solidFill>
            <a:prstDash val="solid"/>
          </a:ln>
        </p:spPr>
      </p:sp>
      <p:sp>
        <p:nvSpPr>
          <p:cNvPr id="3" name="cover-circle-2"/>
          <p:cNvSpPr/>
          <p:nvPr/>
        </p:nvSpPr>
        <p:spPr>
          <a:xfrm>
            <a:off x="9418320" y="-1463040"/>
            <a:ext cx="3840480" cy="3840480"/>
          </a:xfrm>
          <a:prstGeom prst="ellipse">
            <a:avLst/>
          </a:prstGeom>
          <a:solidFill>
            <a:srgbClr val="1A5FA8">
              <a:alpha val="45000"/>
            </a:srgbClr>
          </a:solidFill>
          <a:ln w="12700">
            <a:solidFill>
              <a:srgbClr val="1A5FA8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A2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OB9  PREDICTIVE MAINTENANCE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234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FC0D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OPERATIONS MANUAL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011680"/>
            <a:ext cx="8686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คู่มือการเดินเครื่อง (Operations)</a:t>
            </a:r>
            <a:endParaRPr lang="en-US" sz="4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65760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Spreader ARs 2400/52+50x19 และ Tripper Car Ü2200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29768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FC0D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สำหรับพนักงานควบคุมเครื่อง (Operator)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5669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OB9-MAN-OPS-01  ·  Rev 0  ·  7 ต.ค. 69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6035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FC0D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โครงการ Mae Moh Mine Overburden IX — Italian-Thai Development PCL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สารบัญ</a:t>
            </a:r>
            <a:endParaRPr lang="en-US" sz="3400" dirty="0"/>
          </a:p>
        </p:txBody>
      </p:sp>
      <p:sp>
        <p:nvSpPr>
          <p:cNvPr id="3" name="agenda-card-0"/>
          <p:cNvSpPr/>
          <p:nvPr/>
        </p:nvSpPr>
        <p:spPr>
          <a:xfrm>
            <a:off x="548640" y="1371600"/>
            <a:ext cx="5364328" cy="658368"/>
          </a:xfrm>
          <a:prstGeom prst="roundRect">
            <a:avLst>
              <a:gd name="adj" fmla="val 13889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4" name="agenda-num-0"/>
          <p:cNvSpPr/>
          <p:nvPr/>
        </p:nvSpPr>
        <p:spPr>
          <a:xfrm>
            <a:off x="676656" y="1481328"/>
            <a:ext cx="438912" cy="438912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76656" y="14813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61872" y="1426464"/>
            <a:ext cx="4541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บทนำและข้อมูลเครื่อง</a:t>
            </a:r>
            <a:endParaRPr lang="en-US" sz="1600" dirty="0"/>
          </a:p>
        </p:txBody>
      </p:sp>
      <p:sp>
        <p:nvSpPr>
          <p:cNvPr id="7" name="agenda-card-1"/>
          <p:cNvSpPr/>
          <p:nvPr/>
        </p:nvSpPr>
        <p:spPr>
          <a:xfrm>
            <a:off x="548640" y="2157984"/>
            <a:ext cx="5364328" cy="658368"/>
          </a:xfrm>
          <a:prstGeom prst="roundRect">
            <a:avLst>
              <a:gd name="adj" fmla="val 13889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8" name="agenda-num-1"/>
          <p:cNvSpPr/>
          <p:nvPr/>
        </p:nvSpPr>
        <p:spPr>
          <a:xfrm>
            <a:off x="676656" y="2267712"/>
            <a:ext cx="438912" cy="438912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76656" y="22677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61872" y="2212848"/>
            <a:ext cx="4541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ความปลอดภัยสำหรับผู้ควบคุมเครื่อง</a:t>
            </a:r>
            <a:endParaRPr lang="en-US" sz="1600" dirty="0"/>
          </a:p>
        </p:txBody>
      </p:sp>
      <p:sp>
        <p:nvSpPr>
          <p:cNvPr id="11" name="agenda-card-2"/>
          <p:cNvSpPr/>
          <p:nvPr/>
        </p:nvSpPr>
        <p:spPr>
          <a:xfrm>
            <a:off x="548640" y="2944368"/>
            <a:ext cx="5364328" cy="658368"/>
          </a:xfrm>
          <a:prstGeom prst="roundRect">
            <a:avLst>
              <a:gd name="adj" fmla="val 13889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2" name="agenda-num-2"/>
          <p:cNvSpPr/>
          <p:nvPr/>
        </p:nvSpPr>
        <p:spPr>
          <a:xfrm>
            <a:off x="676656" y="3054096"/>
            <a:ext cx="438912" cy="438912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6656" y="305409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61872" y="2999232"/>
            <a:ext cx="4541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แผงควบคุมและอุปกรณ์ในห้องควบคุม</a:t>
            </a:r>
            <a:endParaRPr lang="en-US" sz="1600" dirty="0"/>
          </a:p>
        </p:txBody>
      </p:sp>
      <p:sp>
        <p:nvSpPr>
          <p:cNvPr id="15" name="agenda-card-3"/>
          <p:cNvSpPr/>
          <p:nvPr/>
        </p:nvSpPr>
        <p:spPr>
          <a:xfrm>
            <a:off x="548640" y="3730752"/>
            <a:ext cx="5364328" cy="658368"/>
          </a:xfrm>
          <a:prstGeom prst="roundRect">
            <a:avLst>
              <a:gd name="adj" fmla="val 13889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6" name="agenda-num-3"/>
          <p:cNvSpPr/>
          <p:nvPr/>
        </p:nvSpPr>
        <p:spPr>
          <a:xfrm>
            <a:off x="676656" y="3840480"/>
            <a:ext cx="438912" cy="438912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76656" y="38404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61872" y="3785616"/>
            <a:ext cx="4541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โหมดการทำงาน</a:t>
            </a:r>
            <a:endParaRPr lang="en-US" sz="1600" dirty="0"/>
          </a:p>
        </p:txBody>
      </p:sp>
      <p:sp>
        <p:nvSpPr>
          <p:cNvPr id="19" name="agenda-card-4"/>
          <p:cNvSpPr/>
          <p:nvPr/>
        </p:nvSpPr>
        <p:spPr>
          <a:xfrm>
            <a:off x="548640" y="4517136"/>
            <a:ext cx="5364328" cy="658368"/>
          </a:xfrm>
          <a:prstGeom prst="roundRect">
            <a:avLst>
              <a:gd name="adj" fmla="val 13889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20" name="agenda-num-4"/>
          <p:cNvSpPr/>
          <p:nvPr/>
        </p:nvSpPr>
        <p:spPr>
          <a:xfrm>
            <a:off x="676656" y="4626864"/>
            <a:ext cx="438912" cy="438912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76656" y="46268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261872" y="4572000"/>
            <a:ext cx="4541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ขั้นตอนการปฏิบัติงาน</a:t>
            </a:r>
            <a:endParaRPr lang="en-US" sz="1600" dirty="0"/>
          </a:p>
        </p:txBody>
      </p:sp>
      <p:sp>
        <p:nvSpPr>
          <p:cNvPr id="23" name="agenda-card-5"/>
          <p:cNvSpPr/>
          <p:nvPr/>
        </p:nvSpPr>
        <p:spPr>
          <a:xfrm>
            <a:off x="548640" y="5303520"/>
            <a:ext cx="5364328" cy="658368"/>
          </a:xfrm>
          <a:prstGeom prst="roundRect">
            <a:avLst>
              <a:gd name="adj" fmla="val 13889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24" name="agenda-num-5"/>
          <p:cNvSpPr/>
          <p:nvPr/>
        </p:nvSpPr>
        <p:spPr>
          <a:xfrm>
            <a:off x="676656" y="5413248"/>
            <a:ext cx="438912" cy="438912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76656" y="54132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261872" y="5358384"/>
            <a:ext cx="4541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การแก้ปัญหาเบื้องต้น</a:t>
            </a:r>
            <a:endParaRPr lang="en-US" sz="1600" dirty="0"/>
          </a:p>
        </p:txBody>
      </p:sp>
      <p:sp>
        <p:nvSpPr>
          <p:cNvPr id="27" name="agenda-card-6"/>
          <p:cNvSpPr/>
          <p:nvPr/>
        </p:nvSpPr>
        <p:spPr>
          <a:xfrm>
            <a:off x="6141568" y="1371600"/>
            <a:ext cx="5364328" cy="658368"/>
          </a:xfrm>
          <a:prstGeom prst="roundRect">
            <a:avLst>
              <a:gd name="adj" fmla="val 13889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28" name="agenda-num-6"/>
          <p:cNvSpPr/>
          <p:nvPr/>
        </p:nvSpPr>
        <p:spPr>
          <a:xfrm>
            <a:off x="6269584" y="1481328"/>
            <a:ext cx="438912" cy="438912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269584" y="14813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7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6854800" y="1426464"/>
            <a:ext cx="4541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การบันทึกและส่งต่องานในระบบ OB9</a:t>
            </a:r>
            <a:endParaRPr lang="en-US" sz="1600" dirty="0"/>
          </a:p>
        </p:txBody>
      </p:sp>
      <p:sp>
        <p:nvSpPr>
          <p:cNvPr id="31" name="agenda-card-7"/>
          <p:cNvSpPr/>
          <p:nvPr/>
        </p:nvSpPr>
        <p:spPr>
          <a:xfrm>
            <a:off x="6141568" y="2157984"/>
            <a:ext cx="5364328" cy="658368"/>
          </a:xfrm>
          <a:prstGeom prst="roundRect">
            <a:avLst>
              <a:gd name="adj" fmla="val 13889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32" name="agenda-num-7"/>
          <p:cNvSpPr/>
          <p:nvPr/>
        </p:nvSpPr>
        <p:spPr>
          <a:xfrm>
            <a:off x="6269584" y="2267712"/>
            <a:ext cx="438912" cy="438912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269584" y="22677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8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6854800" y="2212848"/>
            <a:ext cx="4541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ส่วนประกอบหลักของ Spreader</a:t>
            </a:r>
            <a:endParaRPr lang="en-US" sz="1600" dirty="0"/>
          </a:p>
        </p:txBody>
      </p:sp>
      <p:sp>
        <p:nvSpPr>
          <p:cNvPr id="35" name="agenda-card-8"/>
          <p:cNvSpPr/>
          <p:nvPr/>
        </p:nvSpPr>
        <p:spPr>
          <a:xfrm>
            <a:off x="6141568" y="2944368"/>
            <a:ext cx="5364328" cy="658368"/>
          </a:xfrm>
          <a:prstGeom prst="roundRect">
            <a:avLst>
              <a:gd name="adj" fmla="val 13889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36" name="agenda-num-8"/>
          <p:cNvSpPr/>
          <p:nvPr/>
        </p:nvSpPr>
        <p:spPr>
          <a:xfrm>
            <a:off x="6269584" y="3054096"/>
            <a:ext cx="438912" cy="438912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269584" y="305409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9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6854800" y="2999232"/>
            <a:ext cx="4541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Tripper Car Ü2200 สำหรับผู้ควบคุมเครื่อง</a:t>
            </a:r>
            <a:endParaRPr lang="en-US" sz="1600" dirty="0"/>
          </a:p>
        </p:txBody>
      </p:sp>
      <p:sp>
        <p:nvSpPr>
          <p:cNvPr id="39" name="agenda-card-9"/>
          <p:cNvSpPr/>
          <p:nvPr/>
        </p:nvSpPr>
        <p:spPr>
          <a:xfrm>
            <a:off x="6141568" y="3730752"/>
            <a:ext cx="5364328" cy="658368"/>
          </a:xfrm>
          <a:prstGeom prst="roundRect">
            <a:avLst>
              <a:gd name="adj" fmla="val 13889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40" name="agenda-num-9"/>
          <p:cNvSpPr/>
          <p:nvPr/>
        </p:nvSpPr>
        <p:spPr>
          <a:xfrm>
            <a:off x="6269584" y="3840480"/>
            <a:ext cx="438912" cy="438912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269584" y="38404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10</a:t>
            </a:r>
            <a:endParaRPr lang="en-US" sz="1600" dirty="0"/>
          </a:p>
        </p:txBody>
      </p:sp>
      <p:sp>
        <p:nvSpPr>
          <p:cNvPr id="42" name="Text 40"/>
          <p:cNvSpPr txBox="1"/>
          <p:nvPr/>
        </p:nvSpPr>
        <p:spPr>
          <a:xfrm>
            <a:off x="6854800" y="3785616"/>
            <a:ext cx="4541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ข้อกำหนดความปลอดภัยเพิ่มเติมจากคู่มือผู้ผลิต</a:t>
            </a:r>
            <a:endParaRPr lang="en-US" sz="1600" dirty="0"/>
          </a:p>
        </p:txBody>
      </p:sp>
      <p:sp>
        <p:nvSpPr>
          <p:cNvPr id="43" name="agenda-card-10"/>
          <p:cNvSpPr/>
          <p:nvPr/>
        </p:nvSpPr>
        <p:spPr>
          <a:xfrm>
            <a:off x="6141568" y="4517136"/>
            <a:ext cx="5364328" cy="658368"/>
          </a:xfrm>
          <a:prstGeom prst="roundRect">
            <a:avLst>
              <a:gd name="adj" fmla="val 13889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44" name="agenda-num-10"/>
          <p:cNvSpPr/>
          <p:nvPr/>
        </p:nvSpPr>
        <p:spPr>
          <a:xfrm>
            <a:off x="6269584" y="4626864"/>
            <a:ext cx="438912" cy="438912"/>
          </a:xfrm>
          <a:prstGeom prst="ellipse">
            <a:avLst/>
          </a:prstGeom>
          <a:solidFill>
            <a:srgbClr val="5B6577"/>
          </a:solidFill>
          <a:ln w="12700">
            <a:solidFill>
              <a:srgbClr val="5B6577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269584" y="46268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</a:t>
            </a:r>
            <a:endParaRPr lang="en-US" sz="1600" dirty="0"/>
          </a:p>
        </p:txBody>
      </p:sp>
      <p:sp>
        <p:nvSpPr>
          <p:cNvPr id="46" name="Text 44"/>
          <p:cNvSpPr txBox="1"/>
          <p:nvPr/>
        </p:nvSpPr>
        <p:spPr>
          <a:xfrm>
            <a:off x="6854800" y="4572000"/>
            <a:ext cx="4541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ภาคผนวก ก บัตรสรุปสถานการณ์ฉุกเฉิน (Quick reference)</a:t>
            </a:r>
            <a:endParaRPr lang="en-US" sz="1600" dirty="0"/>
          </a:p>
        </p:txBody>
      </p:sp>
      <p:sp>
        <p:nvSpPr>
          <p:cNvPr id="47" name="agenda-card-11"/>
          <p:cNvSpPr/>
          <p:nvPr/>
        </p:nvSpPr>
        <p:spPr>
          <a:xfrm>
            <a:off x="6141568" y="5303520"/>
            <a:ext cx="5364328" cy="658368"/>
          </a:xfrm>
          <a:prstGeom prst="roundRect">
            <a:avLst>
              <a:gd name="adj" fmla="val 13889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48" name="agenda-num-11"/>
          <p:cNvSpPr/>
          <p:nvPr/>
        </p:nvSpPr>
        <p:spPr>
          <a:xfrm>
            <a:off x="6269584" y="5413248"/>
            <a:ext cx="438912" cy="438912"/>
          </a:xfrm>
          <a:prstGeom prst="ellipse">
            <a:avLst/>
          </a:prstGeom>
          <a:solidFill>
            <a:srgbClr val="5B6577"/>
          </a:solidFill>
          <a:ln w="12700">
            <a:solidFill>
              <a:srgbClr val="5B6577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6269584" y="54132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</a:t>
            </a:r>
            <a:endParaRPr lang="en-US" sz="1600" dirty="0"/>
          </a:p>
        </p:txBody>
      </p:sp>
      <p:sp>
        <p:nvSpPr>
          <p:cNvPr id="50" name="Text 48"/>
          <p:cNvSpPr txBox="1"/>
          <p:nvPr/>
        </p:nvSpPr>
        <p:spPr>
          <a:xfrm>
            <a:off x="6854800" y="5358384"/>
            <a:ext cx="4541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ภาคผนวก ข ข้อมูลที่โครงการต้องกำหนดเพิ่ม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vider-circle"/>
          <p:cNvSpPr/>
          <p:nvPr/>
        </p:nvSpPr>
        <p:spPr>
          <a:xfrm>
            <a:off x="7680960" y="1280160"/>
            <a:ext cx="4937760" cy="4937760"/>
          </a:xfrm>
          <a:prstGeom prst="ellipse">
            <a:avLst/>
          </a:prstGeom>
          <a:solidFill>
            <a:srgbClr val="1A5FA8">
              <a:alpha val="45000"/>
            </a:srgbClr>
          </a:solidFill>
          <a:ln w="12700">
            <a:solidFill>
              <a:srgbClr val="1A5FA8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680960" y="265176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9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28600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A2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834640"/>
            <a:ext cx="6949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บทนำและข้อมูลเครื่อง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1 · บทนำและข้อมูลเครื่อง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1.1 วัตถุประสงค์และขอบเขต</a:t>
            </a:r>
            <a:endParaRPr lang="en-US" sz="2800" dirty="0"/>
          </a:p>
        </p:txBody>
      </p:sp>
      <p:sp>
        <p:nvSpPr>
          <p:cNvPr id="4" name="para-card"/>
          <p:cNvSpPr/>
          <p:nvPr/>
        </p:nvSpPr>
        <p:spPr>
          <a:xfrm>
            <a:off x="548640" y="1554480"/>
            <a:ext cx="11094415" cy="2267712"/>
          </a:xfrm>
          <a:prstGeom prst="roundRect">
            <a:avLst>
              <a:gd name="adj" fmla="val 4839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645920"/>
            <a:ext cx="10362895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คู่มือฉบับนี้สรุปวิธีเดินเครื่อง Spreader และ Tripper Car ให้พนักงานควบคุมเครื่องปฏิบัติงานได้อย่างปลอดภัย ครอบคลุมการเตรียมเครื่อง การเริ่มเดิน การเดินระหว่างงาน การหยุด หยุดฉุกเฉิน การเมื่อเกิดพายุ การเคลื่อนย้ายเครื่อง และการแก้ปัญหาเบื้องต้น โดยสรุปจากคู่มือการใช้งานของผู้ผลิต (thyssenkrupp, KXEO-00931-05 Rev 01)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1 · บทนำและข้อมูลเครื่อง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1.1 วัตถุประสงค์และขอบเขต</a:t>
            </a:r>
            <a:endParaRPr lang="en-US" sz="2800" dirty="0"/>
          </a:p>
        </p:txBody>
      </p:sp>
      <p:sp>
        <p:nvSpPr>
          <p:cNvPr id="4" name="para-card"/>
          <p:cNvSpPr/>
          <p:nvPr/>
        </p:nvSpPr>
        <p:spPr>
          <a:xfrm>
            <a:off x="548640" y="1554480"/>
            <a:ext cx="11094415" cy="1499616"/>
          </a:xfrm>
          <a:prstGeom prst="roundRect">
            <a:avLst>
              <a:gd name="adj" fmla="val 7317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645920"/>
            <a:ext cx="10362895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เครื่องที่ครอบคลุม: Spreader A (08-SP0002), Spreader B (08-SP0003), Tripper Car A (08-TP00001), Tripper Car B (08-TP00002)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1 · บทนำและข้อมูลเครื่อง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1.2 ข้อมูลทางเทคนิคสำคัญ (1/2)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5103431"/>
                <a:gridCol w="5990984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หัวข้อ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ค่า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รุ่นเครื่อง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Spreader ARs 2400/52+50x19 (Machine-No. 3239, 3240)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ความกว้างสายพาน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2,400 มม. (Bridge conveyor และ Discharge conveyor)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ความยาวบูม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Bridge 52 ม. (±2 ม.), Discharge boom 50 ม.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ความเร็วสายพาน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5.5 m/s (ควบคุมด้วยความถี่)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กำลังการผลิตออกแบบ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18,000 t/h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น้ำหนักเครื่อง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Service ≈ 940 ตัน, Operational ≈ 1,040 ตัน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ความสูงปลายบูมปล่อยดิน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ต่ำสุด ≈ 2.5 ม. ถึงสูงสุด ≈ 19 ม. จากพื้น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มุมหมุน (Slew angle)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Tripper car–Bridge 145°, Bridge–Discharge boom 100°, โครงสร้างบนเทียบกับ crawler ±180°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ความลาดชันสูงสุด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ขณะทำงาน 1:20, ขณะเดินทาง 1:10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แรงดันพื้นเฉลี่ยสูงสุด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82 kPa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ลมสูงสุดขณะทำงาน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20 m/s (72 km/h) เทียบเท่า 250 N/m²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1 · บทนำและข้อมูลเครื่อง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1.2 ข้อมูลทางเทคนิคสำคัญ (2/2)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5103431"/>
                <a:gridCol w="5990984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หัวข้อ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ค่า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ลมสูงสุดขณะไม่ทำงาน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35.8 m/s (129 km/h) เทียบเท่า 800 N/m²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วัสดุ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ดิน overburden: ดินแดง 90% / grey claystone 10% ขนาด 0-300 มม. ที่ 90%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1 · บทนำและข้อมูลเครื่อง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1.2 ข้อมูลทางเทคนิคสำคัญ · ภาพประกอบ</a:t>
            </a:r>
            <a:endParaRPr lang="en-US" sz="2800" dirty="0"/>
          </a:p>
        </p:txBody>
      </p:sp>
      <p:pic>
        <p:nvPicPr>
          <p:cNvPr id="4" name="Image 0" descr="ภาพ: ภาพรวมการจัดเรียงเครื่องจักรของโครงการ (คู่มือผู้ผลิต Figure 2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42076" y="1371600"/>
            <a:ext cx="3107544" cy="45262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9436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ภาพ: ภาพรวมการจัดเรียงเครื่องจักรของโครงการ (คู่มือผู้ผลิต Figure 2)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1 · บทนำและข้อมูลเครื่อง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1.2 ข้อมูลทางเทคนิคสำคัญ · ภาพประกอบ</a:t>
            </a:r>
            <a:endParaRPr lang="en-US" sz="2800" dirty="0"/>
          </a:p>
        </p:txBody>
      </p:sp>
      <p:pic>
        <p:nvPicPr>
          <p:cNvPr id="4" name="Image 0" descr="ภาพ: มุมหมุนและตำแหน่งของ discharge boom (คู่มือ Figure 83-84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98647" y="1371600"/>
            <a:ext cx="3194401" cy="45262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9436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ภาพ: มุมหมุนและตำแหน่งของ discharge boom (คู่มือ Figure 83-84)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1 · บทนำและข้อมูลเครื่อง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1.2 ข้อมูลทางเทคนิคสำคัญ</a:t>
            </a:r>
            <a:endParaRPr lang="en-US" sz="2800" dirty="0"/>
          </a:p>
        </p:txBody>
      </p:sp>
      <p:sp>
        <p:nvSpPr>
          <p:cNvPr id="4" name="callout-card"/>
          <p:cNvSpPr/>
          <p:nvPr/>
        </p:nvSpPr>
        <p:spPr>
          <a:xfrm>
            <a:off x="548640" y="1737360"/>
            <a:ext cx="11094415" cy="2359152"/>
          </a:xfrm>
          <a:prstGeom prst="roundRect">
            <a:avLst>
              <a:gd name="adj" fmla="val 5814"/>
            </a:avLst>
          </a:prstGeom>
          <a:solidFill>
            <a:srgbClr val="E8F1FB"/>
          </a:solidFill>
          <a:ln w="19050">
            <a:solidFill>
              <a:srgbClr val="1A5FA8"/>
            </a:solidFill>
            <a:prstDash val="solid"/>
          </a:ln>
        </p:spPr>
      </p:sp>
      <p:sp>
        <p:nvSpPr>
          <p:cNvPr id="5" name="callout-badge"/>
          <p:cNvSpPr/>
          <p:nvPr/>
        </p:nvSpPr>
        <p:spPr>
          <a:xfrm>
            <a:off x="914400" y="2505456"/>
            <a:ext cx="822960" cy="822960"/>
          </a:xfrm>
          <a:prstGeom prst="ellipse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505456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2011680" y="1874520"/>
            <a:ext cx="9265615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A5F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หมายเหตุ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ผู้ผลิตระบุว่า Spreader และ Tripper Car ทำงานเป็นหน่วยเดียวกัน ควบคุมการเดินของทั้งสองเครื่องจากห้องควบคุมของ Spreader เพื่อให้เดินประสานกัน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vider-circle"/>
          <p:cNvSpPr/>
          <p:nvPr/>
        </p:nvSpPr>
        <p:spPr>
          <a:xfrm>
            <a:off x="7680960" y="1280160"/>
            <a:ext cx="4937760" cy="4937760"/>
          </a:xfrm>
          <a:prstGeom prst="ellipse">
            <a:avLst/>
          </a:prstGeom>
          <a:solidFill>
            <a:srgbClr val="1A5FA8">
              <a:alpha val="45000"/>
            </a:srgbClr>
          </a:solidFill>
          <a:ln w="12700">
            <a:solidFill>
              <a:srgbClr val="1A5FA8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680960" y="265176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9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28600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A2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2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834640"/>
            <a:ext cx="6949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ความปลอดภัยสำหรับผู้ควบคุมเครื่อง</a:t>
            </a:r>
            <a:endParaRPr lang="en-US" sz="3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2 · ความปลอดภัยสำหรับผู้ควบคุมเครื่อง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ความปลอดภัยสำหรับผู้ควบคุมเครื่อง</a:t>
            </a:r>
            <a:endParaRPr lang="en-US" sz="2800" dirty="0"/>
          </a:p>
        </p:txBody>
      </p:sp>
      <p:sp>
        <p:nvSpPr>
          <p:cNvPr id="4" name="callout-card"/>
          <p:cNvSpPr/>
          <p:nvPr/>
        </p:nvSpPr>
        <p:spPr>
          <a:xfrm>
            <a:off x="548640" y="1737360"/>
            <a:ext cx="11094415" cy="2359152"/>
          </a:xfrm>
          <a:prstGeom prst="roundRect">
            <a:avLst>
              <a:gd name="adj" fmla="val 5814"/>
            </a:avLst>
          </a:prstGeom>
          <a:solidFill>
            <a:srgbClr val="FDECEC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5" name="callout-badge"/>
          <p:cNvSpPr/>
          <p:nvPr/>
        </p:nvSpPr>
        <p:spPr>
          <a:xfrm>
            <a:off x="914400" y="2505456"/>
            <a:ext cx="822960" cy="82296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505456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!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2011680" y="1874520"/>
            <a:ext cx="9265615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DC26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อันตราย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ใช้งานเครื่องจากห้องควบคุม (cabin) เท่านั้นในการทำงานปกติ กล่องควบคุมที่หน้างาน (local control box) ใช้สำหรับงานซ่อมบำรุงเท่านั้น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2 · ความปลอดภัยสำหรับผู้ควบคุมเครื่อง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2.1 กฎความปลอดภัยหลัก (1/2)</a:t>
            </a:r>
            <a:endParaRPr lang="en-US" sz="2800" dirty="0"/>
          </a:p>
        </p:txBody>
      </p:sp>
      <p:sp>
        <p:nvSpPr>
          <p:cNvPr id="4" name="row-1"/>
          <p:cNvSpPr/>
          <p:nvPr/>
        </p:nvSpPr>
        <p:spPr>
          <a:xfrm>
            <a:off x="548640" y="1417320"/>
            <a:ext cx="11094415" cy="512064"/>
          </a:xfrm>
          <a:prstGeom prst="roundRect">
            <a:avLst>
              <a:gd name="adj" fmla="val 14286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5" name="mark-1"/>
          <p:cNvSpPr/>
          <p:nvPr/>
        </p:nvSpPr>
        <p:spPr>
          <a:xfrm>
            <a:off x="685800" y="1490472"/>
            <a:ext cx="365760" cy="365760"/>
          </a:xfrm>
          <a:prstGeom prst="ellipse">
            <a:avLst/>
          </a:prstGeom>
          <a:solidFill>
            <a:srgbClr val="F4A200"/>
          </a:solidFill>
          <a:ln w="12700">
            <a:solidFill>
              <a:srgbClr val="F4A2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34440" y="1417320"/>
            <a:ext cx="102257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สวมหมวกนิรภัยเมื่ออยู่ในพื้นที่ของเครื่อง เพราะดินอาจตกลงมาจากโครงสร้างด้านบน</a:t>
            </a:r>
            <a:endParaRPr lang="en-US" sz="1700" dirty="0"/>
          </a:p>
        </p:txBody>
      </p:sp>
      <p:sp>
        <p:nvSpPr>
          <p:cNvPr id="7" name="row-2"/>
          <p:cNvSpPr/>
          <p:nvPr/>
        </p:nvSpPr>
        <p:spPr>
          <a:xfrm>
            <a:off x="548640" y="2002536"/>
            <a:ext cx="11094415" cy="822960"/>
          </a:xfrm>
          <a:prstGeom prst="roundRect">
            <a:avLst>
              <a:gd name="adj" fmla="val 8889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8" name="mark-2"/>
          <p:cNvSpPr/>
          <p:nvPr/>
        </p:nvSpPr>
        <p:spPr>
          <a:xfrm>
            <a:off x="685800" y="2231136"/>
            <a:ext cx="365760" cy="365760"/>
          </a:xfrm>
          <a:prstGeom prst="ellipse">
            <a:avLst/>
          </a:prstGeom>
          <a:solidFill>
            <a:srgbClr val="F4A200"/>
          </a:solidFill>
          <a:ln w="12700">
            <a:solidFill>
              <a:srgbClr val="F4A2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34440" y="2002536"/>
            <a:ext cx="102257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ใช้งานเครื่องได้เมื่อเบรก อุปกรณ์ความปลอดภัย และอุปกรณ์ป้องกันทั้งหมดพร้อมใช้งานและอยู่ในสภาพสมบูรณ์เท่านั้น</a:t>
            </a:r>
            <a:endParaRPr lang="en-US" sz="1700" dirty="0"/>
          </a:p>
        </p:txBody>
      </p:sp>
      <p:sp>
        <p:nvSpPr>
          <p:cNvPr id="10" name="row-3"/>
          <p:cNvSpPr/>
          <p:nvPr/>
        </p:nvSpPr>
        <p:spPr>
          <a:xfrm>
            <a:off x="548640" y="2898648"/>
            <a:ext cx="11094415" cy="512064"/>
          </a:xfrm>
          <a:prstGeom prst="roundRect">
            <a:avLst>
              <a:gd name="adj" fmla="val 14286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1" name="mark-3"/>
          <p:cNvSpPr/>
          <p:nvPr/>
        </p:nvSpPr>
        <p:spPr>
          <a:xfrm>
            <a:off x="685800" y="2971800"/>
            <a:ext cx="365760" cy="365760"/>
          </a:xfrm>
          <a:prstGeom prst="ellipse">
            <a:avLst/>
          </a:prstGeom>
          <a:solidFill>
            <a:srgbClr val="F4A200"/>
          </a:solidFill>
          <a:ln w="12700">
            <a:solidFill>
              <a:srgbClr val="F4A20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234440" y="2898648"/>
            <a:ext cx="102257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ห้ามเปิดประตูหรือช่องซ่อมบำรุงขณะสายพานกำลังทำงาน เพราะวัสดุอาจกระเด็นใส่คน</a:t>
            </a:r>
            <a:endParaRPr lang="en-US" sz="1700" dirty="0"/>
          </a:p>
        </p:txBody>
      </p:sp>
      <p:sp>
        <p:nvSpPr>
          <p:cNvPr id="13" name="row-4"/>
          <p:cNvSpPr/>
          <p:nvPr/>
        </p:nvSpPr>
        <p:spPr>
          <a:xfrm>
            <a:off x="548640" y="3483864"/>
            <a:ext cx="11094415" cy="822960"/>
          </a:xfrm>
          <a:prstGeom prst="roundRect">
            <a:avLst>
              <a:gd name="adj" fmla="val 8889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4" name="mark-4"/>
          <p:cNvSpPr/>
          <p:nvPr/>
        </p:nvSpPr>
        <p:spPr>
          <a:xfrm>
            <a:off x="685800" y="3712464"/>
            <a:ext cx="365760" cy="365760"/>
          </a:xfrm>
          <a:prstGeom prst="ellipse">
            <a:avLst/>
          </a:prstGeom>
          <a:solidFill>
            <a:srgbClr val="F4A200"/>
          </a:solidFill>
          <a:ln w="12700">
            <a:solidFill>
              <a:srgbClr val="F4A20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234440" y="3483864"/>
            <a:ext cx="102257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ห้ามผู้ที่ไม่เกี่ยวข้องอยู่ในพื้นที่ทำงานของเครื่อง และพื้นที่ต้องปราศจากสิ่งกีดขวาง เช่น รถหรือแท่นยก</a:t>
            </a:r>
            <a:endParaRPr lang="en-US" sz="1700" dirty="0"/>
          </a:p>
        </p:txBody>
      </p:sp>
      <p:sp>
        <p:nvSpPr>
          <p:cNvPr id="16" name="row-5"/>
          <p:cNvSpPr/>
          <p:nvPr/>
        </p:nvSpPr>
        <p:spPr>
          <a:xfrm>
            <a:off x="548640" y="4379976"/>
            <a:ext cx="11094415" cy="512064"/>
          </a:xfrm>
          <a:prstGeom prst="roundRect">
            <a:avLst>
              <a:gd name="adj" fmla="val 14286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7" name="mark-5"/>
          <p:cNvSpPr/>
          <p:nvPr/>
        </p:nvSpPr>
        <p:spPr>
          <a:xfrm>
            <a:off x="685800" y="4453128"/>
            <a:ext cx="365760" cy="365760"/>
          </a:xfrm>
          <a:prstGeom prst="ellipse">
            <a:avLst/>
          </a:prstGeom>
          <a:solidFill>
            <a:srgbClr val="F4A200"/>
          </a:solidFill>
          <a:ln w="12700">
            <a:solidFill>
              <a:srgbClr val="F4A20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234440" y="4379976"/>
            <a:ext cx="102257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เมื่อเกิดความเสียหายหรือความผิดปกติของระบบไฟฟ้า ต้องหยุดเครื่องทันที</a:t>
            </a:r>
            <a:endParaRPr lang="en-US" sz="1700" dirty="0"/>
          </a:p>
        </p:txBody>
      </p:sp>
      <p:sp>
        <p:nvSpPr>
          <p:cNvPr id="19" name="row-6"/>
          <p:cNvSpPr/>
          <p:nvPr/>
        </p:nvSpPr>
        <p:spPr>
          <a:xfrm>
            <a:off x="548640" y="4965192"/>
            <a:ext cx="11094415" cy="822960"/>
          </a:xfrm>
          <a:prstGeom prst="roundRect">
            <a:avLst>
              <a:gd name="adj" fmla="val 8889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20" name="mark-6"/>
          <p:cNvSpPr/>
          <p:nvPr/>
        </p:nvSpPr>
        <p:spPr>
          <a:xfrm>
            <a:off x="685800" y="5193792"/>
            <a:ext cx="365760" cy="365760"/>
          </a:xfrm>
          <a:prstGeom prst="ellipse">
            <a:avLst/>
          </a:prstGeom>
          <a:solidFill>
            <a:srgbClr val="F4A200"/>
          </a:solidFill>
          <a:ln w="12700">
            <a:solidFill>
              <a:srgbClr val="F4A20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234440" y="4965192"/>
            <a:ext cx="102257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ห้ามเก็บเชื้อเพลิง ตัวทำละลาย หรือสารไวไฟในที่ไม่ได้จัดไว้ และผ้าเปื้อนน้ำมันต้องทิ้งในภาชนะปิด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2 · ความปลอดภัยสำหรับผู้ควบคุมเครื่อง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2.1 กฎความปลอดภัยหลัก (2/2)</a:t>
            </a:r>
            <a:endParaRPr lang="en-US" sz="2800" dirty="0"/>
          </a:p>
        </p:txBody>
      </p:sp>
      <p:sp>
        <p:nvSpPr>
          <p:cNvPr id="4" name="row-7"/>
          <p:cNvSpPr/>
          <p:nvPr/>
        </p:nvSpPr>
        <p:spPr>
          <a:xfrm>
            <a:off x="548640" y="1417320"/>
            <a:ext cx="11094415" cy="512064"/>
          </a:xfrm>
          <a:prstGeom prst="roundRect">
            <a:avLst>
              <a:gd name="adj" fmla="val 14286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5" name="mark-7"/>
          <p:cNvSpPr/>
          <p:nvPr/>
        </p:nvSpPr>
        <p:spPr>
          <a:xfrm>
            <a:off x="685800" y="1490472"/>
            <a:ext cx="365760" cy="365760"/>
          </a:xfrm>
          <a:prstGeom prst="ellipse">
            <a:avLst/>
          </a:prstGeom>
          <a:solidFill>
            <a:srgbClr val="F4A200"/>
          </a:solidFill>
          <a:ln w="12700">
            <a:solidFill>
              <a:srgbClr val="F4A2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34440" y="1417320"/>
            <a:ext cx="102257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ทางเดิน บันได และบันไดพาด ต้องไม่มีดิน หรือสิ่งกีดขวาง</a:t>
            </a:r>
            <a:endParaRPr lang="en-US" sz="1700" dirty="0"/>
          </a:p>
        </p:txBody>
      </p:sp>
      <p:sp>
        <p:nvSpPr>
          <p:cNvPr id="7" name="row-8"/>
          <p:cNvSpPr/>
          <p:nvPr/>
        </p:nvSpPr>
        <p:spPr>
          <a:xfrm>
            <a:off x="548640" y="2002536"/>
            <a:ext cx="11094415" cy="822960"/>
          </a:xfrm>
          <a:prstGeom prst="roundRect">
            <a:avLst>
              <a:gd name="adj" fmla="val 8889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8" name="mark-8"/>
          <p:cNvSpPr/>
          <p:nvPr/>
        </p:nvSpPr>
        <p:spPr>
          <a:xfrm>
            <a:off x="685800" y="2231136"/>
            <a:ext cx="365760" cy="365760"/>
          </a:xfrm>
          <a:prstGeom prst="ellipse">
            <a:avLst/>
          </a:prstGeom>
          <a:solidFill>
            <a:srgbClr val="F4A200"/>
          </a:solidFill>
          <a:ln w="12700">
            <a:solidFill>
              <a:srgbClr val="F4A2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34440" y="2002536"/>
            <a:ext cx="102257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การทำความสะอาดหรือซ่อมบนเครื่องต้องหยุดเครื่องก่อนเสมอ และติดตั้งมาตรการป้องกันการตกก่อนขึ้นที่สูง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2 · ความปลอดภัยสำหรับผู้ควบคุมเครื่อง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2.2 รู้ตำแหน่งอุปกรณ์ฉุกเฉิน</a:t>
            </a:r>
            <a:endParaRPr lang="en-US" sz="2800" dirty="0"/>
          </a:p>
        </p:txBody>
      </p:sp>
      <p:sp>
        <p:nvSpPr>
          <p:cNvPr id="4" name="row-1"/>
          <p:cNvSpPr/>
          <p:nvPr/>
        </p:nvSpPr>
        <p:spPr>
          <a:xfrm>
            <a:off x="548640" y="1417320"/>
            <a:ext cx="11094415" cy="512064"/>
          </a:xfrm>
          <a:prstGeom prst="roundRect">
            <a:avLst>
              <a:gd name="adj" fmla="val 14286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5" name="mark-1"/>
          <p:cNvSpPr/>
          <p:nvPr/>
        </p:nvSpPr>
        <p:spPr>
          <a:xfrm>
            <a:off x="685800" y="1490472"/>
            <a:ext cx="365760" cy="365760"/>
          </a:xfrm>
          <a:prstGeom prst="ellipse">
            <a:avLst/>
          </a:prstGeom>
          <a:solidFill>
            <a:srgbClr val="F4A200"/>
          </a:solidFill>
          <a:ln w="12700">
            <a:solidFill>
              <a:srgbClr val="F4A2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34440" y="1417320"/>
            <a:ext cx="102257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ปุ่ม Emergency Stop บนแผงควบคุมในห้องควบคุม และปุ่ม/สาย pull-rope ตามจุดต่าง ๆ ของเครื่อง</a:t>
            </a:r>
            <a:endParaRPr lang="en-US" sz="1700" dirty="0"/>
          </a:p>
        </p:txBody>
      </p:sp>
      <p:sp>
        <p:nvSpPr>
          <p:cNvPr id="7" name="row-2"/>
          <p:cNvSpPr/>
          <p:nvPr/>
        </p:nvSpPr>
        <p:spPr>
          <a:xfrm>
            <a:off x="548640" y="2002536"/>
            <a:ext cx="11094415" cy="512064"/>
          </a:xfrm>
          <a:prstGeom prst="roundRect">
            <a:avLst>
              <a:gd name="adj" fmla="val 14286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8" name="mark-2"/>
          <p:cNvSpPr/>
          <p:nvPr/>
        </p:nvSpPr>
        <p:spPr>
          <a:xfrm>
            <a:off x="685800" y="2075688"/>
            <a:ext cx="365760" cy="365760"/>
          </a:xfrm>
          <a:prstGeom prst="ellipse">
            <a:avLst/>
          </a:prstGeom>
          <a:solidFill>
            <a:srgbClr val="F4A200"/>
          </a:solidFill>
          <a:ln w="12700">
            <a:solidFill>
              <a:srgbClr val="F4A2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34440" y="2002536"/>
            <a:ext cx="102257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ถังดับเพลิง ซึ่งติดตั้งตามตำแหน่งที่กำหนด และเส้นทางหนีไฟตามป้ายสัญลักษณ์บนเครื่อง</a:t>
            </a:r>
            <a:endParaRPr lang="en-US" sz="1700" dirty="0"/>
          </a:p>
        </p:txBody>
      </p:sp>
      <p:sp>
        <p:nvSpPr>
          <p:cNvPr id="10" name="row-3"/>
          <p:cNvSpPr/>
          <p:nvPr/>
        </p:nvSpPr>
        <p:spPr>
          <a:xfrm>
            <a:off x="548640" y="2587752"/>
            <a:ext cx="11094415" cy="512064"/>
          </a:xfrm>
          <a:prstGeom prst="roundRect">
            <a:avLst>
              <a:gd name="adj" fmla="val 14286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1" name="mark-3"/>
          <p:cNvSpPr/>
          <p:nvPr/>
        </p:nvSpPr>
        <p:spPr>
          <a:xfrm>
            <a:off x="685800" y="2660904"/>
            <a:ext cx="365760" cy="365760"/>
          </a:xfrm>
          <a:prstGeom prst="ellipse">
            <a:avLst/>
          </a:prstGeom>
          <a:solidFill>
            <a:srgbClr val="F4A200"/>
          </a:solidFill>
          <a:ln w="12700">
            <a:solidFill>
              <a:srgbClr val="F4A20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234440" y="2587752"/>
            <a:ext cx="102257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ผู้ควบคุมเครื่องทุกคนต้องรู้วิธีใช้อุปกรณ์ดับเพลิง และตำแหน่งชุดปฐมพยาบาล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2 · ความปลอดภัยสำหรับผู้ควบคุมเครื่อง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2.3 ระบบตรวจจับและป้องกันของเครื่อง</a:t>
            </a:r>
            <a:endParaRPr lang="en-US" sz="2800" dirty="0"/>
          </a:p>
        </p:txBody>
      </p:sp>
      <p:sp>
        <p:nvSpPr>
          <p:cNvPr id="4" name="para-card"/>
          <p:cNvSpPr/>
          <p:nvPr/>
        </p:nvSpPr>
        <p:spPr>
          <a:xfrm>
            <a:off x="548640" y="1554480"/>
            <a:ext cx="11094415" cy="2651760"/>
          </a:xfrm>
          <a:prstGeom prst="roundRect">
            <a:avLst>
              <a:gd name="adj" fmla="val 4138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645920"/>
            <a:ext cx="10362895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เครื่องมีอุปกรณ์ป้องกันที่หยุดการทำงานอัตโนมัติ เช่น belt misalignment switch, belt slip detection, pull-rope switch, limit switch ของมุมหมุนและระยะเดินของ bridge, collision protection และ anemometer วัดความเร็วลมบนห้องควบคุม เมื่อเซ็นเซอร์ตรวจพบ PLC จะหยุดชุดขับที่เกี่ยวข้อง อ่านรายละเอียดใน Electrotechnical Documentation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2 · ความปลอดภัยสำหรับผู้ควบคุมเครื่อง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2.3 ระบบตรวจจับและป้องกันของเครื่อง</a:t>
            </a:r>
            <a:endParaRPr lang="en-US" sz="2800" dirty="0"/>
          </a:p>
        </p:txBody>
      </p:sp>
      <p:sp>
        <p:nvSpPr>
          <p:cNvPr id="4" name="callout-card"/>
          <p:cNvSpPr/>
          <p:nvPr/>
        </p:nvSpPr>
        <p:spPr>
          <a:xfrm>
            <a:off x="548640" y="1737360"/>
            <a:ext cx="11094415" cy="1938528"/>
          </a:xfrm>
          <a:prstGeom prst="roundRect">
            <a:avLst>
              <a:gd name="adj" fmla="val 7075"/>
            </a:avLst>
          </a:prstGeom>
          <a:solidFill>
            <a:srgbClr val="FFF4DB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5" name="callout-badge"/>
          <p:cNvSpPr/>
          <p:nvPr/>
        </p:nvSpPr>
        <p:spPr>
          <a:xfrm>
            <a:off x="914400" y="2295144"/>
            <a:ext cx="822960" cy="82296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295144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!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2011680" y="1874520"/>
            <a:ext cx="9265615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D9770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คำเตือน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ห้ามใช้โหมด Recovery หรือ bypass switch เว้นแต่เป็นผู้ที่ผ่านการอบรมเฉพาะ และต้องได้รับอนุญาตจากหัวหน้างาน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vider-circle"/>
          <p:cNvSpPr/>
          <p:nvPr/>
        </p:nvSpPr>
        <p:spPr>
          <a:xfrm>
            <a:off x="7680960" y="1280160"/>
            <a:ext cx="4937760" cy="4937760"/>
          </a:xfrm>
          <a:prstGeom prst="ellipse">
            <a:avLst/>
          </a:prstGeom>
          <a:solidFill>
            <a:srgbClr val="1A5FA8">
              <a:alpha val="45000"/>
            </a:srgbClr>
          </a:solidFill>
          <a:ln w="12700">
            <a:solidFill>
              <a:srgbClr val="1A5FA8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680960" y="265176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9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28600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A2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3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834640"/>
            <a:ext cx="6949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แผงควบคุมและอุปกรณ์ในห้องควบคุม</a:t>
            </a:r>
            <a:endParaRPr lang="en-US" sz="3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3 · แผงควบคุมและอุปกรณ์ในห้องควบคุม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แผงควบคุมและอุปกรณ์ในห้องควบคุม</a:t>
            </a:r>
            <a:endParaRPr lang="en-US" sz="2800" dirty="0"/>
          </a:p>
        </p:txBody>
      </p:sp>
      <p:sp>
        <p:nvSpPr>
          <p:cNvPr id="4" name="para-card"/>
          <p:cNvSpPr/>
          <p:nvPr/>
        </p:nvSpPr>
        <p:spPr>
          <a:xfrm>
            <a:off x="548640" y="1554480"/>
            <a:ext cx="11094415" cy="1499616"/>
          </a:xfrm>
          <a:prstGeom prst="roundRect">
            <a:avLst>
              <a:gd name="adj" fmla="val 7317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645920"/>
            <a:ext cx="10362895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ห้องควบคุมประกอบด้วยเก้าอี้ผู้ควบคุม แผงควบคุมซ้ายและขวา และหน้าจอ HMI สรุปสวิตช์บนแผงควบคุม (Cabin operator desk) แบ่งเป็นกลุ่มดังนี้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3 · แผงควบคุมและอุปกรณ์ในห้องควบคุม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แผงควบคุมและอุปกรณ์ในห้องควบคุม · ภาพประกอบ</a:t>
            </a:r>
            <a:endParaRPr lang="en-US" sz="2800" dirty="0"/>
          </a:p>
        </p:txBody>
      </p:sp>
      <p:pic>
        <p:nvPicPr>
          <p:cNvPr id="4" name="Image 0" descr="ภาพ: ห้องควบคุม — 1 เก้าอี้ผู้ควบคุม 2 แผงขวา 3 แผงซ้าย 4 หน้าจอ (คู่มือ Figure 75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13667" y="1371600"/>
            <a:ext cx="4164361" cy="45262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9436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ภาพ: ห้องควบคุม — 1 เก้าอี้ผู้ควบคุม 2 แผงขวา 3 แผงซ้าย 4 หน้าจอ (คู่มือ Figure 75)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3 · แผงควบคุมและอุปกรณ์ในห้องควบคุม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แผงควบคุมและอุปกรณ์ในห้องควบคุม</a:t>
            </a:r>
            <a:endParaRPr lang="en-US" sz="28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2884548"/>
                <a:gridCol w="8209867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กลุ่ม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สวิตช์/ปุ่มบนแผง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77241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ไฟฟ้าและระบบหลัก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Power OFF, Main Switch ON after Emergency Stop, Desk Blocking OFF/ON, Hydraulic ON / OFF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935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ฉุกเฉิน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Emergency STOP, Bench Conveyor STOP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45935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สายพาน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Conveyor C1 ON/OFF (Receiving), Conveyor C2 ON/OFF (Discharge)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241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ระบบพ่นน้ำลดฝุ่น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Dust Suppression Pump ON/OFF, Spraying Tripper Car, Spraying Conveyor C1, Spraying Conveyor C2 (OFF/ON)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45935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การเคลื่อนที่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Tripper Car FORWARD / BACKWARD, Boom Hoisting/Slewing, Crawler Drive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241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แสงสว่างและห้อง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Operation Light Spreader, Operation Light Tripper Car, Cabin Light, General Lighting OFF/ON, Windscreen Wiper OFF/ON/WASH, Video System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77241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การแจ้งเตือน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Start-up WARNING, Fault RESET / Lamp Test, Fault ALARM, Fault WARNING, Fault Buzzer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3 · แผงควบคุมและอุปกรณ์ในห้องควบคุม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แผงควบคุมและอุปกรณ์ในห้องควบคุม · ภาพประกอบ</a:t>
            </a:r>
            <a:endParaRPr lang="en-US" sz="2800" dirty="0"/>
          </a:p>
        </p:txBody>
      </p:sp>
      <p:pic>
        <p:nvPicPr>
          <p:cNvPr id="4" name="Image 0" descr="ภาพ: แผงควบคุม (Cabin operator desk) พร้อมหมายเลขสวิตช์ (คู่มือ Figure 76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07264" y="1371600"/>
            <a:ext cx="4377168" cy="45262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9436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ภาพ: แผงควบคุม (Cabin operator desk) พร้อมหมายเลขสวิตช์ (คู่มือ Figure 76)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3 · แผงควบคุมและอุปกรณ์ในห้องควบคุม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3.1 Local control box (ใช้ขณะซ่อมบำรุงเท่านั้น)</a:t>
            </a:r>
            <a:endParaRPr lang="en-US" sz="28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4215878"/>
                <a:gridCol w="6878537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กล่อง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ปุ่มหลัก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77241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Receiving Conveyor C1 / Discharge Conveyor C2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Start, Stop, Start-up Warning, สวิตช์ Remote / Off / Local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241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Crawler Drives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เลือกมอเตอร์ 1 / ทั้งสอง / 2, Forward, Backward, Speed +/-, Stop, Start-up Warning, Remote/Off/Local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45935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Slewing Drive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CCW, CW, Start-up Warning, Remote/Off/Local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241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Boom Hoisting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Up, Down, Start pump, Stop pump, Start-up Warning, Remote/Off/Local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3 · แผงควบคุมและอุปกรณ์ในห้องควบคุม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3.1 Local control box (ใช้ขณะซ่อมบำรุงเท่านั้น) · ภาพประกอบ</a:t>
            </a:r>
            <a:endParaRPr lang="en-US" sz="2800" dirty="0"/>
          </a:p>
        </p:txBody>
      </p:sp>
      <p:pic>
        <p:nvPicPr>
          <p:cNvPr id="4" name="Image 0" descr="ภาพ: ตำแหน่ง local control box 5 จุดบนเครื่อง (คู่มือ Figure 77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25268" y="1371600"/>
            <a:ext cx="6541158" cy="45262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9436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ภาพ: ตำแหน่ง local control box 5 จุดบนเครื่อง (คู่มือ Figure 77)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3 · แผงควบคุมและอุปกรณ์ในห้องควบคุม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3.1 Local control box (ใช้ขณะซ่อมบำรุงเท่านั้น) · ภาพประกอบ</a:t>
            </a:r>
            <a:endParaRPr lang="en-US" sz="2800" dirty="0"/>
          </a:p>
        </p:txBody>
      </p:sp>
      <p:pic>
        <p:nvPicPr>
          <p:cNvPr id="4" name="Image 0" descr="กล่องสายพาน C1/C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55325" y="1371600"/>
            <a:ext cx="1996678" cy="19659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3383280"/>
            <a:ext cx="541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กล่องสายพาน C1/C2</a:t>
            </a:r>
            <a:endParaRPr lang="en-US" sz="1200" dirty="0"/>
          </a:p>
        </p:txBody>
      </p:sp>
      <p:pic>
        <p:nvPicPr>
          <p:cNvPr id="6" name="Image 1" descr="กล่อง Crawl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9675" y="1371600"/>
            <a:ext cx="1996712" cy="19659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233008" y="3383280"/>
            <a:ext cx="541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กล่อง Crawler</a:t>
            </a:r>
            <a:endParaRPr lang="en-US" sz="1200" dirty="0"/>
          </a:p>
        </p:txBody>
      </p:sp>
      <p:pic>
        <p:nvPicPr>
          <p:cNvPr id="8" name="Image 2" descr="กล่อง Slewi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4209" y="3977640"/>
            <a:ext cx="1998909" cy="196596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548640" y="5989320"/>
            <a:ext cx="541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กล่อง Slewing</a:t>
            </a:r>
            <a:endParaRPr lang="en-US" sz="1200" dirty="0"/>
          </a:p>
        </p:txBody>
      </p:sp>
      <p:pic>
        <p:nvPicPr>
          <p:cNvPr id="10" name="Image 3" descr="กล่อง Boom hoisti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5442" y="3977640"/>
            <a:ext cx="1905179" cy="1965960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6233008" y="5989320"/>
            <a:ext cx="541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กล่อง Boom hoisting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3 · แผงควบคุมและอุปกรณ์ในห้องควบคุม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3.1 Local control box (ใช้ขณะซ่อมบำรุงเท่านั้น)</a:t>
            </a:r>
            <a:endParaRPr lang="en-US" sz="2800" dirty="0"/>
          </a:p>
        </p:txBody>
      </p:sp>
      <p:sp>
        <p:nvSpPr>
          <p:cNvPr id="4" name="callout-card"/>
          <p:cNvSpPr/>
          <p:nvPr/>
        </p:nvSpPr>
        <p:spPr>
          <a:xfrm>
            <a:off x="548640" y="1737360"/>
            <a:ext cx="11094415" cy="2359152"/>
          </a:xfrm>
          <a:prstGeom prst="roundRect">
            <a:avLst>
              <a:gd name="adj" fmla="val 5814"/>
            </a:avLst>
          </a:prstGeom>
          <a:solidFill>
            <a:srgbClr val="E8F1FB"/>
          </a:solidFill>
          <a:ln w="19050">
            <a:solidFill>
              <a:srgbClr val="1A5FA8"/>
            </a:solidFill>
            <a:prstDash val="solid"/>
          </a:ln>
        </p:spPr>
      </p:sp>
      <p:sp>
        <p:nvSpPr>
          <p:cNvPr id="5" name="callout-badge"/>
          <p:cNvSpPr/>
          <p:nvPr/>
        </p:nvSpPr>
        <p:spPr>
          <a:xfrm>
            <a:off x="914400" y="2505456"/>
            <a:ext cx="822960" cy="822960"/>
          </a:xfrm>
          <a:prstGeom prst="ellipse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505456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2011680" y="1874520"/>
            <a:ext cx="9265615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A5F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หมายเหตุ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ข้อความแจ้งเตือนและรหัส fault แสดงบนหน้าจอ HMI รายละเอียดดูใน Electrotechnical Documentation ผู้ควบคุมต้องแจ้งหัวหน้างานเมื่อพบข้อความผิดปกติ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vider-circle"/>
          <p:cNvSpPr/>
          <p:nvPr/>
        </p:nvSpPr>
        <p:spPr>
          <a:xfrm>
            <a:off x="7680960" y="1280160"/>
            <a:ext cx="4937760" cy="4937760"/>
          </a:xfrm>
          <a:prstGeom prst="ellipse">
            <a:avLst/>
          </a:prstGeom>
          <a:solidFill>
            <a:srgbClr val="1A5FA8">
              <a:alpha val="45000"/>
            </a:srgbClr>
          </a:solidFill>
          <a:ln w="12700">
            <a:solidFill>
              <a:srgbClr val="1A5FA8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680960" y="265176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9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28600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A2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4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834640"/>
            <a:ext cx="6949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โหมดการทำงาน</a:t>
            </a:r>
            <a:endParaRPr lang="en-US" sz="3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4 · โหมดการทำงาน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โหมดการทำงาน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ระบบควบคุม (PLC) มี 3 โหมด เลือกด้วยสวิตช์เลือกโหมดในห้องควบคุม โดยแบ่งการควบคุมเป็น 2 กลุ่มคือ เส้นทางลำเลียง (conveying path) และการเคลื่อนที่ของเครื่อง (เดิน หมุน บูม) การเดินในโหมดอัตโนมัติจะทำได้ต่อเมื่อเส้นทางลำเลียงอยู่ในโหมดอัตโนมัติ</a:t>
            </a:r>
            <a:endParaRPr lang="en-US" sz="15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77440"/>
          <a:ext cx="11094415" cy="914400"/>
        </p:xfrm>
        <a:graphic>
          <a:graphicData uri="http://schemas.openxmlformats.org/drawingml/2006/table">
            <a:tbl>
              <a:tblPr/>
              <a:tblGrid>
                <a:gridCol w="1996995"/>
                <a:gridCol w="4437766"/>
                <a:gridCol w="4659654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โหมด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ใช้เมื่อ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ข้อควรระวัง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108546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Manual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เคลื่อนเครื่องเพื่อซ่อมบำรุงและแก้ปัญหา ควบคุมแต่ละชุดขับด้วยมือ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โหมด locked ทุก interlock ทำงาน, โหมด unlocked ปิด interlock บางส่วน ห้ามใช้ unlocked เมื่อมีวัสดุบนเครื่อง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241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Recovery (กรณีพิเศษของ Manual)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ขยับชิ้นส่วนกลับเข้าช่วงทำงานเมื่อชนเซ็นเซอร์จำกัด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ข้ามเซ็นเซอร์ชั่วคราว ใช้โดยผู้ผ่านการอบรมเท่านั้น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77241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Semi-automatic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จัดตำแหน่งเครื่องและทดสอบค่าตั้งก่อนใช้อัตโนมัติ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หยุดหลังจบแต่ละการเคลื่อน ผู้ควบคุมต้องสั่งการเคลื่อนถัดไปเอง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241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Automatic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โหมดทำงานปกติของเครื่อง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สั่งสตาร์ท/หยุดเส้นทางลำเลียงด้วยคำสั่งเดียว PLC ทำตามลำดับให้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4 · โหมดการทำงาน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4.1 หลักการสตาร์ท/หยุดเส้นทางลำเลียงในโหมดอัตโนมัติ</a:t>
            </a:r>
            <a:endParaRPr lang="en-US" sz="2800" dirty="0"/>
          </a:p>
        </p:txBody>
      </p:sp>
      <p:sp>
        <p:nvSpPr>
          <p:cNvPr id="4" name="row-1"/>
          <p:cNvSpPr/>
          <p:nvPr/>
        </p:nvSpPr>
        <p:spPr>
          <a:xfrm>
            <a:off x="548640" y="1417320"/>
            <a:ext cx="11094415" cy="512064"/>
          </a:xfrm>
          <a:prstGeom prst="roundRect">
            <a:avLst>
              <a:gd name="adj" fmla="val 14286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5" name="mark-1"/>
          <p:cNvSpPr/>
          <p:nvPr/>
        </p:nvSpPr>
        <p:spPr>
          <a:xfrm>
            <a:off x="685800" y="1490472"/>
            <a:ext cx="365760" cy="365760"/>
          </a:xfrm>
          <a:prstGeom prst="ellipse">
            <a:avLst/>
          </a:prstGeom>
          <a:solidFill>
            <a:srgbClr val="F4A200"/>
          </a:solidFill>
          <a:ln w="12700">
            <a:solidFill>
              <a:srgbClr val="F4A2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34440" y="1417320"/>
            <a:ext cx="102257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PLC สตาร์ทชุดขับของเส้นทางลำเลียงตามลำดับเอง และหยุดตามลำดับย้อนกลับ</a:t>
            </a:r>
            <a:endParaRPr lang="en-US" sz="1700" dirty="0"/>
          </a:p>
        </p:txBody>
      </p:sp>
      <p:sp>
        <p:nvSpPr>
          <p:cNvPr id="7" name="row-2"/>
          <p:cNvSpPr/>
          <p:nvPr/>
        </p:nvSpPr>
        <p:spPr>
          <a:xfrm>
            <a:off x="548640" y="2002536"/>
            <a:ext cx="11094415" cy="512064"/>
          </a:xfrm>
          <a:prstGeom prst="roundRect">
            <a:avLst>
              <a:gd name="adj" fmla="val 14286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8" name="mark-2"/>
          <p:cNvSpPr/>
          <p:nvPr/>
        </p:nvSpPr>
        <p:spPr>
          <a:xfrm>
            <a:off x="685800" y="2075688"/>
            <a:ext cx="365760" cy="365760"/>
          </a:xfrm>
          <a:prstGeom prst="ellipse">
            <a:avLst/>
          </a:prstGeom>
          <a:solidFill>
            <a:srgbClr val="F4A200"/>
          </a:solidFill>
          <a:ln w="12700">
            <a:solidFill>
              <a:srgbClr val="F4A2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34440" y="2002536"/>
            <a:ext cx="102257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ชิ้นส่วนลำเลียงหนึ่งจะเดินได้เมื่อชิ้นส่วนถัดไปที่รับวัสดุกำลังเดินอยู่เท่านั้น (interlock)</a:t>
            </a:r>
            <a:endParaRPr lang="en-US" sz="1700" dirty="0"/>
          </a:p>
        </p:txBody>
      </p:sp>
      <p:sp>
        <p:nvSpPr>
          <p:cNvPr id="10" name="row-3"/>
          <p:cNvSpPr/>
          <p:nvPr/>
        </p:nvSpPr>
        <p:spPr>
          <a:xfrm>
            <a:off x="548640" y="2587752"/>
            <a:ext cx="11094415" cy="822960"/>
          </a:xfrm>
          <a:prstGeom prst="roundRect">
            <a:avLst>
              <a:gd name="adj" fmla="val 8889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1" name="mark-3"/>
          <p:cNvSpPr/>
          <p:nvPr/>
        </p:nvSpPr>
        <p:spPr>
          <a:xfrm>
            <a:off x="685800" y="2816352"/>
            <a:ext cx="365760" cy="365760"/>
          </a:xfrm>
          <a:prstGeom prst="ellipse">
            <a:avLst/>
          </a:prstGeom>
          <a:solidFill>
            <a:srgbClr val="F4A200"/>
          </a:solidFill>
          <a:ln w="12700">
            <a:solidFill>
              <a:srgbClr val="F4A20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234440" y="2587752"/>
            <a:ext cx="102257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ถ้าชุดหลักตัวใดหยุดจากความขัดข้อง ชุดที่ป้อนวัสดุเข้ามาจะหยุดตาม ส่วนชุดที่อยู่ท้ายยังเดินต่อ หลังหยุดสนิทจึงสตาร์ทใหม่ตามลำดับเริ่มต้น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vider-circle"/>
          <p:cNvSpPr/>
          <p:nvPr/>
        </p:nvSpPr>
        <p:spPr>
          <a:xfrm>
            <a:off x="7680960" y="1280160"/>
            <a:ext cx="4937760" cy="4937760"/>
          </a:xfrm>
          <a:prstGeom prst="ellipse">
            <a:avLst/>
          </a:prstGeom>
          <a:solidFill>
            <a:srgbClr val="1A5FA8">
              <a:alpha val="45000"/>
            </a:srgbClr>
          </a:solidFill>
          <a:ln w="12700">
            <a:solidFill>
              <a:srgbClr val="1A5FA8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680960" y="265176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9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28600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A2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5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834640"/>
            <a:ext cx="6949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ขั้นตอนการปฏิบัติงาน</a:t>
            </a:r>
            <a:endParaRPr lang="en-US" sz="3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5 · ขั้นตอนการปฏิบัติงาน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5.1 ตรวจเครื่องก่อนเริ่มเดิน</a:t>
            </a:r>
            <a:endParaRPr lang="en-US" sz="2800" dirty="0"/>
          </a:p>
        </p:txBody>
      </p:sp>
      <p:sp>
        <p:nvSpPr>
          <p:cNvPr id="4" name="row-1"/>
          <p:cNvSpPr/>
          <p:nvPr/>
        </p:nvSpPr>
        <p:spPr>
          <a:xfrm>
            <a:off x="548640" y="1417320"/>
            <a:ext cx="11094415" cy="512064"/>
          </a:xfrm>
          <a:prstGeom prst="roundRect">
            <a:avLst>
              <a:gd name="adj" fmla="val 14286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5" name="mark-1"/>
          <p:cNvSpPr/>
          <p:nvPr/>
        </p:nvSpPr>
        <p:spPr>
          <a:xfrm>
            <a:off x="685800" y="1490472"/>
            <a:ext cx="365760" cy="365760"/>
          </a:xfrm>
          <a:prstGeom prst="ellipse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4904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417320"/>
            <a:ext cx="102257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ตรวจสายพานว่ามีความเสียหายที่มองเห็นได้หรือไม่ รายงานการสึกหรอและความผิดปกติทันที</a:t>
            </a:r>
            <a:endParaRPr lang="en-US" sz="1700" dirty="0"/>
          </a:p>
        </p:txBody>
      </p:sp>
      <p:sp>
        <p:nvSpPr>
          <p:cNvPr id="8" name="row-2"/>
          <p:cNvSpPr/>
          <p:nvPr/>
        </p:nvSpPr>
        <p:spPr>
          <a:xfrm>
            <a:off x="548640" y="2002536"/>
            <a:ext cx="11094415" cy="512064"/>
          </a:xfrm>
          <a:prstGeom prst="roundRect">
            <a:avLst>
              <a:gd name="adj" fmla="val 14286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9" name="mark-2"/>
          <p:cNvSpPr/>
          <p:nvPr/>
        </p:nvSpPr>
        <p:spPr>
          <a:xfrm>
            <a:off x="685800" y="2075688"/>
            <a:ext cx="365760" cy="365760"/>
          </a:xfrm>
          <a:prstGeom prst="ellipse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20756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002536"/>
            <a:ext cx="102257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ทดสอบ limit switch ทุกชนิดและปุ่ม Emergency Stop ทุกครั้งที่เปิดเครื่อง</a:t>
            </a:r>
            <a:endParaRPr lang="en-US" sz="1700" dirty="0"/>
          </a:p>
        </p:txBody>
      </p:sp>
      <p:sp>
        <p:nvSpPr>
          <p:cNvPr id="12" name="row-3"/>
          <p:cNvSpPr/>
          <p:nvPr/>
        </p:nvSpPr>
        <p:spPr>
          <a:xfrm>
            <a:off x="548640" y="2587752"/>
            <a:ext cx="11094415" cy="512064"/>
          </a:xfrm>
          <a:prstGeom prst="roundRect">
            <a:avLst>
              <a:gd name="adj" fmla="val 14286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3" name="mark-3"/>
          <p:cNvSpPr/>
          <p:nvPr/>
        </p:nvSpPr>
        <p:spPr>
          <a:xfrm>
            <a:off x="685800" y="2660904"/>
            <a:ext cx="365760" cy="365760"/>
          </a:xfrm>
          <a:prstGeom prst="ellipse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26609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2587752"/>
            <a:ext cx="102257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ตรวจสายเคเบิลเคลื่อนที่ว่าไม่ถลอกหรือชำรุด</a:t>
            </a:r>
            <a:endParaRPr lang="en-US" sz="1700" dirty="0"/>
          </a:p>
        </p:txBody>
      </p:sp>
      <p:sp>
        <p:nvSpPr>
          <p:cNvPr id="16" name="row-4"/>
          <p:cNvSpPr/>
          <p:nvPr/>
        </p:nvSpPr>
        <p:spPr>
          <a:xfrm>
            <a:off x="548640" y="3172968"/>
            <a:ext cx="11094415" cy="512064"/>
          </a:xfrm>
          <a:prstGeom prst="roundRect">
            <a:avLst>
              <a:gd name="adj" fmla="val 14286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7" name="mark-4"/>
          <p:cNvSpPr/>
          <p:nvPr/>
        </p:nvSpPr>
        <p:spPr>
          <a:xfrm>
            <a:off x="685800" y="3246120"/>
            <a:ext cx="365760" cy="365760"/>
          </a:xfrm>
          <a:prstGeom prst="ellipse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5800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3172968"/>
            <a:ext cx="102257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ตรวจความสะอาดของเครื่อง และ scraper ว่ามีดินติดแน่นหรือสึกหรือไม่</a:t>
            </a:r>
            <a:endParaRPr lang="en-US" sz="1700" dirty="0"/>
          </a:p>
        </p:txBody>
      </p:sp>
      <p:sp>
        <p:nvSpPr>
          <p:cNvPr id="20" name="row-5"/>
          <p:cNvSpPr/>
          <p:nvPr/>
        </p:nvSpPr>
        <p:spPr>
          <a:xfrm>
            <a:off x="548640" y="3758184"/>
            <a:ext cx="11094415" cy="512064"/>
          </a:xfrm>
          <a:prstGeom prst="roundRect">
            <a:avLst>
              <a:gd name="adj" fmla="val 14286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21" name="mark-5"/>
          <p:cNvSpPr/>
          <p:nvPr/>
        </p:nvSpPr>
        <p:spPr>
          <a:xfrm>
            <a:off x="685800" y="3831336"/>
            <a:ext cx="365760" cy="365760"/>
          </a:xfrm>
          <a:prstGeom prst="ellipse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5800" y="38313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234440" y="3758184"/>
            <a:ext cx="102257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ตรวจระดับน้ำมันเกียร์และระบบไฮดรอลิก ฟังเสียงเกียร์ แบริ่ง และตรวจรอยรั่ว</a:t>
            </a:r>
            <a:endParaRPr lang="en-US" sz="1700" dirty="0"/>
          </a:p>
        </p:txBody>
      </p:sp>
      <p:sp>
        <p:nvSpPr>
          <p:cNvPr id="24" name="row-6"/>
          <p:cNvSpPr/>
          <p:nvPr/>
        </p:nvSpPr>
        <p:spPr>
          <a:xfrm>
            <a:off x="548640" y="4343400"/>
            <a:ext cx="11094415" cy="512064"/>
          </a:xfrm>
          <a:prstGeom prst="roundRect">
            <a:avLst>
              <a:gd name="adj" fmla="val 14286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25" name="mark-6"/>
          <p:cNvSpPr/>
          <p:nvPr/>
        </p:nvSpPr>
        <p:spPr>
          <a:xfrm>
            <a:off x="685800" y="4416552"/>
            <a:ext cx="365760" cy="365760"/>
          </a:xfrm>
          <a:prstGeom prst="ellipse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85800" y="44165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1234440" y="4343400"/>
            <a:ext cx="102257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ตรวจเบรกของทุกชุดขับด้วยสายตา</a:t>
            </a:r>
            <a:endParaRPr lang="en-US" sz="1700" dirty="0"/>
          </a:p>
        </p:txBody>
      </p:sp>
      <p:sp>
        <p:nvSpPr>
          <p:cNvPr id="28" name="row-7"/>
          <p:cNvSpPr/>
          <p:nvPr/>
        </p:nvSpPr>
        <p:spPr>
          <a:xfrm>
            <a:off x="548640" y="4928616"/>
            <a:ext cx="11094415" cy="512064"/>
          </a:xfrm>
          <a:prstGeom prst="roundRect">
            <a:avLst>
              <a:gd name="adj" fmla="val 14286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29" name="mark-7"/>
          <p:cNvSpPr/>
          <p:nvPr/>
        </p:nvSpPr>
        <p:spPr>
          <a:xfrm>
            <a:off x="685800" y="5001768"/>
            <a:ext cx="365760" cy="365760"/>
          </a:xfrm>
          <a:prstGeom prst="ellipse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85800" y="5001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7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1234440" y="4928616"/>
            <a:ext cx="102257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ปรับระบบ tensioning กลับสู่ค่าตั้งทุกครั้งที่เปลี่ยนกะ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5 · ขั้นตอนการปฏิบัติงาน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5.2 เงื่อนไขความพร้อมก่อนสตาร์ท</a:t>
            </a:r>
            <a:endParaRPr lang="en-US" sz="28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4437766"/>
                <a:gridCol w="6656649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เงื่อนไข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ตรวจสอบ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935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เส้นทางลำเลียง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ต้องไม่มีวัสดุล้นหรือสะสมเกินกำลัง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935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พื้นที่ทำงาน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ปราศจากสิ่งกีดขวาง เช่น รถ แท่นยก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45935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ผู้ไม่เกี่ยวข้อง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ไม่มีบุคคลภายนอกอยู่ในพื้นที่ทำงานของเครื่อง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935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ความเอียงของเครื่องและความเร็วลม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อยู่ในขีดจำกัดที่กำหนด (ลมขณะทำงานไม่เกิน 20 m/s)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45935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การตรวจประจำกะ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ทำครบแล้วตามข้อ 5.1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5 · ขั้นตอนการปฏิบัติงาน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5.3 ระหว่างเดินเครื่อง</a:t>
            </a:r>
            <a:endParaRPr lang="en-US" sz="2800" dirty="0"/>
          </a:p>
        </p:txBody>
      </p:sp>
      <p:sp>
        <p:nvSpPr>
          <p:cNvPr id="4" name="row-1"/>
          <p:cNvSpPr/>
          <p:nvPr/>
        </p:nvSpPr>
        <p:spPr>
          <a:xfrm>
            <a:off x="548640" y="1417320"/>
            <a:ext cx="11094415" cy="822960"/>
          </a:xfrm>
          <a:prstGeom prst="roundRect">
            <a:avLst>
              <a:gd name="adj" fmla="val 8889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5" name="mark-1"/>
          <p:cNvSpPr/>
          <p:nvPr/>
        </p:nvSpPr>
        <p:spPr>
          <a:xfrm>
            <a:off x="685800" y="1645920"/>
            <a:ext cx="365760" cy="365760"/>
          </a:xfrm>
          <a:prstGeom prst="ellipse">
            <a:avLst/>
          </a:prstGeom>
          <a:solidFill>
            <a:srgbClr val="F4A200"/>
          </a:solidFill>
          <a:ln w="12700">
            <a:solidFill>
              <a:srgbClr val="F4A2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34440" y="1417320"/>
            <a:ext cx="102257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เฝ้าติดตามความผิดปกติและความขัดข้องตลอดการทำงาน ถ้ามีข้อความเตือนหรือ PLC หยุดเครื่อง ให้แจ้งซ่อมทันทีหรือในกะซ่อมถัดไป ตามผลกระทบ</a:t>
            </a:r>
            <a:endParaRPr lang="en-US" sz="1700" dirty="0"/>
          </a:p>
        </p:txBody>
      </p:sp>
      <p:sp>
        <p:nvSpPr>
          <p:cNvPr id="7" name="row-2"/>
          <p:cNvSpPr/>
          <p:nvPr/>
        </p:nvSpPr>
        <p:spPr>
          <a:xfrm>
            <a:off x="548640" y="2313432"/>
            <a:ext cx="11094415" cy="822960"/>
          </a:xfrm>
          <a:prstGeom prst="roundRect">
            <a:avLst>
              <a:gd name="adj" fmla="val 8889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8" name="mark-2"/>
          <p:cNvSpPr/>
          <p:nvPr/>
        </p:nvSpPr>
        <p:spPr>
          <a:xfrm>
            <a:off x="685800" y="2542032"/>
            <a:ext cx="365760" cy="365760"/>
          </a:xfrm>
          <a:prstGeom prst="ellipse">
            <a:avLst/>
          </a:prstGeom>
          <a:solidFill>
            <a:srgbClr val="F4A200"/>
          </a:solidFill>
          <a:ln w="12700">
            <a:solidFill>
              <a:srgbClr val="F4A2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34440" y="2313432"/>
            <a:ext cx="102257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สังเกตจุดถ่ายโอนวัสดุ (transfer point) เพื่อกันการอุดตันและการรับน้ำหนักข้างเดียว วัสดุต้องตกกลางสายพานถัดไปได้โดยไม่ติดขัด</a:t>
            </a:r>
            <a:endParaRPr lang="en-US" sz="1700" dirty="0"/>
          </a:p>
        </p:txBody>
      </p:sp>
      <p:sp>
        <p:nvSpPr>
          <p:cNvPr id="10" name="row-3"/>
          <p:cNvSpPr/>
          <p:nvPr/>
        </p:nvSpPr>
        <p:spPr>
          <a:xfrm>
            <a:off x="548640" y="3209544"/>
            <a:ext cx="11094415" cy="822960"/>
          </a:xfrm>
          <a:prstGeom prst="roundRect">
            <a:avLst>
              <a:gd name="adj" fmla="val 8889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1" name="mark-3"/>
          <p:cNvSpPr/>
          <p:nvPr/>
        </p:nvSpPr>
        <p:spPr>
          <a:xfrm>
            <a:off x="685800" y="3438144"/>
            <a:ext cx="365760" cy="365760"/>
          </a:xfrm>
          <a:prstGeom prst="ellipse">
            <a:avLst/>
          </a:prstGeom>
          <a:solidFill>
            <a:srgbClr val="F4A200"/>
          </a:solidFill>
          <a:ln w="12700">
            <a:solidFill>
              <a:srgbClr val="F4A20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234440" y="3209544"/>
            <a:ext cx="102257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จากห้องควบคุม ให้สังเกตปากรับวัสดุของสายพาน ตำแหน่งของ Tripper Car เทียบกับ Spreader และจุดต่อสายพาน</a:t>
            </a:r>
            <a:endParaRPr lang="en-US" sz="1700" dirty="0"/>
          </a:p>
        </p:txBody>
      </p:sp>
      <p:sp>
        <p:nvSpPr>
          <p:cNvPr id="13" name="row-4"/>
          <p:cNvSpPr/>
          <p:nvPr/>
        </p:nvSpPr>
        <p:spPr>
          <a:xfrm>
            <a:off x="548640" y="4105656"/>
            <a:ext cx="11094415" cy="822960"/>
          </a:xfrm>
          <a:prstGeom prst="roundRect">
            <a:avLst>
              <a:gd name="adj" fmla="val 8889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4" name="mark-4"/>
          <p:cNvSpPr/>
          <p:nvPr/>
        </p:nvSpPr>
        <p:spPr>
          <a:xfrm>
            <a:off x="685800" y="4334256"/>
            <a:ext cx="365760" cy="365760"/>
          </a:xfrm>
          <a:prstGeom prst="ellipse">
            <a:avLst/>
          </a:prstGeom>
          <a:solidFill>
            <a:srgbClr val="F4A200"/>
          </a:solidFill>
          <a:ln w="12700">
            <a:solidFill>
              <a:srgbClr val="F4A20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234440" y="4105656"/>
            <a:ext cx="102257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ใช้แผนผังการทำงาน (working plan) เป็นเอกสารหลักสำหรับลำดับการเคลื่อนของเครื่อง รูปแบบการทำงานจริงขึ้นกับความต้องการของเหมือง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5 · ขั้นตอนการปฏิบัติงาน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5.3 ระหว่างเดินเครื่อง · ภาพประกอบ</a:t>
            </a:r>
            <a:endParaRPr lang="en-US" sz="2800" dirty="0"/>
          </a:p>
        </p:txBody>
      </p:sp>
      <p:pic>
        <p:nvPicPr>
          <p:cNvPr id="4" name="Image 0" descr="ภาพ: ตัวอย่างแผนผังการทำงาน (working plan) ของ Spreader (คู่มือ Figure 89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97307" y="1371600"/>
            <a:ext cx="4597082" cy="45262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9436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ภาพ: ตัวอย่างแผนผังการทำงาน (working plan) ของ Spreader (คู่มือ Figure 89)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5 · ขั้นตอนการปฏิบัติงาน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5.4 การหยุดเครื่องปกติ</a:t>
            </a:r>
            <a:endParaRPr lang="en-US" sz="2800" dirty="0"/>
          </a:p>
        </p:txBody>
      </p:sp>
      <p:sp>
        <p:nvSpPr>
          <p:cNvPr id="4" name="row-1"/>
          <p:cNvSpPr/>
          <p:nvPr/>
        </p:nvSpPr>
        <p:spPr>
          <a:xfrm>
            <a:off x="548640" y="1417320"/>
            <a:ext cx="11094415" cy="512064"/>
          </a:xfrm>
          <a:prstGeom prst="roundRect">
            <a:avLst>
              <a:gd name="adj" fmla="val 14286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5" name="mark-1"/>
          <p:cNvSpPr/>
          <p:nvPr/>
        </p:nvSpPr>
        <p:spPr>
          <a:xfrm>
            <a:off x="685800" y="1490472"/>
            <a:ext cx="365760" cy="365760"/>
          </a:xfrm>
          <a:prstGeom prst="ellipse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4904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417320"/>
            <a:ext cx="102257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ปล่อยให้สายพานลำเลียงวัสดุออกจนว่าง (run empty)</a:t>
            </a:r>
            <a:endParaRPr lang="en-US" sz="1700" dirty="0"/>
          </a:p>
        </p:txBody>
      </p:sp>
      <p:sp>
        <p:nvSpPr>
          <p:cNvPr id="8" name="row-2"/>
          <p:cNvSpPr/>
          <p:nvPr/>
        </p:nvSpPr>
        <p:spPr>
          <a:xfrm>
            <a:off x="548640" y="2002536"/>
            <a:ext cx="11094415" cy="512064"/>
          </a:xfrm>
          <a:prstGeom prst="roundRect">
            <a:avLst>
              <a:gd name="adj" fmla="val 14286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9" name="mark-2"/>
          <p:cNvSpPr/>
          <p:nvPr/>
        </p:nvSpPr>
        <p:spPr>
          <a:xfrm>
            <a:off x="685800" y="2075688"/>
            <a:ext cx="365760" cy="365760"/>
          </a:xfrm>
          <a:prstGeom prst="ellipse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20756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002536"/>
            <a:ext cx="102257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หยุดเส้นทางลำเลียง ระบบจะหยุดตามลำดับย้อนกลับ</a:t>
            </a:r>
            <a:endParaRPr lang="en-US" sz="1700" dirty="0"/>
          </a:p>
        </p:txBody>
      </p:sp>
      <p:sp>
        <p:nvSpPr>
          <p:cNvPr id="12" name="row-3"/>
          <p:cNvSpPr/>
          <p:nvPr/>
        </p:nvSpPr>
        <p:spPr>
          <a:xfrm>
            <a:off x="548640" y="2587752"/>
            <a:ext cx="11094415" cy="822960"/>
          </a:xfrm>
          <a:prstGeom prst="roundRect">
            <a:avLst>
              <a:gd name="adj" fmla="val 8889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3" name="mark-3"/>
          <p:cNvSpPr/>
          <p:nvPr/>
        </p:nvSpPr>
        <p:spPr>
          <a:xfrm>
            <a:off x="685800" y="2816352"/>
            <a:ext cx="365760" cy="365760"/>
          </a:xfrm>
          <a:prstGeom prst="ellipse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28163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2587752"/>
            <a:ext cx="102257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เมื่อต้องซ่อมบำรุง ให้ป้องกันการสตาร์ทซ้ำและทำ LOTO ตามขั้นตอน (ระบบไฟฟ้ายังมีไฟอยู่หลังปิดเครื่อง)</a:t>
            </a:r>
            <a:endParaRPr lang="en-US" sz="1700" dirty="0"/>
          </a:p>
        </p:txBody>
      </p:sp>
      <p:sp>
        <p:nvSpPr>
          <p:cNvPr id="16" name="row-4"/>
          <p:cNvSpPr/>
          <p:nvPr/>
        </p:nvSpPr>
        <p:spPr>
          <a:xfrm>
            <a:off x="548640" y="3483864"/>
            <a:ext cx="11094415" cy="512064"/>
          </a:xfrm>
          <a:prstGeom prst="roundRect">
            <a:avLst>
              <a:gd name="adj" fmla="val 14286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7" name="mark-4"/>
          <p:cNvSpPr/>
          <p:nvPr/>
        </p:nvSpPr>
        <p:spPr>
          <a:xfrm>
            <a:off x="685800" y="3557016"/>
            <a:ext cx="365760" cy="365760"/>
          </a:xfrm>
          <a:prstGeom prst="ellipse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5800" y="35570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3483864"/>
            <a:ext cx="102257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บันทึกความผิดปกติลงใน Shift Handover ของระบบ OB9 ก่อนส่งกะ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5 · ขั้นตอนการปฏิบัติงาน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5.5 การหยุดฉุกเฉิน (Emergency stop)</a:t>
            </a:r>
            <a:endParaRPr lang="en-US" sz="2800" dirty="0"/>
          </a:p>
        </p:txBody>
      </p:sp>
      <p:sp>
        <p:nvSpPr>
          <p:cNvPr id="4" name="callout-card"/>
          <p:cNvSpPr/>
          <p:nvPr/>
        </p:nvSpPr>
        <p:spPr>
          <a:xfrm>
            <a:off x="548640" y="1737360"/>
            <a:ext cx="11094415" cy="1938528"/>
          </a:xfrm>
          <a:prstGeom prst="roundRect">
            <a:avLst>
              <a:gd name="adj" fmla="val 7075"/>
            </a:avLst>
          </a:prstGeom>
          <a:solidFill>
            <a:srgbClr val="FDECEC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5" name="callout-badge"/>
          <p:cNvSpPr/>
          <p:nvPr/>
        </p:nvSpPr>
        <p:spPr>
          <a:xfrm>
            <a:off x="914400" y="2295144"/>
            <a:ext cx="822960" cy="82296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295144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!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2011680" y="1874520"/>
            <a:ext cx="9265615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DC26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อันตราย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เมื่อเกิดสถานการณ์อันตราย ให้กดปุ่ม Emergency Stop หรือดึงสาย pull-rope ทันที หน้าจอจะแสดงข้อความ "Emergency off"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5 · ขั้นตอนการปฏิบัติงาน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5.5 การหยุดฉุกเฉิน (Emergency stop)</a:t>
            </a:r>
            <a:endParaRPr lang="en-US" sz="2800" dirty="0"/>
          </a:p>
        </p:txBody>
      </p:sp>
      <p:sp>
        <p:nvSpPr>
          <p:cNvPr id="4" name="row-1"/>
          <p:cNvSpPr/>
          <p:nvPr/>
        </p:nvSpPr>
        <p:spPr>
          <a:xfrm>
            <a:off x="548640" y="1417320"/>
            <a:ext cx="11094415" cy="512064"/>
          </a:xfrm>
          <a:prstGeom prst="roundRect">
            <a:avLst>
              <a:gd name="adj" fmla="val 14286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5" name="mark-1"/>
          <p:cNvSpPr/>
          <p:nvPr/>
        </p:nvSpPr>
        <p:spPr>
          <a:xfrm>
            <a:off x="685800" y="1490472"/>
            <a:ext cx="365760" cy="365760"/>
          </a:xfrm>
          <a:prstGeom prst="ellipse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4904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417320"/>
            <a:ext cx="102257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แจ้งหัวหน้างานที่รับผิดชอบทันที</a:t>
            </a:r>
            <a:endParaRPr lang="en-US" sz="1700" dirty="0"/>
          </a:p>
        </p:txBody>
      </p:sp>
      <p:sp>
        <p:nvSpPr>
          <p:cNvPr id="8" name="row-2"/>
          <p:cNvSpPr/>
          <p:nvPr/>
        </p:nvSpPr>
        <p:spPr>
          <a:xfrm>
            <a:off x="548640" y="2002536"/>
            <a:ext cx="11094415" cy="512064"/>
          </a:xfrm>
          <a:prstGeom prst="roundRect">
            <a:avLst>
              <a:gd name="adj" fmla="val 14286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9" name="mark-2"/>
          <p:cNvSpPr/>
          <p:nvPr/>
        </p:nvSpPr>
        <p:spPr>
          <a:xfrm>
            <a:off x="685800" y="2075688"/>
            <a:ext cx="365760" cy="365760"/>
          </a:xfrm>
          <a:prstGeom prst="ellipse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20756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002536"/>
            <a:ext cx="102257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กำจัดสาเหตุที่ต้องกดหยุดฉุกเฉิน</a:t>
            </a:r>
            <a:endParaRPr lang="en-US" sz="1700" dirty="0"/>
          </a:p>
        </p:txBody>
      </p:sp>
      <p:sp>
        <p:nvSpPr>
          <p:cNvPr id="12" name="row-3"/>
          <p:cNvSpPr/>
          <p:nvPr/>
        </p:nvSpPr>
        <p:spPr>
          <a:xfrm>
            <a:off x="548640" y="2587752"/>
            <a:ext cx="11094415" cy="822960"/>
          </a:xfrm>
          <a:prstGeom prst="roundRect">
            <a:avLst>
              <a:gd name="adj" fmla="val 8889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3" name="mark-3"/>
          <p:cNvSpPr/>
          <p:nvPr/>
        </p:nvSpPr>
        <p:spPr>
          <a:xfrm>
            <a:off x="685800" y="2816352"/>
            <a:ext cx="365760" cy="365760"/>
          </a:xfrm>
          <a:prstGeom prst="ellipse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28163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2587752"/>
            <a:ext cx="102257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ก่อนสตาร์ทใหม่: ตรวจว่าปากรับวัสดุและจุดถ่ายโอนปราศจากวัสดุตกค้าง ชุดต้นทางและปลายทางพร้อมทำงาน</a:t>
            </a:r>
            <a:endParaRPr lang="en-US" sz="1700" dirty="0"/>
          </a:p>
        </p:txBody>
      </p:sp>
      <p:sp>
        <p:nvSpPr>
          <p:cNvPr id="16" name="row-4"/>
          <p:cNvSpPr/>
          <p:nvPr/>
        </p:nvSpPr>
        <p:spPr>
          <a:xfrm>
            <a:off x="548640" y="3483864"/>
            <a:ext cx="11094415" cy="512064"/>
          </a:xfrm>
          <a:prstGeom prst="roundRect">
            <a:avLst>
              <a:gd name="adj" fmla="val 14286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7" name="mark-4"/>
          <p:cNvSpPr/>
          <p:nvPr/>
        </p:nvSpPr>
        <p:spPr>
          <a:xfrm>
            <a:off x="685800" y="3557016"/>
            <a:ext cx="365760" cy="365760"/>
          </a:xfrm>
          <a:prstGeom prst="ellipse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5800" y="35570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3483864"/>
            <a:ext cx="102257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ตรวจแนวสายพาน ตรวจเครื่องหาความผิดปกติ ขันแน่น bolt ที่คลาย และปรับ scraper กับยางกันรั่ว</a:t>
            </a:r>
            <a:endParaRPr lang="en-US" sz="1700" dirty="0"/>
          </a:p>
        </p:txBody>
      </p:sp>
      <p:sp>
        <p:nvSpPr>
          <p:cNvPr id="20" name="row-5"/>
          <p:cNvSpPr/>
          <p:nvPr/>
        </p:nvSpPr>
        <p:spPr>
          <a:xfrm>
            <a:off x="548640" y="4069080"/>
            <a:ext cx="11094415" cy="822960"/>
          </a:xfrm>
          <a:prstGeom prst="roundRect">
            <a:avLst>
              <a:gd name="adj" fmla="val 8889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21" name="mark-5"/>
          <p:cNvSpPr/>
          <p:nvPr/>
        </p:nvSpPr>
        <p:spPr>
          <a:xfrm>
            <a:off x="685800" y="4297680"/>
            <a:ext cx="365760" cy="365760"/>
          </a:xfrm>
          <a:prstGeom prst="ellipse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5800" y="4297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234440" y="4069080"/>
            <a:ext cx="102257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ปลดปุ่ม Emergency และกลับสู่สถานะพร้อมเดินตามขั้นตอนของโครงการ (บนแผงมีสวิตช์ Main Switch ON after Emergency Stop) แล้วเริ่มเดินตามขั้นตอนปกติ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5 · ขั้นตอนการปฏิบัติงาน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5.6 พายุ / ลมแรง</a:t>
            </a:r>
            <a:endParaRPr lang="en-US" sz="2800" dirty="0"/>
          </a:p>
        </p:txBody>
      </p:sp>
      <p:sp>
        <p:nvSpPr>
          <p:cNvPr id="4" name="callout-card"/>
          <p:cNvSpPr/>
          <p:nvPr/>
        </p:nvSpPr>
        <p:spPr>
          <a:xfrm>
            <a:off x="548640" y="1737360"/>
            <a:ext cx="11094415" cy="1938528"/>
          </a:xfrm>
          <a:prstGeom prst="roundRect">
            <a:avLst>
              <a:gd name="adj" fmla="val 7075"/>
            </a:avLst>
          </a:prstGeom>
          <a:solidFill>
            <a:srgbClr val="FFF4DB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5" name="callout-badge"/>
          <p:cNvSpPr/>
          <p:nvPr/>
        </p:nvSpPr>
        <p:spPr>
          <a:xfrm>
            <a:off x="914400" y="2295144"/>
            <a:ext cx="822960" cy="82296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295144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!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2011680" y="1874520"/>
            <a:ext cx="9265615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D9770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คำเตือน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เมื่อแรงลมเกิน 250 N/m² (ประมาณ 20 m/s หรือ 72 km/h) ต้องหยุดใช้งานเครื่อง ติดตามพยากรณ์อากาศและหยุดก่อนลมถึงขีดจำกัด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5 · ขั้นตอนการปฏิบัติงาน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5.6 พายุ / ลมแรง</a:t>
            </a:r>
            <a:endParaRPr lang="en-US" sz="2800" dirty="0"/>
          </a:p>
        </p:txBody>
      </p:sp>
      <p:sp>
        <p:nvSpPr>
          <p:cNvPr id="4" name="row-1"/>
          <p:cNvSpPr/>
          <p:nvPr/>
        </p:nvSpPr>
        <p:spPr>
          <a:xfrm>
            <a:off x="548640" y="1417320"/>
            <a:ext cx="11094415" cy="512064"/>
          </a:xfrm>
          <a:prstGeom prst="roundRect">
            <a:avLst>
              <a:gd name="adj" fmla="val 14286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5" name="mark-1"/>
          <p:cNvSpPr/>
          <p:nvPr/>
        </p:nvSpPr>
        <p:spPr>
          <a:xfrm>
            <a:off x="685800" y="1490472"/>
            <a:ext cx="365760" cy="365760"/>
          </a:xfrm>
          <a:prstGeom prst="ellipse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4904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417320"/>
            <a:ext cx="102257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ปล่อยให้สายพานว่างและหยุดสายพาน</a:t>
            </a:r>
            <a:endParaRPr lang="en-US" sz="1700" dirty="0"/>
          </a:p>
        </p:txBody>
      </p:sp>
      <p:sp>
        <p:nvSpPr>
          <p:cNvPr id="8" name="row-2"/>
          <p:cNvSpPr/>
          <p:nvPr/>
        </p:nvSpPr>
        <p:spPr>
          <a:xfrm>
            <a:off x="548640" y="2002536"/>
            <a:ext cx="11094415" cy="512064"/>
          </a:xfrm>
          <a:prstGeom prst="roundRect">
            <a:avLst>
              <a:gd name="adj" fmla="val 14286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9" name="mark-2"/>
          <p:cNvSpPr/>
          <p:nvPr/>
        </p:nvSpPr>
        <p:spPr>
          <a:xfrm>
            <a:off x="685800" y="2075688"/>
            <a:ext cx="365760" cy="365760"/>
          </a:xfrm>
          <a:prstGeom prst="ellipse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20756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002536"/>
            <a:ext cx="102257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จอดเครื่องในตำแหน่งที่มั่นคง โดยคำนึงถึงความสามารถรับน้ำหนักของพื้นและความลาดชัน</a:t>
            </a:r>
            <a:endParaRPr lang="en-US" sz="1700" dirty="0"/>
          </a:p>
        </p:txBody>
      </p:sp>
      <p:sp>
        <p:nvSpPr>
          <p:cNvPr id="12" name="row-3"/>
          <p:cNvSpPr/>
          <p:nvPr/>
        </p:nvSpPr>
        <p:spPr>
          <a:xfrm>
            <a:off x="548640" y="2587752"/>
            <a:ext cx="11094415" cy="512064"/>
          </a:xfrm>
          <a:prstGeom prst="roundRect">
            <a:avLst>
              <a:gd name="adj" fmla="val 14286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3" name="mark-3"/>
          <p:cNvSpPr/>
          <p:nvPr/>
        </p:nvSpPr>
        <p:spPr>
          <a:xfrm>
            <a:off x="685800" y="2660904"/>
            <a:ext cx="365760" cy="365760"/>
          </a:xfrm>
          <a:prstGeom prst="ellipse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26609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2587752"/>
            <a:ext cx="102257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หมุนเครื่องไปตำแหน่งที่ใส่กลไกล็อคการหมุนได้ แล้วล็อค storm locking device</a:t>
            </a:r>
            <a:endParaRPr lang="en-US" sz="1700" dirty="0"/>
          </a:p>
        </p:txBody>
      </p:sp>
      <p:sp>
        <p:nvSpPr>
          <p:cNvPr id="16" name="row-4"/>
          <p:cNvSpPr/>
          <p:nvPr/>
        </p:nvSpPr>
        <p:spPr>
          <a:xfrm>
            <a:off x="548640" y="3172968"/>
            <a:ext cx="11094415" cy="512064"/>
          </a:xfrm>
          <a:prstGeom prst="roundRect">
            <a:avLst>
              <a:gd name="adj" fmla="val 14286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7" name="mark-4"/>
          <p:cNvSpPr/>
          <p:nvPr/>
        </p:nvSpPr>
        <p:spPr>
          <a:xfrm>
            <a:off x="685800" y="3246120"/>
            <a:ext cx="365760" cy="365760"/>
          </a:xfrm>
          <a:prstGeom prst="ellipse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5800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3172968"/>
            <a:ext cx="102257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เมื่อยึดเครื่องแล้ว ออกจากเครื่องทันที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5 · ขั้นตอนการปฏิบัติงาน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5.7 การเคลื่อนย้ายเครื่อง (Traveling)</a:t>
            </a:r>
            <a:endParaRPr lang="en-US" sz="2800" dirty="0"/>
          </a:p>
        </p:txBody>
      </p:sp>
      <p:sp>
        <p:nvSpPr>
          <p:cNvPr id="4" name="row-1"/>
          <p:cNvSpPr/>
          <p:nvPr/>
        </p:nvSpPr>
        <p:spPr>
          <a:xfrm>
            <a:off x="548640" y="1417320"/>
            <a:ext cx="11094415" cy="822960"/>
          </a:xfrm>
          <a:prstGeom prst="roundRect">
            <a:avLst>
              <a:gd name="adj" fmla="val 8889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5" name="mark-1"/>
          <p:cNvSpPr/>
          <p:nvPr/>
        </p:nvSpPr>
        <p:spPr>
          <a:xfrm>
            <a:off x="685800" y="1645920"/>
            <a:ext cx="365760" cy="365760"/>
          </a:xfrm>
          <a:prstGeom prst="ellipse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417320"/>
            <a:ext cx="102257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เตรียมเส้นทาง: ตรวจความสามารถรับน้ำหนักของพื้น ถมและบดอัดพื้นที่ถมใหม่ก่อน ตรวจว่าความลาดชันไม่เกิน 1:10 ไม่มีสิ่งกีดขวาง</a:t>
            </a:r>
            <a:endParaRPr lang="en-US" sz="1700" dirty="0"/>
          </a:p>
        </p:txBody>
      </p:sp>
      <p:sp>
        <p:nvSpPr>
          <p:cNvPr id="8" name="row-2"/>
          <p:cNvSpPr/>
          <p:nvPr/>
        </p:nvSpPr>
        <p:spPr>
          <a:xfrm>
            <a:off x="548640" y="2313432"/>
            <a:ext cx="11094415" cy="512064"/>
          </a:xfrm>
          <a:prstGeom prst="roundRect">
            <a:avLst>
              <a:gd name="adj" fmla="val 14286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9" name="mark-2"/>
          <p:cNvSpPr/>
          <p:nvPr/>
        </p:nvSpPr>
        <p:spPr>
          <a:xfrm>
            <a:off x="685800" y="2386584"/>
            <a:ext cx="365760" cy="365760"/>
          </a:xfrm>
          <a:prstGeom prst="ellipse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23865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313432"/>
            <a:ext cx="102257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เดินเครื่องขณะว่างเปล่า หมุน discharge conveyor ไปตำแหน่งแนวนอนก่อนเดินทาง</a:t>
            </a:r>
            <a:endParaRPr lang="en-US" sz="1700" dirty="0"/>
          </a:p>
        </p:txBody>
      </p:sp>
      <p:sp>
        <p:nvSpPr>
          <p:cNvPr id="12" name="row-3"/>
          <p:cNvSpPr/>
          <p:nvPr/>
        </p:nvSpPr>
        <p:spPr>
          <a:xfrm>
            <a:off x="548640" y="2898648"/>
            <a:ext cx="11094415" cy="512064"/>
          </a:xfrm>
          <a:prstGeom prst="roundRect">
            <a:avLst>
              <a:gd name="adj" fmla="val 14286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3" name="mark-3"/>
          <p:cNvSpPr/>
          <p:nvPr/>
        </p:nvSpPr>
        <p:spPr>
          <a:xfrm>
            <a:off x="685800" y="2971800"/>
            <a:ext cx="365760" cy="365760"/>
          </a:xfrm>
          <a:prstGeom prst="ellipse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2971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2898648"/>
            <a:ext cx="102257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ออกเดินด้วยชุด crawler โดยระวังสิ่งกีดขวางตามเส้นทาง</a:t>
            </a:r>
            <a:endParaRPr lang="en-US" sz="1700" dirty="0"/>
          </a:p>
        </p:txBody>
      </p:sp>
      <p:sp>
        <p:nvSpPr>
          <p:cNvPr id="16" name="row-4"/>
          <p:cNvSpPr/>
          <p:nvPr/>
        </p:nvSpPr>
        <p:spPr>
          <a:xfrm>
            <a:off x="548640" y="3483864"/>
            <a:ext cx="11094415" cy="1133856"/>
          </a:xfrm>
          <a:prstGeom prst="roundRect">
            <a:avLst>
              <a:gd name="adj" fmla="val 6452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7" name="mark-4"/>
          <p:cNvSpPr/>
          <p:nvPr/>
        </p:nvSpPr>
        <p:spPr>
          <a:xfrm>
            <a:off x="685800" y="3867912"/>
            <a:ext cx="365760" cy="365760"/>
          </a:xfrm>
          <a:prstGeom prst="ellipse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5800" y="38679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3483864"/>
            <a:ext cx="10225735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การเลี้ยว: ใช้การเลี้ยวเป็นรูปหลายเหลี่ยม (polygon) รัศมีกว้างที่สุดเท่าที่ทำได้ ล็อค crawler ด้านใน (ห้ามเบรกเป็นศูนย์แล้วหมุนอยู่กับที่) และให้ crawler ด้านนอกเดินหน้า เดินตรงระยะสั้น ทำซ้ำจนได้ทิศทางที่ต้องการ</a:t>
            </a:r>
            <a:endParaRPr lang="en-US" sz="1700" dirty="0"/>
          </a:p>
        </p:txBody>
      </p:sp>
      <p:sp>
        <p:nvSpPr>
          <p:cNvPr id="20" name="row-5"/>
          <p:cNvSpPr/>
          <p:nvPr/>
        </p:nvSpPr>
        <p:spPr>
          <a:xfrm>
            <a:off x="548640" y="4690872"/>
            <a:ext cx="11094415" cy="822960"/>
          </a:xfrm>
          <a:prstGeom prst="roundRect">
            <a:avLst>
              <a:gd name="adj" fmla="val 8889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21" name="mark-5"/>
          <p:cNvSpPr/>
          <p:nvPr/>
        </p:nvSpPr>
        <p:spPr>
          <a:xfrm>
            <a:off x="685800" y="4919472"/>
            <a:ext cx="365760" cy="365760"/>
          </a:xfrm>
          <a:prstGeom prst="ellipse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5800" y="49194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234440" y="4690872"/>
            <a:ext cx="102257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การเลี้ยวขณะขึ้นทางลาด: ให้ crawler ด้านใน หยุด และ crawler ด้านนอกเดินถอยลงทางลาด (ความลาดชันไม่เกิน 1:10)</a:t>
            </a:r>
            <a:endParaRPr lang="en-US" sz="1700" dirty="0"/>
          </a:p>
        </p:txBody>
      </p:sp>
      <p:sp>
        <p:nvSpPr>
          <p:cNvPr id="24" name="row-6"/>
          <p:cNvSpPr/>
          <p:nvPr/>
        </p:nvSpPr>
        <p:spPr>
          <a:xfrm>
            <a:off x="548640" y="5586984"/>
            <a:ext cx="11094415" cy="512064"/>
          </a:xfrm>
          <a:prstGeom prst="roundRect">
            <a:avLst>
              <a:gd name="adj" fmla="val 14286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25" name="mark-6"/>
          <p:cNvSpPr/>
          <p:nvPr/>
        </p:nvSpPr>
        <p:spPr>
          <a:xfrm>
            <a:off x="685800" y="5660136"/>
            <a:ext cx="365760" cy="365760"/>
          </a:xfrm>
          <a:prstGeom prst="ellipse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85800" y="5660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1234440" y="5586984"/>
            <a:ext cx="102257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การหมุนกลับ 180° ด้วย crawler ข้างเดียวทำไม่ได้ ต้องหยุดหลังหมุนประมาณ 20-40 องศา แล้วทำซ้ำ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5 · ขั้นตอนการปฏิบัติงาน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5.7 การเคลื่อนย้ายเครื่อง (Traveling) · ภาพประกอบ</a:t>
            </a:r>
            <a:endParaRPr lang="en-US" sz="2800" dirty="0"/>
          </a:p>
        </p:txBody>
      </p:sp>
      <p:pic>
        <p:nvPicPr>
          <p:cNvPr id="4" name="Image 0" descr="ภาพ: การเลี้ยวแบบหลายเหลี่ยม (คู่มือ Figure 90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50923" y="1371600"/>
            <a:ext cx="4089849" cy="45262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9436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ภาพ: การเลี้ยวแบบหลายเหลี่ยม (คู่มือ Figure 90)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5 · ขั้นตอนการปฏิบัติงาน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5.7 การเคลื่อนย้ายเครื่อง (Traveling)</a:t>
            </a:r>
            <a:endParaRPr lang="en-US" sz="2800" dirty="0"/>
          </a:p>
        </p:txBody>
      </p:sp>
      <p:sp>
        <p:nvSpPr>
          <p:cNvPr id="4" name="callout-card"/>
          <p:cNvSpPr/>
          <p:nvPr/>
        </p:nvSpPr>
        <p:spPr>
          <a:xfrm>
            <a:off x="548640" y="1737360"/>
            <a:ext cx="11094415" cy="1938528"/>
          </a:xfrm>
          <a:prstGeom prst="roundRect">
            <a:avLst>
              <a:gd name="adj" fmla="val 7075"/>
            </a:avLst>
          </a:prstGeom>
          <a:solidFill>
            <a:srgbClr val="FDECEC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5" name="callout-badge"/>
          <p:cNvSpPr/>
          <p:nvPr/>
        </p:nvSpPr>
        <p:spPr>
          <a:xfrm>
            <a:off x="914400" y="2295144"/>
            <a:ext cx="822960" cy="82296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295144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!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2011680" y="1874520"/>
            <a:ext cx="9265615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DC26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อันตราย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เครื่องอาจพลิกคว่ำได้ถ้าความลาดชันเกิน 1:10 หรือพื้นรับน้ำหนักไม่พอ ห้ามเคลื่อนย้ายเครื่องเมื่อไม่แน่ใจเส้นทาง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5 · ขั้นตอนการปฏิบัติงาน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5.8 การทดสอบเดินเครื่องหลังหยุดนาน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หลังหยุดนานเช่นหลังการซ่อมหรือช่วงพัก ต้องทดสอบเดินเครื่องแบบไม่มีโหลดก่อนใช้งานจริง และห้ามใช้ปุ่มฉุกเฉินหรือสวิตช์ belt tracking ยกเว้นเกิดเหตุฉุกเฉิน</a:t>
            </a:r>
            <a:endParaRPr lang="en-US" sz="15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11094415" cy="914400"/>
        </p:xfrm>
        <a:graphic>
          <a:graphicData uri="http://schemas.openxmlformats.org/drawingml/2006/table">
            <a:tbl>
              <a:tblPr/>
              <a:tblGrid>
                <a:gridCol w="2884548"/>
                <a:gridCol w="8209867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ช่วง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รายการตรวจ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108546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ก่อนทดสอบ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 pretension สายพาน, สวิตช์ belt misalignment, สวิตช์ pull-rope, belt rip detection, speed monitor, scraper; หล่อลื่นทุกจุด; ตรวจ safety device ครบและทำงาน; ตรวจสิ่งแปลกปลอมในเครื่อง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241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ระหว่างทดสอบ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ทิศการหมุนของชุดขับ, การทำงานราบรื่น, อุณหภูมิ การสั่นสะเทือน แรงดันอยู่ในเกณฑ์, ระบบควบคุมและจอแสดงผลปกติ, การวิ่งตรงของสายพาน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45935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หลังทดสอบ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ตรวจความตึงสายพาน, ขัน bolt ยึดทุกจุด, ตรวจจุดหล่อลื่น, ตรวจสภาพชิ้นส่วน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5 · ขั้นตอนการปฏิบัติงาน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5.9 กรณีสายพานวิ่งเบี้ยว</a:t>
            </a:r>
            <a:endParaRPr lang="en-US" sz="2800" dirty="0"/>
          </a:p>
        </p:txBody>
      </p:sp>
      <p:sp>
        <p:nvSpPr>
          <p:cNvPr id="4" name="row-1"/>
          <p:cNvSpPr/>
          <p:nvPr/>
        </p:nvSpPr>
        <p:spPr>
          <a:xfrm>
            <a:off x="548640" y="1417320"/>
            <a:ext cx="11094415" cy="512064"/>
          </a:xfrm>
          <a:prstGeom prst="roundRect">
            <a:avLst>
              <a:gd name="adj" fmla="val 14286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5" name="mark-1"/>
          <p:cNvSpPr/>
          <p:nvPr/>
        </p:nvSpPr>
        <p:spPr>
          <a:xfrm>
            <a:off x="685800" y="1490472"/>
            <a:ext cx="365760" cy="365760"/>
          </a:xfrm>
          <a:prstGeom prst="ellipse">
            <a:avLst/>
          </a:prstGeom>
          <a:solidFill>
            <a:srgbClr val="F4A200"/>
          </a:solidFill>
          <a:ln w="12700">
            <a:solidFill>
              <a:srgbClr val="F4A2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34440" y="1417320"/>
            <a:ext cx="102257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ห้ามเพิ่มแรงตึงสายพาน ปรับให้ตึงพอที่ drive pulley ไม่ลื่นตอนสตาร์ทเท่านั้น</a:t>
            </a:r>
            <a:endParaRPr lang="en-US" sz="1700" dirty="0"/>
          </a:p>
        </p:txBody>
      </p:sp>
      <p:sp>
        <p:nvSpPr>
          <p:cNvPr id="7" name="row-2"/>
          <p:cNvSpPr/>
          <p:nvPr/>
        </p:nvSpPr>
        <p:spPr>
          <a:xfrm>
            <a:off x="548640" y="2002536"/>
            <a:ext cx="11094415" cy="512064"/>
          </a:xfrm>
          <a:prstGeom prst="roundRect">
            <a:avLst>
              <a:gd name="adj" fmla="val 14286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8" name="mark-2"/>
          <p:cNvSpPr/>
          <p:nvPr/>
        </p:nvSpPr>
        <p:spPr>
          <a:xfrm>
            <a:off x="685800" y="2075688"/>
            <a:ext cx="365760" cy="365760"/>
          </a:xfrm>
          <a:prstGeom prst="ellipse">
            <a:avLst/>
          </a:prstGeom>
          <a:solidFill>
            <a:srgbClr val="F4A200"/>
          </a:solidFill>
          <a:ln w="12700">
            <a:solidFill>
              <a:srgbClr val="F4A2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34440" y="2002536"/>
            <a:ext cx="102257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ห้ามแก้การเบี้ยวด้วยการปรับ pulley ให้ปรับที่ control idler station ก่อน</a:t>
            </a:r>
            <a:endParaRPr lang="en-US" sz="1700" dirty="0"/>
          </a:p>
        </p:txBody>
      </p:sp>
      <p:sp>
        <p:nvSpPr>
          <p:cNvPr id="10" name="row-3"/>
          <p:cNvSpPr/>
          <p:nvPr/>
        </p:nvSpPr>
        <p:spPr>
          <a:xfrm>
            <a:off x="548640" y="2587752"/>
            <a:ext cx="11094415" cy="822960"/>
          </a:xfrm>
          <a:prstGeom prst="roundRect">
            <a:avLst>
              <a:gd name="adj" fmla="val 8889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1" name="mark-3"/>
          <p:cNvSpPr/>
          <p:nvPr/>
        </p:nvSpPr>
        <p:spPr>
          <a:xfrm>
            <a:off x="685800" y="2816352"/>
            <a:ext cx="365760" cy="365760"/>
          </a:xfrm>
          <a:prstGeom prst="ellipse">
            <a:avLst/>
          </a:prstGeom>
          <a:solidFill>
            <a:srgbClr val="F4A200"/>
          </a:solidFill>
          <a:ln w="12700">
            <a:solidFill>
              <a:srgbClr val="F4A20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234440" y="2587752"/>
            <a:ext cx="102257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ถ้ายังเบี้ยว ให้ปรับ carrying idler ซึ่งมักเป็นตัวที่ 2-3 หลังจุดที่สายพานเริ่มออกนอกแนว: คลายขายึดด้านนอกแล้วเลื่อนไปทางทิศที่สายพานเคลื่อน (ซ้าย/ขวา ตามด้านที่สายพานเบี้ยว)</a:t>
            </a:r>
            <a:endParaRPr lang="en-US" sz="1700" dirty="0"/>
          </a:p>
        </p:txBody>
      </p:sp>
      <p:sp>
        <p:nvSpPr>
          <p:cNvPr id="13" name="row-4"/>
          <p:cNvSpPr/>
          <p:nvPr/>
        </p:nvSpPr>
        <p:spPr>
          <a:xfrm>
            <a:off x="548640" y="3483864"/>
            <a:ext cx="11094415" cy="822960"/>
          </a:xfrm>
          <a:prstGeom prst="roundRect">
            <a:avLst>
              <a:gd name="adj" fmla="val 8889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4" name="mark-4"/>
          <p:cNvSpPr/>
          <p:nvPr/>
        </p:nvSpPr>
        <p:spPr>
          <a:xfrm>
            <a:off x="685800" y="3712464"/>
            <a:ext cx="365760" cy="365760"/>
          </a:xfrm>
          <a:prstGeom prst="ellipse">
            <a:avLst/>
          </a:prstGeom>
          <a:solidFill>
            <a:srgbClr val="F4A200"/>
          </a:solidFill>
          <a:ln w="12700">
            <a:solidFill>
              <a:srgbClr val="F4A20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234440" y="3483864"/>
            <a:ext cx="102257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สาเหตุที่พบบ่อย: โครง pulley idler ไม่ได้แนว, ดินติดด้านเดียว, ป้อนวัสดุไม่ตรงกลางสายพาน, scraper ตั้งขวางการไหลของวัสดุ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vider-circle"/>
          <p:cNvSpPr/>
          <p:nvPr/>
        </p:nvSpPr>
        <p:spPr>
          <a:xfrm>
            <a:off x="7680960" y="1280160"/>
            <a:ext cx="4937760" cy="4937760"/>
          </a:xfrm>
          <a:prstGeom prst="ellipse">
            <a:avLst/>
          </a:prstGeom>
          <a:solidFill>
            <a:srgbClr val="1A5FA8">
              <a:alpha val="45000"/>
            </a:srgbClr>
          </a:solidFill>
          <a:ln w="12700">
            <a:solidFill>
              <a:srgbClr val="1A5FA8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680960" y="265176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</a:t>
            </a:r>
            <a:endParaRPr lang="en-US" sz="9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28600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A2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6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834640"/>
            <a:ext cx="6949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การแก้ปัญหาเบื้องต้น</a:t>
            </a:r>
            <a:endParaRPr lang="en-US" sz="36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6 · การแก้ปัญหาเบื้องต้น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6.1 หลักการเมื่อเครื่องขัดข้อง</a:t>
            </a:r>
            <a:endParaRPr lang="en-US" sz="2800" dirty="0"/>
          </a:p>
        </p:txBody>
      </p:sp>
      <p:sp>
        <p:nvSpPr>
          <p:cNvPr id="4" name="row-1"/>
          <p:cNvSpPr/>
          <p:nvPr/>
        </p:nvSpPr>
        <p:spPr>
          <a:xfrm>
            <a:off x="548640" y="1417320"/>
            <a:ext cx="11094415" cy="512064"/>
          </a:xfrm>
          <a:prstGeom prst="roundRect">
            <a:avLst>
              <a:gd name="adj" fmla="val 14286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5" name="mark-1"/>
          <p:cNvSpPr/>
          <p:nvPr/>
        </p:nvSpPr>
        <p:spPr>
          <a:xfrm>
            <a:off x="685800" y="1490472"/>
            <a:ext cx="365760" cy="365760"/>
          </a:xfrm>
          <a:prstGeom prst="ellipse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4904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417320"/>
            <a:ext cx="102257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หยุดเครื่องตามขั้นตอนและป้องกันการสตาร์ทซ้ำ</a:t>
            </a:r>
            <a:endParaRPr lang="en-US" sz="1700" dirty="0"/>
          </a:p>
        </p:txBody>
      </p:sp>
      <p:sp>
        <p:nvSpPr>
          <p:cNvPr id="8" name="row-2"/>
          <p:cNvSpPr/>
          <p:nvPr/>
        </p:nvSpPr>
        <p:spPr>
          <a:xfrm>
            <a:off x="548640" y="2002536"/>
            <a:ext cx="11094415" cy="512064"/>
          </a:xfrm>
          <a:prstGeom prst="roundRect">
            <a:avLst>
              <a:gd name="adj" fmla="val 14286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9" name="mark-2"/>
          <p:cNvSpPr/>
          <p:nvPr/>
        </p:nvSpPr>
        <p:spPr>
          <a:xfrm>
            <a:off x="685800" y="2075688"/>
            <a:ext cx="365760" cy="365760"/>
          </a:xfrm>
          <a:prstGeom prst="ellipse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20756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002536"/>
            <a:ext cx="102257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ล็อคอุปกรณ์ควบคุมหลัก ถอดกุญแจ หรือแขวนป้ายเตือนที่สวิตช์หลัก</a:t>
            </a:r>
            <a:endParaRPr lang="en-US" sz="1700" dirty="0"/>
          </a:p>
        </p:txBody>
      </p:sp>
      <p:sp>
        <p:nvSpPr>
          <p:cNvPr id="12" name="row-3"/>
          <p:cNvSpPr/>
          <p:nvPr/>
        </p:nvSpPr>
        <p:spPr>
          <a:xfrm>
            <a:off x="548640" y="2587752"/>
            <a:ext cx="11094415" cy="512064"/>
          </a:xfrm>
          <a:prstGeom prst="roundRect">
            <a:avLst>
              <a:gd name="adj" fmla="val 14286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3" name="mark-3"/>
          <p:cNvSpPr/>
          <p:nvPr/>
        </p:nvSpPr>
        <p:spPr>
          <a:xfrm>
            <a:off x="685800" y="2660904"/>
            <a:ext cx="365760" cy="365760"/>
          </a:xfrm>
          <a:prstGeom prst="ellipse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26609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2587752"/>
            <a:ext cx="102257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กั้นบริเวณซ่อมให้ปลอดภัย แจ้งผู้ปฏิบัติงานและมอบหมายหัวหน้างาน</a:t>
            </a:r>
            <a:endParaRPr lang="en-US" sz="1700" dirty="0"/>
          </a:p>
        </p:txBody>
      </p:sp>
      <p:sp>
        <p:nvSpPr>
          <p:cNvPr id="16" name="row-4"/>
          <p:cNvSpPr/>
          <p:nvPr/>
        </p:nvSpPr>
        <p:spPr>
          <a:xfrm>
            <a:off x="548640" y="3172968"/>
            <a:ext cx="11094415" cy="512064"/>
          </a:xfrm>
          <a:prstGeom prst="roundRect">
            <a:avLst>
              <a:gd name="adj" fmla="val 14286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7" name="mark-4"/>
          <p:cNvSpPr/>
          <p:nvPr/>
        </p:nvSpPr>
        <p:spPr>
          <a:xfrm>
            <a:off x="685800" y="3246120"/>
            <a:ext cx="365760" cy="365760"/>
          </a:xfrm>
          <a:prstGeom prst="ellipse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5800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3172968"/>
            <a:ext cx="102257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งานระบบไฮดรอลิกทำโดยผู้ผ่านการอบรมเท่านั้น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6 · การแก้ปัญหาเบื้องต้น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6.2 ตารางอาการ สาเหตุ และการแก้ไข (1/2)</a:t>
            </a:r>
            <a:endParaRPr lang="en-US" sz="2800" dirty="0"/>
          </a:p>
        </p:txBody>
      </p:sp>
      <p:graphicFrame>
        <p:nvGraphicFramePr>
          <p:cNvPr id="4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2884548"/>
                <a:gridCol w="3993989"/>
                <a:gridCol w="4215878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อาการ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สาเหตุที่เป็นไปได้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การแก้ไข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สายพานวิ่งเบี้ยว / skew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ลูกกลิ้งไม่ได้แนว, โหลดข้างเดียว, return pulley ไม่ตั้งฉาก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ปรับ steering roller, ปรับ baffle plate ให้วัสดุตกกลาง, ปรับ return pulley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สายพานลื่น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สายพานยืดจากการสึกหรือใช้งานนาน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ปรับตั้ง ขึงสายพาน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วัสดุเปื้อนสายพาน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main scraper สึก, ระยะ pre-scraper กว้างเกิน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ปรับระยะใบ scraper, เปลี่ยนใบที่สึก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วัสดุเปื้อน return pulley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plough scraper สึกหรือตั้งผิด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ปรับตั้งใหม่ เปลี่ยนใบที่สึก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วัสดุตกที่ขอบสายพานช่วงถ่ายโอน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ยางกันรั่วของ chute สึก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ปรับตั้งหรือเปลี่ยนยางกันรั่ว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เสียงดังผิดปกติในเกียร์/แบริ่ง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แบริ่งหรือเฟืองเสียหายรุนแรง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ให้ช่างเฉพาะทางประเมิน ตรวจการหล่อลื่นและซ่อมตามจำเป็น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เกียร์หรือแบริ่งร้อนจัด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หล่อลื่นไม่พอ แบริ่งเสีย โอเวอร์โหลด ระบายความร้อนไม่ดี สิ่งสกปรก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วัดอุณหภูมิเทียบค่าปกติ หาสาเหตุ ซ่อมหรือเปลี่ยนชิ้นส่วน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ควัน/กลิ่นไหม้ที่เกียร์พร้อมเสียงขูด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labyrinth เสียหาย น้ำมัน/จาระบีร้อนเกิน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เปลี่ยน labyrinth ตรวจการติดตั้ง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6 · การแก้ปัญหาเบื้องต้น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6.2 ตารางอาการ สาเหตุ และการแก้ไข (2/2)</a:t>
            </a:r>
            <a:endParaRPr lang="en-US" sz="2800" dirty="0"/>
          </a:p>
        </p:txBody>
      </p:sp>
      <p:graphicFrame>
        <p:nvGraphicFramePr>
          <p:cNvPr id="4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2884548"/>
                <a:gridCol w="3993989"/>
                <a:gridCol w="4215878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อาการ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สาเหตุที่เป็นไปได้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การแก้ไข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ชุดขับสั่นมาก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ยึดชุดขับไม่แน่น เพลาบิดเบี้ยว แบริ่งเสีย ดินติดจานเบรก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ขัน bolt, เปลี่ยนชิ้นส่วนเสียหาย, ทำความสะอาดเบรก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โครงสายพานสั่น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ดินติด idler หรือ idler ไม่สมดุล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ทำความสะอาด idler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สายพานไม่เดิน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chute อุดตัน (overflow monitor ทำงาน)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เคลียร์ chute และหาสาเหตุ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มอเตอร์โอเวอร์โหลด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ภาระเกิน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หาสาเหตุของภาระเกินและแก้ไข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Crawler drive ตัดขณะทำงาน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ปุ่ม E-stop ถูกกด, เซ็นเซอร์ความร้อนมอเตอร์ทำงาน, โซ่ตึงน้อยไป, โซ่เสียหาย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หาเหตุแล้วปลดปุ่ม รอมอเตอร์เย็น ทำความสะอาดมอเตอร์ ปรับความตึงโซ่ เปลี่ยนข้อโซ่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6 · การแก้ปัญหาเบื้องต้น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6.2 ตารางอาการ สาเหตุ และการแก้ไข</a:t>
            </a:r>
            <a:endParaRPr lang="en-US" sz="2800" dirty="0"/>
          </a:p>
        </p:txBody>
      </p:sp>
      <p:sp>
        <p:nvSpPr>
          <p:cNvPr id="4" name="callout-card"/>
          <p:cNvSpPr/>
          <p:nvPr/>
        </p:nvSpPr>
        <p:spPr>
          <a:xfrm>
            <a:off x="548640" y="1737360"/>
            <a:ext cx="11094415" cy="1938528"/>
          </a:xfrm>
          <a:prstGeom prst="roundRect">
            <a:avLst>
              <a:gd name="adj" fmla="val 7075"/>
            </a:avLst>
          </a:prstGeom>
          <a:solidFill>
            <a:srgbClr val="E8F1FB"/>
          </a:solidFill>
          <a:ln w="19050">
            <a:solidFill>
              <a:srgbClr val="1A5FA8"/>
            </a:solidFill>
            <a:prstDash val="solid"/>
          </a:ln>
        </p:spPr>
      </p:sp>
      <p:sp>
        <p:nvSpPr>
          <p:cNvPr id="5" name="callout-badge"/>
          <p:cNvSpPr/>
          <p:nvPr/>
        </p:nvSpPr>
        <p:spPr>
          <a:xfrm>
            <a:off x="914400" y="2295144"/>
            <a:ext cx="822960" cy="822960"/>
          </a:xfrm>
          <a:prstGeom prst="ellipse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295144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2011680" y="1874520"/>
            <a:ext cx="9265615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A5F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หมายเหตุ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ข้อความ fault ของ PLC ที่แสดงบน HMI ให้จดรหัสและเวลา แล้วแจ้งช่างซ่อมพร้อมแนบรูปหน้าจอ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vider-circle"/>
          <p:cNvSpPr/>
          <p:nvPr/>
        </p:nvSpPr>
        <p:spPr>
          <a:xfrm>
            <a:off x="7680960" y="1280160"/>
            <a:ext cx="4937760" cy="4937760"/>
          </a:xfrm>
          <a:prstGeom prst="ellipse">
            <a:avLst/>
          </a:prstGeom>
          <a:solidFill>
            <a:srgbClr val="1A5FA8">
              <a:alpha val="45000"/>
            </a:srgbClr>
          </a:solidFill>
          <a:ln w="12700">
            <a:solidFill>
              <a:srgbClr val="1A5FA8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680960" y="265176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7</a:t>
            </a:r>
            <a:endParaRPr lang="en-US" sz="9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28600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A2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7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834640"/>
            <a:ext cx="6949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การบันทึกและส่งต่องานในระบบ OB9</a:t>
            </a:r>
            <a:endParaRPr lang="en-US" sz="36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7 · การบันทึกและส่งต่องานในระบบ OB9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การบันทึกและส่งต่องานในระบบ OB9</a:t>
            </a:r>
            <a:endParaRPr lang="en-US" sz="2800" dirty="0"/>
          </a:p>
        </p:txBody>
      </p:sp>
      <p:graphicFrame>
        <p:nvGraphicFramePr>
          <p:cNvPr id="5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3328325"/>
                <a:gridCol w="4881543"/>
                <a:gridCol w="2884548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เหตุการณ์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สิ่งที่ต้องทำ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เมนู OB9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77241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พบความผิดปกติ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แจ้งหัวหน้างาน และเปิดใบแจ้งซ่อม ระบุอาการและตำแหน่ง แนบรูปหรือวิดีโอสั้น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แจ้งซ่อม / Work Order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935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ตรวจประจำวัน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ตอบแบบตรวจเช็คทุกข้อก่อนเริ่มงาน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ตรวจเช็คประจำวัน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45935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ก่อนส่งกะ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ส่งต่องานค้าง ข้อควรระวัง และสถานะเครื่อง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Shift Handover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935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เหตุใกล้พลาด / อุบัติเหตุ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บันทึก Near-miss/Incident ทันที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ความปลอดภัย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77241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หยุดฉุกเฉิน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แจ้งหัวหน้างาน บันทึกเหตุและการแก้ไขก่อนสตาร์ทใหม่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แจ้งซ่อม / Shift Handover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vider-circle"/>
          <p:cNvSpPr/>
          <p:nvPr/>
        </p:nvSpPr>
        <p:spPr>
          <a:xfrm>
            <a:off x="7680960" y="1280160"/>
            <a:ext cx="4937760" cy="4937760"/>
          </a:xfrm>
          <a:prstGeom prst="ellipse">
            <a:avLst/>
          </a:prstGeom>
          <a:solidFill>
            <a:srgbClr val="1A5FA8">
              <a:alpha val="45000"/>
            </a:srgbClr>
          </a:solidFill>
          <a:ln w="12700">
            <a:solidFill>
              <a:srgbClr val="1A5FA8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680960" y="265176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8</a:t>
            </a:r>
            <a:endParaRPr lang="en-US" sz="9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28600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A2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8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834640"/>
            <a:ext cx="6949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ส่วนประกอบหลักของ Spreader</a:t>
            </a:r>
            <a:endParaRPr lang="en-US" sz="36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8 · ส่วนประกอบหลักของ Spreader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8.1 ภาพรวมและหลักการทำงาน (1/2)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Spreader ARs 2400 ออกแบบสำหรับเทและกระจายดินโอเวอร์เบอร์เดน กำลังผลิตตามพิกัด 15,500/18,000 m³/h (วัสดุร่วน) เป็นเครื่องแบบหมุนได้ 2 สายพาน เคลื่อนที่บน crawler ขับด้วยไฟฟ้า 2 ชุด</a:t>
            </a:r>
            <a:endParaRPr lang="en-US" sz="1500" dirty="0"/>
          </a:p>
        </p:txBody>
      </p:sp>
      <p:sp>
        <p:nvSpPr>
          <p:cNvPr id="5" name="row-1"/>
          <p:cNvSpPr/>
          <p:nvPr/>
        </p:nvSpPr>
        <p:spPr>
          <a:xfrm>
            <a:off x="548640" y="2194560"/>
            <a:ext cx="11094415" cy="512064"/>
          </a:xfrm>
          <a:prstGeom prst="roundRect">
            <a:avLst>
              <a:gd name="adj" fmla="val 14286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6" name="mark-1"/>
          <p:cNvSpPr/>
          <p:nvPr/>
        </p:nvSpPr>
        <p:spPr>
          <a:xfrm>
            <a:off x="685800" y="2267712"/>
            <a:ext cx="365760" cy="365760"/>
          </a:xfrm>
          <a:prstGeom prst="ellipse">
            <a:avLst/>
          </a:prstGeom>
          <a:solidFill>
            <a:srgbClr val="F4A200"/>
          </a:solidFill>
          <a:ln w="12700">
            <a:solidFill>
              <a:srgbClr val="F4A2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234440" y="2194560"/>
            <a:ext cx="102257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โครงสร้างล่าง (Substructure): โครงเหล็กพร้อมชุด crawler track</a:t>
            </a:r>
            <a:endParaRPr lang="en-US" sz="1700" dirty="0"/>
          </a:p>
        </p:txBody>
      </p:sp>
      <p:sp>
        <p:nvSpPr>
          <p:cNvPr id="8" name="row-2"/>
          <p:cNvSpPr/>
          <p:nvPr/>
        </p:nvSpPr>
        <p:spPr>
          <a:xfrm>
            <a:off x="548640" y="2779776"/>
            <a:ext cx="11094415" cy="512064"/>
          </a:xfrm>
          <a:prstGeom prst="roundRect">
            <a:avLst>
              <a:gd name="adj" fmla="val 14286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9" name="mark-2"/>
          <p:cNvSpPr/>
          <p:nvPr/>
        </p:nvSpPr>
        <p:spPr>
          <a:xfrm>
            <a:off x="685800" y="2852928"/>
            <a:ext cx="365760" cy="365760"/>
          </a:xfrm>
          <a:prstGeom prst="ellipse">
            <a:avLst/>
          </a:prstGeom>
          <a:solidFill>
            <a:srgbClr val="F4A200"/>
          </a:solidFill>
          <a:ln w="12700">
            <a:solidFill>
              <a:srgbClr val="F4A2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234440" y="2779776"/>
            <a:ext cx="102257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โครงสร้างบนที่หมุนได้ (Superstructure): โครงเหล็กแบบ C-frame พร้อมแท่นและ ballast boom</a:t>
            </a:r>
            <a:endParaRPr lang="en-US" sz="1700" dirty="0"/>
          </a:p>
        </p:txBody>
      </p:sp>
      <p:sp>
        <p:nvSpPr>
          <p:cNvPr id="11" name="row-3"/>
          <p:cNvSpPr/>
          <p:nvPr/>
        </p:nvSpPr>
        <p:spPr>
          <a:xfrm>
            <a:off x="548640" y="3364992"/>
            <a:ext cx="11094415" cy="512064"/>
          </a:xfrm>
          <a:prstGeom prst="roundRect">
            <a:avLst>
              <a:gd name="adj" fmla="val 14286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2" name="mark-3"/>
          <p:cNvSpPr/>
          <p:nvPr/>
        </p:nvSpPr>
        <p:spPr>
          <a:xfrm>
            <a:off x="685800" y="3438144"/>
            <a:ext cx="365760" cy="365760"/>
          </a:xfrm>
          <a:prstGeom prst="ellipse">
            <a:avLst/>
          </a:prstGeom>
          <a:solidFill>
            <a:srgbClr val="F4A200"/>
          </a:solidFill>
          <a:ln w="12700">
            <a:solidFill>
              <a:srgbClr val="F4A2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234440" y="3364992"/>
            <a:ext cx="102257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ระบบสายพาน: Receiving conveyor bridge (C1) และ Discharge conveyor boom (C2)</a:t>
            </a:r>
            <a:endParaRPr lang="en-US" sz="1700" dirty="0"/>
          </a:p>
        </p:txBody>
      </p:sp>
      <p:sp>
        <p:nvSpPr>
          <p:cNvPr id="14" name="row-4"/>
          <p:cNvSpPr/>
          <p:nvPr/>
        </p:nvSpPr>
        <p:spPr>
          <a:xfrm>
            <a:off x="548640" y="3950208"/>
            <a:ext cx="11094415" cy="822960"/>
          </a:xfrm>
          <a:prstGeom prst="roundRect">
            <a:avLst>
              <a:gd name="adj" fmla="val 8889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5" name="mark-4"/>
          <p:cNvSpPr/>
          <p:nvPr/>
        </p:nvSpPr>
        <p:spPr>
          <a:xfrm>
            <a:off x="685800" y="4178808"/>
            <a:ext cx="365760" cy="365760"/>
          </a:xfrm>
          <a:prstGeom prst="ellipse">
            <a:avLst/>
          </a:prstGeom>
          <a:solidFill>
            <a:srgbClr val="F4A200"/>
          </a:solidFill>
          <a:ln w="12700">
            <a:solidFill>
              <a:srgbClr val="F4A2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234440" y="3950208"/>
            <a:ext cx="102257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Superstructure พร้อม discharge boom หมุนสัมพัทธ์กับสะพาน C1 ได้ ±100° ส่วน crawler และโครงสร้างล่างหมุนได้ ±180° เพื่อความคล่องตัวสูงสุด</a:t>
            </a:r>
            <a:endParaRPr lang="en-US" sz="1700" dirty="0"/>
          </a:p>
        </p:txBody>
      </p:sp>
      <p:sp>
        <p:nvSpPr>
          <p:cNvPr id="17" name="row-5"/>
          <p:cNvSpPr/>
          <p:nvPr/>
        </p:nvSpPr>
        <p:spPr>
          <a:xfrm>
            <a:off x="548640" y="4846320"/>
            <a:ext cx="11094415" cy="822960"/>
          </a:xfrm>
          <a:prstGeom prst="roundRect">
            <a:avLst>
              <a:gd name="adj" fmla="val 8889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8" name="mark-5"/>
          <p:cNvSpPr/>
          <p:nvPr/>
        </p:nvSpPr>
        <p:spPr>
          <a:xfrm>
            <a:off x="685800" y="5074920"/>
            <a:ext cx="365760" cy="365760"/>
          </a:xfrm>
          <a:prstGeom prst="ellipse">
            <a:avLst/>
          </a:prstGeom>
          <a:solidFill>
            <a:srgbClr val="F4A200"/>
          </a:solidFill>
          <a:ln w="12700">
            <a:solidFill>
              <a:srgbClr val="F4A20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234440" y="4846320"/>
            <a:ext cx="102257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ที่จุดรับวัสดุ สะพาน C1 รับวัสดุจาก Tripper Car ที่ปลายท้าย ลำเลียงไปกลางเครื่อง แล้วถ่ายผ่านราง (chute) ลง Discharge boom C2 เพื่อเทกอง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8 · ส่วนประกอบหลักของ Spreader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8.1 ภาพรวมและหลักการทำงาน (2/2)</a:t>
            </a:r>
            <a:endParaRPr lang="en-US" sz="2800" dirty="0"/>
          </a:p>
        </p:txBody>
      </p:sp>
      <p:sp>
        <p:nvSpPr>
          <p:cNvPr id="4" name="row-6"/>
          <p:cNvSpPr/>
          <p:nvPr/>
        </p:nvSpPr>
        <p:spPr>
          <a:xfrm>
            <a:off x="548640" y="1417320"/>
            <a:ext cx="11094415" cy="512064"/>
          </a:xfrm>
          <a:prstGeom prst="roundRect">
            <a:avLst>
              <a:gd name="adj" fmla="val 14286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5" name="mark-6"/>
          <p:cNvSpPr/>
          <p:nvPr/>
        </p:nvSpPr>
        <p:spPr>
          <a:xfrm>
            <a:off x="685800" y="1490472"/>
            <a:ext cx="365760" cy="365760"/>
          </a:xfrm>
          <a:prstGeom prst="ellipse">
            <a:avLst/>
          </a:prstGeom>
          <a:solidFill>
            <a:srgbClr val="F4A200"/>
          </a:solidFill>
          <a:ln w="12700">
            <a:solidFill>
              <a:srgbClr val="F4A2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34440" y="1417320"/>
            <a:ext cx="102257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สะพาน C1 แขวนที่กลางเครื่องและวางบน Support carriage ของ Tripper Car</a:t>
            </a:r>
            <a:endParaRPr lang="en-US" sz="1700" dirty="0"/>
          </a:p>
        </p:txBody>
      </p:sp>
      <p:sp>
        <p:nvSpPr>
          <p:cNvPr id="7" name="row-7"/>
          <p:cNvSpPr/>
          <p:nvPr/>
        </p:nvSpPr>
        <p:spPr>
          <a:xfrm>
            <a:off x="548640" y="2002536"/>
            <a:ext cx="11094415" cy="512064"/>
          </a:xfrm>
          <a:prstGeom prst="roundRect">
            <a:avLst>
              <a:gd name="adj" fmla="val 14286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8" name="mark-7"/>
          <p:cNvSpPr/>
          <p:nvPr/>
        </p:nvSpPr>
        <p:spPr>
          <a:xfrm>
            <a:off x="685800" y="2075688"/>
            <a:ext cx="365760" cy="365760"/>
          </a:xfrm>
          <a:prstGeom prst="ellipse">
            <a:avLst/>
          </a:prstGeom>
          <a:solidFill>
            <a:srgbClr val="F4A200"/>
          </a:solidFill>
          <a:ln w="12700">
            <a:solidFill>
              <a:srgbClr val="F4A2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34440" y="2002536"/>
            <a:ext cx="102257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Discharge boom ยก-ลดด้วย hydraulic cylinder ความสูงจุดเท ประมาณ 2.5–19 ม. เหนือพื้น</a:t>
            </a:r>
            <a:endParaRPr lang="en-US" sz="1700" dirty="0"/>
          </a:p>
        </p:txBody>
      </p:sp>
      <p:sp>
        <p:nvSpPr>
          <p:cNvPr id="10" name="row-8"/>
          <p:cNvSpPr/>
          <p:nvPr/>
        </p:nvSpPr>
        <p:spPr>
          <a:xfrm>
            <a:off x="548640" y="2587752"/>
            <a:ext cx="11094415" cy="822960"/>
          </a:xfrm>
          <a:prstGeom prst="roundRect">
            <a:avLst>
              <a:gd name="adj" fmla="val 8889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1" name="mark-8"/>
          <p:cNvSpPr/>
          <p:nvPr/>
        </p:nvSpPr>
        <p:spPr>
          <a:xfrm>
            <a:off x="685800" y="2816352"/>
            <a:ext cx="365760" cy="365760"/>
          </a:xfrm>
          <a:prstGeom prst="ellipse">
            <a:avLst/>
          </a:prstGeom>
          <a:solidFill>
            <a:srgbClr val="F4A200"/>
          </a:solidFill>
          <a:ln w="12700">
            <a:solidFill>
              <a:srgbClr val="F4A20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234440" y="2587752"/>
            <a:ext cx="102257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บ้านไฟฟ้า (E-house) บ้านหล่อลื่นและไฮดรอลิก อยู่บน ballast boom ห้องควบคุม (operator cabin) ติดกับโครงสร้าง tower มองเห็นพื้นที่เทชัดเจน</a:t>
            </a:r>
            <a:endParaRPr lang="en-US" sz="1700" dirty="0"/>
          </a:p>
        </p:txBody>
      </p:sp>
      <p:sp>
        <p:nvSpPr>
          <p:cNvPr id="13" name="row-9"/>
          <p:cNvSpPr/>
          <p:nvPr/>
        </p:nvSpPr>
        <p:spPr>
          <a:xfrm>
            <a:off x="548640" y="3483864"/>
            <a:ext cx="11094415" cy="822960"/>
          </a:xfrm>
          <a:prstGeom prst="roundRect">
            <a:avLst>
              <a:gd name="adj" fmla="val 8889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4" name="mark-9"/>
          <p:cNvSpPr/>
          <p:nvPr/>
        </p:nvSpPr>
        <p:spPr>
          <a:xfrm>
            <a:off x="685800" y="3712464"/>
            <a:ext cx="365760" cy="365760"/>
          </a:xfrm>
          <a:prstGeom prst="ellipse">
            <a:avLst/>
          </a:prstGeom>
          <a:solidFill>
            <a:srgbClr val="F4A200"/>
          </a:solidFill>
          <a:ln w="12700">
            <a:solidFill>
              <a:srgbClr val="F4A20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234440" y="3483864"/>
            <a:ext cx="102257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ไฟฟ้าแรงสูงจ่ายจาก Tripper Car ผ่านสายเคเบิลที่คล้องบน cable saddle ถังน้ำพร้อมปั๊มสำหรับระบบลดฝุ่นอยู่บน Tripper Car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8 · ส่วนประกอบหลักของ Spreader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8.2 ส่วนประกอบหลัก</a:t>
            </a:r>
            <a:endParaRPr lang="en-US" sz="2800" dirty="0"/>
          </a:p>
        </p:txBody>
      </p:sp>
      <p:graphicFrame>
        <p:nvGraphicFramePr>
          <p:cNvPr id="5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2884548"/>
                <a:gridCol w="8209867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ส่วน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หน้าที่/ลักษณะสำคัญ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Crawler track assembly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ระบบเดิน 2 ชุด ประกอบด้วย travel drive, drive tumbler (มี cam), take-up tumbler พร้อมชุดปรับตึงไฮดรอลิก, bogie, crawler track และ support wheel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ระบบหมุน (Slewing mechanism)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ball race bearing, slewing drive (หลายชุด) และ locking device สำหรับล็อคการหมุนขณะซ่อมบำรุง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Tower และห้องควบคุม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โครงสร้าง tower รองรับ suspension ของสะพาน และเป็นที่ตั้งห้อง operator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Conveyor bridge C1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รับวัสดุจาก Tripper Car มี receiving chute, discharge hood, conveyor drive, pulley, idler garland, scraper และ take-up station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Discharge conveyor boom C2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แขวนด้วย boom suspension/guying และ mast ยก-ลดด้วย hydraulic cylinder มี conveyor drive, pulley, idler, scraper และ take-up station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ระบบไฮดรอลิก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hydraulic unit และกระบอกสำหรับยก-ลด boom และปรับตึง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ระบบหล่อลื่น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ระบบหล่อลื่นอัตโนมัติ 2 ชุด (S1, S2) อยู่ในบ้านหล่อลื่น/ไฮดรอลิกบน ballast boom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ระบบดับเพลิง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fire alarm center, smoke detector, manual call point, สัญญาณเสียง พร้อมถังดับเพลิงผงเคมีและ CO₂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รอกยก (Hoist)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รอกบนบ้านหล่อลื่น/ไฮดรอลิก เคลื่อนด้วย crane trolley บน crane rail ใช้ยกถังน้ำมัน/จาระบีและเครื่องมือ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55</a:t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8 · ส่วนประกอบหลักของ Spreader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8.2 ส่วนประกอบหลัก · ภาพประกอบ</a:t>
            </a:r>
            <a:endParaRPr lang="en-US" sz="2800" dirty="0"/>
          </a:p>
        </p:txBody>
      </p:sp>
      <p:pic>
        <p:nvPicPr>
          <p:cNvPr id="4" name="Image 0" descr="ภาพรวม Spreader และส่วนประกอบหลัก (คู่มือผู้ผลิต Figure 3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9978" y="1371600"/>
            <a:ext cx="5227372" cy="4572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989320"/>
            <a:ext cx="541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ภาพรวม Spreader และส่วนประกอบหลัก (คู่มือผู้ผลิต Figure 3)</a:t>
            </a:r>
            <a:endParaRPr lang="en-US" sz="1200" dirty="0"/>
          </a:p>
        </p:txBody>
      </p:sp>
      <p:pic>
        <p:nvPicPr>
          <p:cNvPr id="6" name="Image 1" descr="ตำแหน่งส่วนประกอบหลักของ Spreader (คู่มือผู้ผลิต Figure 4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008" y="1371600"/>
            <a:ext cx="5410048" cy="1954077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233008" y="3371397"/>
            <a:ext cx="541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ตำแหน่งส่วนประกอบหลักของ Spreader (คู่มือผู้ผลิต Figure 4)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56</a:t>
            </a:fld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8 · ส่วนประกอบหลักของ Spreader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8.2 ส่วนประกอบหลัก · ภาพประกอบ</a:t>
            </a:r>
            <a:endParaRPr lang="en-US" sz="2800" dirty="0"/>
          </a:p>
        </p:txBody>
      </p:sp>
      <p:pic>
        <p:nvPicPr>
          <p:cNvPr id="4" name="Image 0" descr="Crawler track assembly (คู่มือผู้ผลิต Figure 5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604" y="1371600"/>
            <a:ext cx="5130120" cy="4572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989320"/>
            <a:ext cx="541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Crawler track assembly (คู่มือผู้ผลิต Figure 5)</a:t>
            </a:r>
            <a:endParaRPr lang="en-US" sz="1200" dirty="0"/>
          </a:p>
        </p:txBody>
      </p:sp>
      <p:pic>
        <p:nvPicPr>
          <p:cNvPr id="6" name="Image 1" descr="ส่วนประกอบ crawler track (คู่มือผู้ผลิต Figure 10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008" y="1371600"/>
            <a:ext cx="5410048" cy="3870079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233008" y="5287399"/>
            <a:ext cx="541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ส่วนประกอบ crawler track (คู่มือผู้ผลิต Figure 10)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57</a:t>
            </a:fld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8 · ส่วนประกอบหลักของ Spreader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8.2 ส่วนประกอบหลัก · ภาพประกอบ</a:t>
            </a:r>
            <a:endParaRPr lang="en-US" sz="2800" dirty="0"/>
          </a:p>
        </p:txBody>
      </p:sp>
      <p:pic>
        <p:nvPicPr>
          <p:cNvPr id="4" name="Image 0" descr="Travel drive (คู่มือผู้ผลิต Figure 11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410048" cy="3294477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4711797"/>
            <a:ext cx="541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Travel drive (คู่มือผู้ผลิต Figure 11)</a:t>
            </a:r>
            <a:endParaRPr lang="en-US" sz="1200" dirty="0"/>
          </a:p>
        </p:txBody>
      </p:sp>
      <p:pic>
        <p:nvPicPr>
          <p:cNvPr id="6" name="Image 1" descr="Drive tumbler (คู่มือผู้ผลิต Figure 12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3908" y="1371600"/>
            <a:ext cx="4208247" cy="45720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233008" y="5989320"/>
            <a:ext cx="541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Drive tumbler (คู่มือผู้ผลิต Figure 12)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58</a:t>
            </a:fld>
            <a:endParaRPr 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8 · ส่วนประกอบหลักของ Spreader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8.2 ส่วนประกอบหลัก · ภาพประกอบ</a:t>
            </a:r>
            <a:endParaRPr lang="en-US" sz="2800" dirty="0"/>
          </a:p>
        </p:txBody>
      </p:sp>
      <p:pic>
        <p:nvPicPr>
          <p:cNvPr id="4" name="Image 0" descr="Crawler track (แผ่นโซ่) (คู่มือผู้ผลิต Figure 17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8868" y="1371600"/>
            <a:ext cx="5209592" cy="4572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989320"/>
            <a:ext cx="541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Crawler track (แผ่นโซ่) (คู่มือผู้ผลิต Figure 17)</a:t>
            </a:r>
            <a:endParaRPr lang="en-US" sz="1200" dirty="0"/>
          </a:p>
        </p:txBody>
      </p:sp>
      <p:pic>
        <p:nvPicPr>
          <p:cNvPr id="6" name="Image 1" descr="Support wheel (คู่มือผู้ผลิต Figure 18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008" y="1371600"/>
            <a:ext cx="5410048" cy="4305463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233008" y="5722783"/>
            <a:ext cx="541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Support wheel (คู่มือผู้ผลิต Figure 18)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59</a:t>
            </a:fld>
            <a:endParaRPr 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8 · ส่วนประกอบหลักของ Spreader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8.2 ส่วนประกอบหลัก · ภาพประกอบ</a:t>
            </a:r>
            <a:endParaRPr lang="en-US" sz="2800" dirty="0"/>
          </a:p>
        </p:txBody>
      </p:sp>
      <p:pic>
        <p:nvPicPr>
          <p:cNvPr id="4" name="Image 0" descr="ระบบหมุน (Slewing mechanism) (คู่มือผู้ผลิต Figure 19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410048" cy="440071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818030"/>
            <a:ext cx="541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ระบบหมุน (Slewing mechanism) (คู่มือผู้ผลิต Figure 19)</a:t>
            </a:r>
            <a:endParaRPr lang="en-US" sz="1200" dirty="0"/>
          </a:p>
        </p:txBody>
      </p:sp>
      <p:pic>
        <p:nvPicPr>
          <p:cNvPr id="6" name="Image 1" descr="Ball race bearing (คู่มือผู้ผลิต Figure 20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008" y="1371600"/>
            <a:ext cx="5410048" cy="412808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233008" y="5545404"/>
            <a:ext cx="541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Ball race bearing (คู่มือผู้ผลิต Figure 20)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60</a:t>
            </a:fld>
            <a:endParaRPr 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8 · ส่วนประกอบหลักของ Spreader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8.2 ส่วนประกอบหลัก · ภาพประกอบ</a:t>
            </a:r>
            <a:endParaRPr lang="en-US" sz="2800" dirty="0"/>
          </a:p>
        </p:txBody>
      </p:sp>
      <p:pic>
        <p:nvPicPr>
          <p:cNvPr id="4" name="Image 0" descr="Slewing drive (คู่มือผู้ผลิต Figure 21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410048" cy="4295739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713059"/>
            <a:ext cx="541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Slewing drive (คู่มือผู้ผลิต Figure 21)</a:t>
            </a:r>
            <a:endParaRPr lang="en-US" sz="1200" dirty="0"/>
          </a:p>
        </p:txBody>
      </p:sp>
      <p:pic>
        <p:nvPicPr>
          <p:cNvPr id="6" name="Image 1" descr="Locking device ของระบบหมุน (คู่มือผู้ผลิต Figure 22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5479" y="1371600"/>
            <a:ext cx="4485105" cy="45720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233008" y="5989320"/>
            <a:ext cx="541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Locking device ของระบบหมุน (คู่มือผู้ผลิต Figure 22)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61</a:t>
            </a:fld>
            <a:endParaRPr lang="en-US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8 · ส่วนประกอบหลักของ Spreader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8.2 ส่วนประกอบหลัก · ภาพประกอบ</a:t>
            </a:r>
            <a:endParaRPr lang="en-US" sz="2800" dirty="0"/>
          </a:p>
        </p:txBody>
      </p:sp>
      <p:pic>
        <p:nvPicPr>
          <p:cNvPr id="4" name="Image 0" descr="Tower (คู่มือผู้ผลิต Figure 23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9059" y="1371600"/>
            <a:ext cx="4749209" cy="4572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989320"/>
            <a:ext cx="541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Tower (คู่มือผู้ผลิต Figure 23)</a:t>
            </a:r>
            <a:endParaRPr lang="en-US" sz="1200" dirty="0"/>
          </a:p>
        </p:txBody>
      </p:sp>
      <p:pic>
        <p:nvPicPr>
          <p:cNvPr id="6" name="Image 1" descr="ห้องควบคุม (Operator cabin) (คู่มือผู้ผลิต Figure 24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9704" y="1371600"/>
            <a:ext cx="4296655" cy="45720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233008" y="5989320"/>
            <a:ext cx="541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ห้องควบคุม (Operator cabin) (คู่มือผู้ผลิต Figure 24)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62</a:t>
            </a:fld>
            <a:endParaRPr 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8 · ส่วนประกอบหลักของ Spreader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8.2 ส่วนประกอบหลัก · ภาพประกอบ</a:t>
            </a:r>
            <a:endParaRPr lang="en-US" sz="2800" dirty="0"/>
          </a:p>
        </p:txBody>
      </p:sp>
      <p:pic>
        <p:nvPicPr>
          <p:cNvPr id="4" name="Image 0" descr="Conveyor bridge C1 (คู่มือผู้ผลิต Figure 25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410048" cy="265657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4073896"/>
            <a:ext cx="541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Conveyor bridge C1 (คู่มือผู้ผลิต Figure 25)</a:t>
            </a:r>
            <a:endParaRPr lang="en-US" sz="1200" dirty="0"/>
          </a:p>
        </p:txBody>
      </p:sp>
      <p:pic>
        <p:nvPicPr>
          <p:cNvPr id="6" name="Image 1" descr="Bridge suspension (คู่มือผู้ผลิต Figure 27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008" y="1371600"/>
            <a:ext cx="5410048" cy="3811257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233008" y="5228577"/>
            <a:ext cx="541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Bridge suspension (คู่มือผู้ผลิต Figure 27)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63</a:t>
            </a:fld>
            <a:endParaRPr lang="en-US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8 · ส่วนประกอบหลักของ Spreader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8.2 ส่วนประกอบหลัก · ภาพประกอบ</a:t>
            </a:r>
            <a:endParaRPr lang="en-US" sz="2800" dirty="0"/>
          </a:p>
        </p:txBody>
      </p:sp>
      <p:pic>
        <p:nvPicPr>
          <p:cNvPr id="4" name="Image 0" descr="Receiving chute (คู่มือผู้ผลิต Figure 30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877" y="1371600"/>
            <a:ext cx="4669573" cy="4572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989320"/>
            <a:ext cx="541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Receiving chute (คู่มือผู้ผลิต Figure 30)</a:t>
            </a:r>
            <a:endParaRPr lang="en-US" sz="1200" dirty="0"/>
          </a:p>
        </p:txBody>
      </p:sp>
      <p:pic>
        <p:nvPicPr>
          <p:cNvPr id="6" name="Image 1" descr="Discharge hood (คู่มือผู้ผลิต Figure 31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1735" y="1371600"/>
            <a:ext cx="4052592" cy="45720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233008" y="5989320"/>
            <a:ext cx="541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Discharge hood (คู่มือผู้ผลิต Figure 31)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64</a:t>
            </a:fld>
            <a:endParaRPr lang="en-U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8 · ส่วนประกอบหลักของ Spreader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8.2 ส่วนประกอบหลัก · ภาพประกอบ</a:t>
            </a:r>
            <a:endParaRPr lang="en-US" sz="2800" dirty="0"/>
          </a:p>
        </p:txBody>
      </p:sp>
      <p:pic>
        <p:nvPicPr>
          <p:cNvPr id="4" name="Image 0" descr="Pulley ของ C1 (คู่มือผู้ผลิต Figure 33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065" y="1371600"/>
            <a:ext cx="4339197" cy="4572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989320"/>
            <a:ext cx="541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Pulley ของ C1 (คู่มือผู้ผลิต Figure 33)</a:t>
            </a:r>
            <a:endParaRPr lang="en-US" sz="1200" dirty="0"/>
          </a:p>
        </p:txBody>
      </p:sp>
      <p:pic>
        <p:nvPicPr>
          <p:cNvPr id="6" name="Image 1" descr="Idler frame และ garland ของ C1 (คู่มือผู้ผลิต Figure 37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3366" y="1371600"/>
            <a:ext cx="5289331" cy="45720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233008" y="5989320"/>
            <a:ext cx="541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Idler frame และ garland ของ C1 (คู่มือผู้ผลิต Figure 37)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65</a:t>
            </a:fld>
            <a:endParaRPr lang="en-US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8 · ส่วนประกอบหลักของ Spreader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8.2 ส่วนประกอบหลัก · ภาพประกอบ</a:t>
            </a:r>
            <a:endParaRPr lang="en-US" sz="2800" dirty="0"/>
          </a:p>
        </p:txBody>
      </p:sp>
      <p:pic>
        <p:nvPicPr>
          <p:cNvPr id="4" name="Image 0" descr="Scraper ของ C1 (คู่มือผู้ผลิต Figure 42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410048" cy="372243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139756"/>
            <a:ext cx="541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Scraper ของ C1 (คู่มือผู้ผลิต Figure 42)</a:t>
            </a:r>
            <a:endParaRPr lang="en-US" sz="1200" dirty="0"/>
          </a:p>
        </p:txBody>
      </p:sp>
      <p:pic>
        <p:nvPicPr>
          <p:cNvPr id="6" name="Image 1" descr="Take-up station ของ C1 (คู่มือผู้ผลิต Figure 46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008" y="1371600"/>
            <a:ext cx="5410048" cy="3690137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233008" y="5107457"/>
            <a:ext cx="541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Take-up station ของ C1 (คู่มือผู้ผลิต Figure 46)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66</a:t>
            </a:fld>
            <a:endParaRPr lang="en-US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8 · ส่วนประกอบหลักของ Spreader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8.2 ส่วนประกอบหลัก · ภาพประกอบ</a:t>
            </a:r>
            <a:endParaRPr lang="en-US" sz="2800" dirty="0"/>
          </a:p>
        </p:txBody>
      </p:sp>
      <p:pic>
        <p:nvPicPr>
          <p:cNvPr id="4" name="Image 0" descr="Discharge conveyor boom C2 (คู่มือผู้ผลิต Figure 47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410048" cy="298318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4400506"/>
            <a:ext cx="541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Discharge conveyor boom C2 (คู่มือผู้ผลิต Figure 47)</a:t>
            </a:r>
            <a:endParaRPr lang="en-US" sz="1200" dirty="0"/>
          </a:p>
        </p:txBody>
      </p:sp>
      <p:pic>
        <p:nvPicPr>
          <p:cNvPr id="6" name="Image 1" descr="Bearing ของ discharge boom (คู่มือผู้ผลิต Figure 48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008" y="1371600"/>
            <a:ext cx="5410048" cy="3318701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233008" y="4736021"/>
            <a:ext cx="541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Bearing ของ discharge boom (คู่มือผู้ผลิต Figure 48)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67</a:t>
            </a:fld>
            <a:endParaRPr lang="en-US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8 · ส่วนประกอบหลักของ Spreader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8.2 ส่วนประกอบหลัก · ภาพประกอบ</a:t>
            </a:r>
            <a:endParaRPr lang="en-US" sz="2800" dirty="0"/>
          </a:p>
        </p:txBody>
      </p:sp>
      <p:pic>
        <p:nvPicPr>
          <p:cNvPr id="4" name="Image 0" descr="ระบบไฮดรอลิก (คู่มือผู้ผลิต Figure 55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410048" cy="274130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4158626"/>
            <a:ext cx="541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ระบบไฮดรอลิก (คู่มือผู้ผลิต Figure 55)</a:t>
            </a:r>
            <a:endParaRPr lang="en-US" sz="1200" dirty="0"/>
          </a:p>
        </p:txBody>
      </p:sp>
      <p:pic>
        <p:nvPicPr>
          <p:cNvPr id="6" name="Image 1" descr="Hydraulic unit (คู่มือผู้ผลิต Figure 56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5542" y="1371600"/>
            <a:ext cx="4484978" cy="45720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233008" y="5989320"/>
            <a:ext cx="541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Hydraulic unit (คู่มือผู้ผลิต Figure 56)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68</a:t>
            </a:fld>
            <a:endParaRPr lang="en-US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8 · ส่วนประกอบหลักของ Spreader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8.2 ส่วนประกอบหลัก · ภาพประกอบ</a:t>
            </a:r>
            <a:endParaRPr lang="en-US" sz="2800" dirty="0"/>
          </a:p>
        </p:txBody>
      </p:sp>
      <p:pic>
        <p:nvPicPr>
          <p:cNvPr id="4" name="Image 0" descr="Hydraulic cylinder (คู่มือผู้ผลิต Figure 57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08849" y="1371600"/>
            <a:ext cx="4573997" cy="45262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9436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Hydraulic cylinder (คู่มือผู้ผลิต Figure 57)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69</a:t>
            </a:fld>
            <a:endParaRPr lang="en-US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8 · ส่วนประกอบหลักของ Spreader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8.3 ระบบพ่นน้ำลดฝุ่น (Dust reduction)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ใช้การพ่นน้ำที่จุดถ่ายวัสดุทุกจุด ประกอบด้วยถังน้ำ 10,000 ลิตรบน Tripper Car, ชุดปั๊ม, หัวฉีด, วาล์ว และท่อ ผู้ควบคุมเปิด/ปิดแยกแต่ละระบบจากห้องควบคุม</a:t>
            </a:r>
            <a:endParaRPr lang="en-US" sz="1500" dirty="0"/>
          </a:p>
        </p:txBody>
      </p:sp>
      <p:graphicFrame>
        <p:nvGraphicFramePr>
          <p:cNvPr id="7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11094415" cy="914400"/>
        </p:xfrm>
        <a:graphic>
          <a:graphicData uri="http://schemas.openxmlformats.org/drawingml/2006/table">
            <a:tbl>
              <a:tblPr/>
              <a:tblGrid>
                <a:gridCol w="1996995"/>
                <a:gridCol w="90974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ระบบ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ตำแหน่ง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935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DR1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Receiving chute ของสายพาน C1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241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DR2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จุดถ่ายระหว่าง C1 และ C2 (ปากทางเข้า discharge hood ของ C1 และ receiving chute ของ C2)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45935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DR3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Discharge chute ของสายพาน C2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70</a:t>
            </a:fld>
            <a:endParaRPr lang="en-US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8 · ส่วนประกอบหลักของ Spreader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8.3 ระบบพ่นน้ำลดฝุ่น (Dust reduction)</a:t>
            </a:r>
            <a:endParaRPr lang="en-US" sz="2800" dirty="0"/>
          </a:p>
        </p:txBody>
      </p:sp>
      <p:sp>
        <p:nvSpPr>
          <p:cNvPr id="4" name="callout-card"/>
          <p:cNvSpPr/>
          <p:nvPr/>
        </p:nvSpPr>
        <p:spPr>
          <a:xfrm>
            <a:off x="548640" y="1737360"/>
            <a:ext cx="11094415" cy="2359152"/>
          </a:xfrm>
          <a:prstGeom prst="roundRect">
            <a:avLst>
              <a:gd name="adj" fmla="val 5814"/>
            </a:avLst>
          </a:prstGeom>
          <a:solidFill>
            <a:srgbClr val="E8F1FB"/>
          </a:solidFill>
          <a:ln w="19050">
            <a:solidFill>
              <a:srgbClr val="1A5FA8"/>
            </a:solidFill>
            <a:prstDash val="solid"/>
          </a:ln>
        </p:spPr>
      </p:sp>
      <p:sp>
        <p:nvSpPr>
          <p:cNvPr id="5" name="callout-badge"/>
          <p:cNvSpPr/>
          <p:nvPr/>
        </p:nvSpPr>
        <p:spPr>
          <a:xfrm>
            <a:off x="914400" y="2505456"/>
            <a:ext cx="822960" cy="822960"/>
          </a:xfrm>
          <a:prstGeom prst="ellipse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505456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2011680" y="1874520"/>
            <a:ext cx="9265615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A5F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หมายเหตุ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ถังน้ำอยู่บน Tripper Car จึงมีจุดต่อท่อที่แยกออกจากกันได้ระหว่าง Spreader และ Tripper Car พร้อมวาล์วปิดทั้งสองฝั่ง ต้องปิดวาล์วและปลดข้อต่ออย่างถูกวิธีก่อนแยกเครื่อง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71</a:t>
            </a:fld>
            <a:endParaRPr lang="en-US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8 · ส่วนประกอบหลักของ Spreader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8.3 ระบบพ่นน้ำลดฝุ่น (Dust reduction) · ภาพประกอบ</a:t>
            </a:r>
            <a:endParaRPr lang="en-US" sz="2800" dirty="0"/>
          </a:p>
        </p:txBody>
      </p:sp>
      <p:pic>
        <p:nvPicPr>
          <p:cNvPr id="4" name="Image 0" descr="ระบบลดฝุ่น (DR1–DR3) (คู่มือผู้ผลิต Figure 62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410048" cy="218498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3602302"/>
            <a:ext cx="541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ระบบลดฝุ่น (DR1–DR3) (คู่มือผู้ผลิต Figure 62)</a:t>
            </a:r>
            <a:endParaRPr lang="en-US" sz="1200" dirty="0"/>
          </a:p>
        </p:txBody>
      </p:sp>
      <p:pic>
        <p:nvPicPr>
          <p:cNvPr id="6" name="Image 1" descr="รอกยก (Hoist) (คู่มือผู้ผลิต Figure 63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2017" y="1371600"/>
            <a:ext cx="4472029" cy="45720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233008" y="5989320"/>
            <a:ext cx="541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รอกยก (Hoist) (คู่มือผู้ผลิต Figure 63)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72</a:t>
            </a:fld>
            <a:endParaRPr lang="en-US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8 · ส่วนประกอบหลักของ Spreader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8.4 ระบบดับเพลิงและการป้องกันอัคคีภัย</a:t>
            </a:r>
            <a:endParaRPr lang="en-US" sz="2800" dirty="0"/>
          </a:p>
        </p:txBody>
      </p:sp>
      <p:sp>
        <p:nvSpPr>
          <p:cNvPr id="4" name="row-1"/>
          <p:cNvSpPr/>
          <p:nvPr/>
        </p:nvSpPr>
        <p:spPr>
          <a:xfrm>
            <a:off x="548640" y="1417320"/>
            <a:ext cx="11094415" cy="822960"/>
          </a:xfrm>
          <a:prstGeom prst="roundRect">
            <a:avLst>
              <a:gd name="adj" fmla="val 8889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5" name="mark-1"/>
          <p:cNvSpPr/>
          <p:nvPr/>
        </p:nvSpPr>
        <p:spPr>
          <a:xfrm>
            <a:off x="685800" y="1645920"/>
            <a:ext cx="365760" cy="365760"/>
          </a:xfrm>
          <a:prstGeom prst="ellipse">
            <a:avLst/>
          </a:prstGeom>
          <a:solidFill>
            <a:srgbClr val="F4A200"/>
          </a:solidFill>
          <a:ln w="12700">
            <a:solidFill>
              <a:srgbClr val="F4A2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34440" y="1417320"/>
            <a:ext cx="102257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ตรวจถังดับเพลิงทุกสัปดาห์ว่าอยู่ที่เดิม พร้อมใช้งาน ไม่มีสิ่งกีดขวาง ถังที่ใช้แล้วต้องเปลี่ยนทันที และแจ้งหัวหน้างานทุกครั้งที่ใช้</a:t>
            </a:r>
            <a:endParaRPr lang="en-US" sz="1700" dirty="0"/>
          </a:p>
        </p:txBody>
      </p:sp>
      <p:sp>
        <p:nvSpPr>
          <p:cNvPr id="7" name="row-2"/>
          <p:cNvSpPr/>
          <p:nvPr/>
        </p:nvSpPr>
        <p:spPr>
          <a:xfrm>
            <a:off x="548640" y="2313432"/>
            <a:ext cx="11094415" cy="512064"/>
          </a:xfrm>
          <a:prstGeom prst="roundRect">
            <a:avLst>
              <a:gd name="adj" fmla="val 14286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8" name="mark-2"/>
          <p:cNvSpPr/>
          <p:nvPr/>
        </p:nvSpPr>
        <p:spPr>
          <a:xfrm>
            <a:off x="685800" y="2386584"/>
            <a:ext cx="365760" cy="365760"/>
          </a:xfrm>
          <a:prstGeom prst="ellipse">
            <a:avLst/>
          </a:prstGeom>
          <a:solidFill>
            <a:srgbClr val="F4A200"/>
          </a:solidFill>
          <a:ln w="12700">
            <a:solidFill>
              <a:srgbClr val="F4A2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34440" y="2313432"/>
            <a:ext cx="102257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ห้ามใช้เบนซินหรือสารไวไฟล้างทำความสะอาด ผ้าเปื้อนน้ำมัน/จาระบีทิ้งในถังปิดที่จัดไว้</a:t>
            </a:r>
            <a:endParaRPr lang="en-US" sz="1700" dirty="0"/>
          </a:p>
        </p:txBody>
      </p:sp>
      <p:sp>
        <p:nvSpPr>
          <p:cNvPr id="10" name="row-3"/>
          <p:cNvSpPr/>
          <p:nvPr/>
        </p:nvSpPr>
        <p:spPr>
          <a:xfrm>
            <a:off x="548640" y="2898648"/>
            <a:ext cx="11094415" cy="822960"/>
          </a:xfrm>
          <a:prstGeom prst="roundRect">
            <a:avLst>
              <a:gd name="adj" fmla="val 8889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1" name="mark-3"/>
          <p:cNvSpPr/>
          <p:nvPr/>
        </p:nvSpPr>
        <p:spPr>
          <a:xfrm>
            <a:off x="685800" y="3127248"/>
            <a:ext cx="365760" cy="365760"/>
          </a:xfrm>
          <a:prstGeom prst="ellipse">
            <a:avLst/>
          </a:prstGeom>
          <a:solidFill>
            <a:srgbClr val="F4A200"/>
          </a:solidFill>
          <a:ln w="12700">
            <a:solidFill>
              <a:srgbClr val="F4A20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234440" y="2898648"/>
            <a:ext cx="102257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งานที่เกิดประกายไฟต้องได้รับอนุญาตงาน “hot work” หลังผู้เชี่ยวชาญตรวจวัดพื้นที่แล้ว ห้ามสูบบุหรี่ใกล้จุดเสี่ยง</a:t>
            </a:r>
            <a:endParaRPr lang="en-US" sz="1700" dirty="0"/>
          </a:p>
        </p:txBody>
      </p:sp>
      <p:sp>
        <p:nvSpPr>
          <p:cNvPr id="13" name="row-4"/>
          <p:cNvSpPr/>
          <p:nvPr/>
        </p:nvSpPr>
        <p:spPr>
          <a:xfrm>
            <a:off x="548640" y="3794760"/>
            <a:ext cx="11094415" cy="512064"/>
          </a:xfrm>
          <a:prstGeom prst="roundRect">
            <a:avLst>
              <a:gd name="adj" fmla="val 14286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4" name="mark-4"/>
          <p:cNvSpPr/>
          <p:nvPr/>
        </p:nvSpPr>
        <p:spPr>
          <a:xfrm>
            <a:off x="685800" y="3867912"/>
            <a:ext cx="365760" cy="365760"/>
          </a:xfrm>
          <a:prstGeom prst="ellipse">
            <a:avLst/>
          </a:prstGeom>
          <a:solidFill>
            <a:srgbClr val="F4A200"/>
          </a:solidFill>
          <a:ln w="12700">
            <a:solidFill>
              <a:srgbClr val="F4A20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234440" y="3794760"/>
            <a:ext cx="102257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เกียร์ ลูกปืน มอเตอร์ pulley ที่ร้อนระหว่างเดินเครื่องต้องเฝ้าระวังเป็นพิเศษ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73</a:t>
            </a:fld>
            <a:endParaRPr lang="en-US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vider-circle"/>
          <p:cNvSpPr/>
          <p:nvPr/>
        </p:nvSpPr>
        <p:spPr>
          <a:xfrm>
            <a:off x="7680960" y="1280160"/>
            <a:ext cx="4937760" cy="4937760"/>
          </a:xfrm>
          <a:prstGeom prst="ellipse">
            <a:avLst/>
          </a:prstGeom>
          <a:solidFill>
            <a:srgbClr val="1A5FA8">
              <a:alpha val="45000"/>
            </a:srgbClr>
          </a:solidFill>
          <a:ln w="12700">
            <a:solidFill>
              <a:srgbClr val="1A5FA8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680960" y="265176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9</a:t>
            </a:r>
            <a:endParaRPr lang="en-US" sz="9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28600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A2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9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834640"/>
            <a:ext cx="6949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Tripper Car Ü2200 สำหรับผู้ควบคุมเครื่อง</a:t>
            </a:r>
            <a:endParaRPr lang="en-US" sz="36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9 · Tripper Car Ü2200 สำหรับผู้ควบคุมเครื่อง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9.1 หน้าที่และข้อมูลเครื่อง (1/2)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Tripper Car วิ่งบนรางของ bench conveyor ที่เลื่อนย้ายได้ ถ่ายวัสดุจากสายพานหลักเข้า receiving chute ของ Spreader โดยสร้าง belt loop เหนือสะพาน C1 ด้วย pulley 3 ตัว (discharge/return, bend, take-up) ปรับทิศทางวัสดุด้วย baffle plate ที่ discharge point ห้องควบคุมอยู่บน Spreader ควบคุมทั้งหมดจากห้องนั้นในการทำงานปกติ</a:t>
            </a:r>
            <a:endParaRPr lang="en-US" sz="1500" dirty="0"/>
          </a:p>
        </p:txBody>
      </p:sp>
      <p:graphicFrame>
        <p:nvGraphicFramePr>
          <p:cNvPr id="7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77440"/>
          <a:ext cx="11094415" cy="914400"/>
        </p:xfrm>
        <a:graphic>
          <a:graphicData uri="http://schemas.openxmlformats.org/drawingml/2006/table">
            <a:tbl>
              <a:tblPr/>
              <a:tblGrid>
                <a:gridCol w="5103431"/>
                <a:gridCol w="5990984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หัวข้อ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ค่า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กำลังผลิตตามพิกัด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10,000 t/h (4,700 m³/h ร่วน) / ผลผลิตจริง 2,200 bank m³/h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ความกว้างสายพาน (ตามเอกสาร Training)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2,200 มม. (หัวข้อ 10.4.3 ของคู่มือระบุ 1,800 มม. ให้ยืนยันกับผู้ผลิต)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ความเร็วเดิน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สูงสุด 8 m/min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Track gauge / ราง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4,300 มม. (±15 มม.) / UIC 60 รัศมีเลี้ยวต่ำสุด 200 ม.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จำนวนล้อ (ทั้งหมด/ขับเคลื่อน)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70 / 44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น้ำหนัก (service / operational)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ประมาณ 323.6 t / 387.3 t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ความดันพื้นเฉลี่ย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80 kN/m² (รวม bench conveyor)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ความลาดขณะทำงาน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ตามยาว 1:20 ตามขวาง 1:40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ลมขณะทำงาน / นอกเวลางาน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20 m/s (250 N/m²) / 35.8 m/s (800 N/m²)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75</a:t>
            </a:fld>
            <a:endParaRPr lang="en-US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9 · Tripper Car Ü2200 สำหรับผู้ควบคุมเครื่อง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9.1 หน้าที่และข้อมูลเครื่อง (2/2)</a:t>
            </a:r>
            <a:endParaRPr lang="en-US" sz="2800" dirty="0"/>
          </a:p>
        </p:txBody>
      </p:sp>
      <p:graphicFrame>
        <p:nvGraphicFramePr>
          <p:cNvPr id="7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5103431"/>
                <a:gridCol w="5990984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หัวข้อ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ค่า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อุณหภูมิแวดล้อม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+5 ถึง +50 °C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ระยะ tail ถึง discharge centre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ประมาณ 60.4 ม. (ความยาวถึงปลายแท่น 65.8 ม.)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ระยะเดินของ Support car เทียบ Tripper Car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ประมาณ ±2 ม. (ชดเชยด้วย receiving chute ที่ยาวของ Spreader)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ไฟฟ้า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380 V / 50 Hz (จ่ายจากหม้อแปลงบน Spreader)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76</a:t>
            </a:fld>
            <a:endParaRPr lang="en-US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9 · Tripper Car Ü2200 สำหรับผู้ควบคุมเครื่อง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9.1 หน้าที่และข้อมูลเครื่อง · ภาพประกอบ</a:t>
            </a:r>
            <a:endParaRPr lang="en-US" sz="2800" dirty="0"/>
          </a:p>
        </p:txBody>
      </p:sp>
      <p:pic>
        <p:nvPicPr>
          <p:cNvPr id="4" name="Image 0" descr="ภาพ: ภาพรวม Tripper Car Ü2200 และชิ้นส่วนหลัก (คู่มือผู้ผลิต Figure 3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61109" y="1371600"/>
            <a:ext cx="7469477" cy="45262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9436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ภาพ: ภาพรวม Tripper Car Ü2200 และชิ้นส่วนหลัก (คู่มือผู้ผลิต Figure 3)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77</a:t>
            </a:fld>
            <a:endParaRPr lang="en-US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9 · Tripper Car Ü2200 สำหรับผู้ควบคุมเครื่อง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9.2 ส่วนประกอบหลักของ Tripper Car (1/2)</a:t>
            </a:r>
            <a:endParaRPr lang="en-US" sz="2800" dirty="0"/>
          </a:p>
        </p:txBody>
      </p:sp>
      <p:graphicFrame>
        <p:nvGraphicFramePr>
          <p:cNvPr id="7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2884548"/>
                <a:gridCol w="8209867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ส่วน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รายละเอียด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86448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Rail travel mechanism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5 กลุ่มเดิน (A–D) bogie 2/4/6/8 ล้อ ล้อขับเคลื่อนด้วย gear motor (NORD 1.5 kW) เบรกด้วย frequency converter และ spring brake (ใช้เป็นเบรกจอดเท่านั้น) ทุกล้อมี rail plough และไม้ปัดรางทำความสะอาด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Rail clamp (Hillmar)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ใช้ยึดเครื่องกับรางขณะจอด แรงยึดพิกัด 100 kN ต่อชุด ทำงานด้วยไฮดรอลิก ไม่ใช่เบรกขณะเดิน ต้องปล่อย clamp สุดก่อนจึงจะเดินได้ (มี limit switch)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โครงสร้างหลัก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Trailer I, Trailer II, Portal (ยึดด้วย bolt) พร้อมแท่น E-house/ถังน้ำ และ discharge head จุดเชื่อมเป็น spherical plain bearing ที่ไม่ต้องบำรุงรักษา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Belt guiding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self-aligning idler frame, carrying idler garland, transition idler, return idler, catching roller และ lateral belt idler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Pulley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return/discharge, bend และ take-up pulley (ยางหุ้มแบบ vulcanize, ลูกปืนต่อระบบหล่อลื่นอัตโนมัติ)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Scraper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pre-scraper และ main scraper ที่ discharge pulley (Martin Engineering), steel scraper ที่ take-up pulley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Belt tensioning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take-up pulley เคลื่อนด้วยกระบอกไฮดรอลิก 2 ตัว ควบคุมอัตโนมัติด้วย PLC มี sensor ตำแหน่งและความดัน และ check valve ป้องกันแรงตึงตก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78</a:t>
            </a:fld>
            <a:endParaRPr lang="en-US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9 · Tripper Car Ü2200 สำหรับผู้ควบคุมเครื่อง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9.2 ส่วนประกอบหลักของ Tripper Car (2/2)</a:t>
            </a:r>
            <a:endParaRPr lang="en-US" sz="2800" dirty="0"/>
          </a:p>
        </p:txBody>
      </p:sp>
      <p:graphicFrame>
        <p:nvGraphicFramePr>
          <p:cNvPr id="8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2884548"/>
                <a:gridCol w="8209867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ส่วน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รายละเอียด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Discharge head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baffle plate ปรับด้วยมือด้วย locking lever, wear plate และช่องตรวจ (inspection flap)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Support car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ค้ำสะพาน C1 ของ Spreader เชื่อมกับ Tripper Car ด้วย coupling rod ใช้ ball-bearing slewing ring และ bogie 8 ล้อ (ฝั่งหนึ่งแกว่งได้)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Cable duct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cable saddle และ cable duct แบบหมุนได้ (ball bearing) เหนือ discharge head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ระบบอื่น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Hydraulic power unit, ระบบหล่อลื่นอัตโนมัติ (Dropsa), ระบบลดฝุ่น (VSR), ถังดับเพลิง และรอกโซ่ไฟฟ้า (HADEF)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79</a:t>
            </a:fld>
            <a:endParaRPr lang="en-US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9 · Tripper Car Ü2200 สำหรับผู้ควบคุมเครื่อง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9.2 ส่วนประกอบหลักของ Tripper Car · ภาพประกอบ</a:t>
            </a:r>
            <a:endParaRPr lang="en-US" sz="2800" dirty="0"/>
          </a:p>
        </p:txBody>
      </p:sp>
      <p:pic>
        <p:nvPicPr>
          <p:cNvPr id="4" name="Image 0" descr="ภาพรวม Tripper Car (คู่มือผู้ผลิต Figure 3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410048" cy="2042899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3460219"/>
            <a:ext cx="541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ภาพรวม Tripper Car (คู่มือผู้ผลิต Figure 3)</a:t>
            </a:r>
            <a:endParaRPr lang="en-US" sz="1200" dirty="0"/>
          </a:p>
        </p:txBody>
      </p:sp>
      <p:pic>
        <p:nvPicPr>
          <p:cNvPr id="6" name="Image 1" descr="Rail travel mechanism (กลุ่มเดิน A–D) (คู่มือผู้ผลิต Figure 5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5187" y="1371600"/>
            <a:ext cx="4585689" cy="45720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233008" y="5989320"/>
            <a:ext cx="541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Rail travel mechanism (กลุ่มเดิน A–D) (คู่มือผู้ผลิต Figure 5)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80</a:t>
            </a:fld>
            <a:endParaRPr lang="en-US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9 · Tripper Car Ü2200 สำหรับผู้ควบคุมเครื่อง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9.2 ส่วนประกอบหลักของ Tripper Car · ภาพประกอบ</a:t>
            </a:r>
            <a:endParaRPr lang="en-US" sz="2800" dirty="0"/>
          </a:p>
        </p:txBody>
      </p:sp>
      <p:pic>
        <p:nvPicPr>
          <p:cNvPr id="4" name="Image 0" descr="Bogie 2 ล้อ แบบมีล้อขับเคลื่อน (คู่มือผู้ผลิต Figure 6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410048" cy="265657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4073896"/>
            <a:ext cx="541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Bogie 2 ล้อ แบบมีล้อขับเคลื่อน (คู่มือผู้ผลิต Figure 6)</a:t>
            </a:r>
            <a:endParaRPr lang="en-US" sz="1200" dirty="0"/>
          </a:p>
        </p:txBody>
      </p:sp>
      <p:pic>
        <p:nvPicPr>
          <p:cNvPr id="6" name="Image 1" descr="Bogie 2 ล้อ แบบล้อไม่ขับเคลื่อน (คู่มือผู้ผลิต Figure 7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008" y="1371600"/>
            <a:ext cx="5410048" cy="162059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233008" y="3037915"/>
            <a:ext cx="541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Bogie 2 ล้อ แบบล้อไม่ขับเคลื่อน (คู่มือผู้ผลิต Figure 7)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81</a:t>
            </a:fld>
            <a:endParaRPr lang="en-US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9 · Tripper Car Ü2200 สำหรับผู้ควบคุมเครื่อง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9.2 ส่วนประกอบหลักของ Tripper Car · ภาพประกอบ</a:t>
            </a:r>
            <a:endParaRPr lang="en-US" sz="2800" dirty="0"/>
          </a:p>
        </p:txBody>
      </p:sp>
      <p:pic>
        <p:nvPicPr>
          <p:cNvPr id="4" name="Image 0" descr="โครงสร้างหลัก (Main structure) (คู่มือผู้ผลิต Figure 9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410048" cy="219631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3613638"/>
            <a:ext cx="541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โครงสร้างหลัก (Main structure) (คู่มือผู้ผลิต Figure 9)</a:t>
            </a:r>
            <a:endParaRPr lang="en-US" sz="1200" dirty="0"/>
          </a:p>
        </p:txBody>
      </p:sp>
      <p:pic>
        <p:nvPicPr>
          <p:cNvPr id="6" name="Image 1" descr="Belt guiding (คู่มือผู้ผลิต Figure 12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8692" y="1371600"/>
            <a:ext cx="4278678" cy="45720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233008" y="5989320"/>
            <a:ext cx="541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Belt guiding (คู่มือผู้ผลิต Figure 12)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82</a:t>
            </a:fld>
            <a:endParaRPr lang="en-US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9 · Tripper Car Ü2200 สำหรับผู้ควบคุมเครื่อง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9.2 ส่วนประกอบหลักของ Tripper Car · ภาพประกอบ</a:t>
            </a:r>
            <a:endParaRPr lang="en-US" sz="2800" dirty="0"/>
          </a:p>
        </p:txBody>
      </p:sp>
      <p:pic>
        <p:nvPicPr>
          <p:cNvPr id="4" name="Image 0" descr="ตำแหน่ง pulley ของ Tripper Car (คู่มือผู้ผลิต Figure 13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802" y="1371600"/>
            <a:ext cx="5299723" cy="4572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989320"/>
            <a:ext cx="541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ตำแหน่ง pulley ของ Tripper Car (คู่มือผู้ผลิต Figure 13)</a:t>
            </a:r>
            <a:endParaRPr lang="en-US" sz="1200" dirty="0"/>
          </a:p>
        </p:txBody>
      </p:sp>
      <p:pic>
        <p:nvPicPr>
          <p:cNvPr id="6" name="Image 1" descr="Return pulley (คู่มือผู้ผลิต Figure 14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9188" y="1371600"/>
            <a:ext cx="4357688" cy="45720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233008" y="5989320"/>
            <a:ext cx="541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Return pulley (คู่มือผู้ผลิต Figure 14)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83</a:t>
            </a:fld>
            <a:endParaRPr lang="en-US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9 · Tripper Car Ü2200 สำหรับผู้ควบคุมเครื่อง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9.2 ส่วนประกอบหลักของ Tripper Car · ภาพประกอบ</a:t>
            </a:r>
            <a:endParaRPr lang="en-US" sz="2800" dirty="0"/>
          </a:p>
        </p:txBody>
      </p:sp>
      <p:pic>
        <p:nvPicPr>
          <p:cNvPr id="4" name="Image 0" descr="Take-up pulley (คู่มือผู้ผลิต Figure 15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410048" cy="285844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4275763"/>
            <a:ext cx="541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Take-up pulley (คู่มือผู้ผลิต Figure 15)</a:t>
            </a:r>
            <a:endParaRPr lang="en-US" sz="1200" dirty="0"/>
          </a:p>
        </p:txBody>
      </p:sp>
      <p:pic>
        <p:nvPicPr>
          <p:cNvPr id="6" name="Image 1" descr="Belt scraper (คู่มือผู้ผลิต Figure 17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008" y="1371600"/>
            <a:ext cx="5410048" cy="351249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233008" y="4929814"/>
            <a:ext cx="541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Belt scraper (คู่มือผู้ผลิต Figure 17)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84</a:t>
            </a:fld>
            <a:endParaRPr lang="en-US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9 · Tripper Car Ü2200 สำหรับผู้ควบคุมเครื่อง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9.2 ส่วนประกอบหลักของ Tripper Car · ภาพประกอบ</a:t>
            </a:r>
            <a:endParaRPr lang="en-US" sz="2800" dirty="0"/>
          </a:p>
        </p:txBody>
      </p:sp>
      <p:pic>
        <p:nvPicPr>
          <p:cNvPr id="4" name="Image 0" descr="ระบบปรับตึงสายพาน (Tensioning system) (คู่มือผู้ผลิต Figure 18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536" y="1371600"/>
            <a:ext cx="5226256" cy="4572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989320"/>
            <a:ext cx="541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ระบบปรับตึงสายพาน (Tensioning system) (คู่มือผู้ผลิต Figure 18)</a:t>
            </a:r>
            <a:endParaRPr lang="en-US" sz="1200" dirty="0"/>
          </a:p>
        </p:txBody>
      </p:sp>
      <p:pic>
        <p:nvPicPr>
          <p:cNvPr id="6" name="Image 1" descr="Discharge head (คู่มือผู้ผลิต Figure 19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008" y="1371600"/>
            <a:ext cx="5410048" cy="255160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233008" y="3968925"/>
            <a:ext cx="541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Discharge head (คู่มือผู้ผลิต Figure 19)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85</a:t>
            </a:fld>
            <a:endParaRPr lang="en-US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9 · Tripper Car Ü2200 สำหรับผู้ควบคุมเครื่อง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9.2 ส่วนประกอบหลักของ Tripper Car · ภาพประกอบ</a:t>
            </a:r>
            <a:endParaRPr lang="en-US" sz="2800" dirty="0"/>
          </a:p>
        </p:txBody>
      </p:sp>
      <p:pic>
        <p:nvPicPr>
          <p:cNvPr id="4" name="Image 0" descr="ระบบจ่ายไฟ (Power supply) (คู่มือผู้ผลิต Figure 22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410048" cy="2563927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3981247"/>
            <a:ext cx="541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ระบบจ่ายไฟ (Power supply) (คู่มือผู้ผลิต Figure 22)</a:t>
            </a:r>
            <a:endParaRPr lang="en-US" sz="1200" dirty="0"/>
          </a:p>
        </p:txBody>
      </p:sp>
      <p:pic>
        <p:nvPicPr>
          <p:cNvPr id="6" name="Image 1" descr="ระบบไฮดรอลิก (คู่มือผู้ผลิต Figure 24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5970" y="1371600"/>
            <a:ext cx="5244123" cy="45720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233008" y="5989320"/>
            <a:ext cx="541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ระบบไฮดรอลิก (คู่มือผู้ผลิต Figure 24)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86</a:t>
            </a:fld>
            <a:endParaRPr lang="en-US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9 · Tripper Car Ü2200 สำหรับผู้ควบคุมเครื่อง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9.2 ส่วนประกอบหลักของ Tripper Car · ภาพประกอบ</a:t>
            </a:r>
            <a:endParaRPr lang="en-US" sz="2800" dirty="0"/>
          </a:p>
        </p:txBody>
      </p:sp>
      <p:pic>
        <p:nvPicPr>
          <p:cNvPr id="4" name="Image 0" descr="Hydraulic power unit (คู่มือผู้ผลิต Figure 25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7698" y="1371600"/>
            <a:ext cx="5191932" cy="4572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989320"/>
            <a:ext cx="541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Hydraulic power unit (คู่มือผู้ผลิต Figure 25)</a:t>
            </a:r>
            <a:endParaRPr lang="en-US" sz="1200" dirty="0"/>
          </a:p>
        </p:txBody>
      </p:sp>
      <p:pic>
        <p:nvPicPr>
          <p:cNvPr id="6" name="Image 1" descr="Hydraulic cylinder (คู่มือผู้ผลิต Figure 26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008" y="1371600"/>
            <a:ext cx="5410048" cy="364432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233008" y="5061644"/>
            <a:ext cx="541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Hydraulic cylinder (คู่มือผู้ผลิต Figure 26)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87</a:t>
            </a:fld>
            <a:endParaRPr lang="en-US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9 · Tripper Car Ü2200 สำหรับผู้ควบคุมเครื่อง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9.2 ส่วนประกอบหลักของ Tripper Car · ภาพประกอบ</a:t>
            </a:r>
            <a:endParaRPr lang="en-US" sz="2800" dirty="0"/>
          </a:p>
        </p:txBody>
      </p:sp>
      <p:pic>
        <p:nvPicPr>
          <p:cNvPr id="4" name="Image 0" descr="ระบบหล่อลื่น (คู่มือผู้ผลิต Figure 27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1047" y="1371600"/>
            <a:ext cx="4705233" cy="4572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989320"/>
            <a:ext cx="541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ระบบหล่อลื่น (คู่มือผู้ผลิต Figure 27)</a:t>
            </a:r>
            <a:endParaRPr lang="en-US" sz="1200" dirty="0"/>
          </a:p>
        </p:txBody>
      </p:sp>
      <p:pic>
        <p:nvPicPr>
          <p:cNvPr id="6" name="Image 1" descr="ถังดับเพลิง (คู่มือผู้ผลิต Figure 28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008" y="1371600"/>
            <a:ext cx="5410048" cy="184910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233008" y="3266426"/>
            <a:ext cx="541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ถังดับเพลิง (คู่มือผู้ผลิต Figure 28)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88</a:t>
            </a:fld>
            <a:endParaRPr lang="en-US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9 · Tripper Car Ü2200 สำหรับผู้ควบคุมเครื่อง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9.2 ส่วนประกอบหลักของ Tripper Car · ภาพประกอบ</a:t>
            </a:r>
            <a:endParaRPr lang="en-US" sz="2800" dirty="0"/>
          </a:p>
        </p:txBody>
      </p:sp>
      <p:pic>
        <p:nvPicPr>
          <p:cNvPr id="4" name="Image 0" descr="ระบบลดฝุ่น (คู่มือผู้ผลิต Figure 29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410048" cy="2176919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3594239"/>
            <a:ext cx="541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ระบบลดฝุ่น (คู่มือผู้ผลิต Figure 29)</a:t>
            </a:r>
            <a:endParaRPr lang="en-US" sz="1200" dirty="0"/>
          </a:p>
        </p:txBody>
      </p:sp>
      <p:pic>
        <p:nvPicPr>
          <p:cNvPr id="6" name="Image 1" descr="รอกโซ่ไฟฟ้า (คู่มือผู้ผลิต Figure 30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008" y="1371600"/>
            <a:ext cx="5410048" cy="255586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233008" y="3973185"/>
            <a:ext cx="541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รอกโซ่ไฟฟ้า (คู่มือผู้ผลิต Figure 30)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89</a:t>
            </a:fld>
            <a:endParaRPr lang="en-US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9 · Tripper Car Ü2200 สำหรับผู้ควบคุมเครื่อง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9.3 แผงควบคุมและกล่องควบคุมท้องถิ่น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การเดิน Tripper Car ทำจากห้องควบคุมของ Spreader เท่านั้นในงานปกติ กล่องควบคุมท้องถิ่น (local control box) ใช้ขณะซ่อมบำรุงเท่านั้น</a:t>
            </a:r>
            <a:endParaRPr lang="en-US" sz="1500" dirty="0"/>
          </a:p>
        </p:txBody>
      </p:sp>
      <p:graphicFrame>
        <p:nvGraphicFramePr>
          <p:cNvPr id="9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11094415" cy="914400"/>
        </p:xfrm>
        <a:graphic>
          <a:graphicData uri="http://schemas.openxmlformats.org/drawingml/2006/table">
            <a:tbl>
              <a:tblPr/>
              <a:tblGrid>
                <a:gridCol w="3328325"/>
                <a:gridCol w="7766091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กล่อง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ปุ่ม/อุปกรณ์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77241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Travel drive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สวิตช์เลือกโหมด, เดินหน้า, หยุด, ถอยหลัง, เพิ่ม/ลดความเร็ว, Start-up warning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241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Rail clamp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สวิตช์เลือกโหมด, เปิด clamp, ปิด clamp, สตาร์ท/หยุดปั๊มไฮดรอลิกของ clamp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108546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Tensioning device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สวิตช์เลือกโหมด, เพิ่ม/ลดความดันกระบอก, เลือกกระบอก, สตาร์ท/หยุดปั๊ม, มิเตอร์ตำแหน่งกระบอกซ้าย/ขวา (mm), แรงตึงสายพาน (kN), ไฟแสดง Remote/Local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90</a:t>
            </a:fld>
            <a:endParaRPr lang="en-US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9 · Tripper Car Ü2200 สำหรับผู้ควบคุมเครื่อง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9.3 แผงควบคุมและกล่องควบคุมท้องถิ่น · ภาพประกอบ</a:t>
            </a:r>
            <a:endParaRPr lang="en-US" sz="2800" dirty="0"/>
          </a:p>
        </p:txBody>
      </p:sp>
      <p:pic>
        <p:nvPicPr>
          <p:cNvPr id="4" name="Image 0" descr="ภาพ: ตำแหน่ง local control box ของ Tripper Car (Figure 41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14869" y="1371600"/>
            <a:ext cx="9161956" cy="45262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9436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ภาพ: ตำแหน่ง local control box ของ Tripper Car (Figure 41)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91</a:t>
            </a:fld>
            <a:endParaRPr lang="en-US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9 · Tripper Car Ü2200 สำหรับผู้ควบคุมเครื่อง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9.3 แผงควบคุมและกล่องควบคุมท้องถิ่น · ภาพประกอบ</a:t>
            </a:r>
            <a:endParaRPr lang="en-US" sz="2800" dirty="0"/>
          </a:p>
        </p:txBody>
      </p:sp>
      <p:pic>
        <p:nvPicPr>
          <p:cNvPr id="4" name="Image 0" descr="Local control box — Travel drive (Figure 42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33291" y="1371600"/>
            <a:ext cx="1640745" cy="19659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3383280"/>
            <a:ext cx="541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Local control box — Travel drive (Figure 42)</a:t>
            </a:r>
            <a:endParaRPr lang="en-US" sz="1200" dirty="0"/>
          </a:p>
        </p:txBody>
      </p:sp>
      <p:pic>
        <p:nvPicPr>
          <p:cNvPr id="6" name="Image 1" descr="Local control box — Rail clamp (Figure 43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1187" y="1371600"/>
            <a:ext cx="1673689" cy="19659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233008" y="3383280"/>
            <a:ext cx="541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Local control box — Rail clamp (Figure 43)</a:t>
            </a:r>
            <a:endParaRPr lang="en-US" sz="1200" dirty="0"/>
          </a:p>
        </p:txBody>
      </p:sp>
      <p:pic>
        <p:nvPicPr>
          <p:cNvPr id="8" name="Image 2" descr="Local control box — Tensioning device (Figure 44)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8996" y="3977640"/>
            <a:ext cx="1509335" cy="196596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548640" y="5989320"/>
            <a:ext cx="541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Local control box — Tensioning device (Figure 44)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92</a:t>
            </a:fld>
            <a:endParaRPr lang="en-US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9 · Tripper Car Ü2200 สำหรับผู้ควบคุมเครื่อง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9.4 โหมดการทำงาน</a:t>
            </a:r>
            <a:endParaRPr lang="en-US" sz="2800" dirty="0"/>
          </a:p>
        </p:txBody>
      </p:sp>
      <p:graphicFrame>
        <p:nvGraphicFramePr>
          <p:cNvPr id="9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2440771"/>
                <a:gridCol w="4659654"/>
                <a:gridCol w="3993989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โหมด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การใช้งาน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ข้อควรระวัง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108546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Manual / Local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เคลื่อนเครื่องเพื่อซ่อมบำรุงและแก้ปัญหา สั่งจากกล่องท้องถิ่นหรือห้องควบคุม Spreader เลือก locked/unlocked ด้วยสวิตช์กุญแจ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ห้ามเลือก unlocked เมื่อมีวัสดุอยู่บนชิ้นส่วน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8546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Recovery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กรณีพิเศษของ Manual ใช้ปุ่ม Bypass ข้าม limit switch ชั่วคราวเพื่อนำเครื่องกลับเข้าช่วงที่อนุญาต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เฉพาะผู้ที่ผ่านการฝึกพิเศษ ต้องมองเห็นการเคลื่อนที่ขณะ bypass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108546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Automatic / Remote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โหมดปกติ สั่งจากห้องควบคุม Spreader สั่งเส้นทางลำเลียงด้วยคำสั่งเดียว PLC ให้สัญญาณ release ระบบต้นน้ำ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เมื่อเกิดความผิดพลาด สัญญาณ release ต้นน้ำจะถูกรีเซ็ต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93</a:t>
            </a:fld>
            <a:endParaRPr lang="en-US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9 · Tripper Car Ü2200 สำหรับผู้ควบคุมเครื่อง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9.4 โหมดการทำงาน · ภาพประกอบ</a:t>
            </a:r>
            <a:endParaRPr lang="en-US" sz="2800" dirty="0"/>
          </a:p>
        </p:txBody>
      </p:sp>
      <p:pic>
        <p:nvPicPr>
          <p:cNvPr id="4" name="Image 0" descr="ภาพ: แผนผังการทำงาน (working plan) ของ Tripper Car (Figure 46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41531" y="1371600"/>
            <a:ext cx="3108632" cy="45262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9436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ภาพ: แผนผังการทำงาน (working plan) ของ Tripper Car (Figure 46)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94</a:t>
            </a:fld>
            <a:endParaRPr lang="en-US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9 · Tripper Car Ü2200 สำหรับผู้ควบคุมเครื่อง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9.4 โหมดการทำงาน · ภาพประกอบ</a:t>
            </a:r>
            <a:endParaRPr lang="en-US" sz="2800" dirty="0"/>
          </a:p>
        </p:txBody>
      </p:sp>
      <p:pic>
        <p:nvPicPr>
          <p:cNvPr id="4" name="Image 0" descr="อุปกรณ์สัญญาณเตือน (คู่มือผู้ผลิต Figure 31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410048" cy="237042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3787743"/>
            <a:ext cx="541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อุปกรณ์สัญญาณเตือน (คู่มือผู้ผลิต Figure 31)</a:t>
            </a:r>
            <a:endParaRPr lang="en-US" sz="1200" dirty="0"/>
          </a:p>
        </p:txBody>
      </p:sp>
      <p:pic>
        <p:nvPicPr>
          <p:cNvPr id="6" name="Image 1" descr="Pull rope switch (คู่มือผู้ผลิต Figure 32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6031" y="1371600"/>
            <a:ext cx="4824000" cy="45720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233008" y="5989320"/>
            <a:ext cx="541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Pull rope switch (คู่มือผู้ผลิต Figure 32)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95</a:t>
            </a:fld>
            <a:endParaRPr lang="en-US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9 · Tripper Car Ü2200 สำหรับผู้ควบคุมเครื่อง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9.4 โหมดการทำงาน · ภาพประกอบ</a:t>
            </a:r>
            <a:endParaRPr lang="en-US" sz="2800" dirty="0"/>
          </a:p>
        </p:txBody>
      </p:sp>
      <p:pic>
        <p:nvPicPr>
          <p:cNvPr id="4" name="Image 0" descr="การวัดระยะเดิน (Travel path) (คู่มือผู้ผลิต Figure 34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410048" cy="198637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3403696"/>
            <a:ext cx="541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การวัดระยะเดิน (Travel path) (คู่มือผู้ผลิต Figure 34)</a:t>
            </a:r>
            <a:endParaRPr lang="en-US" sz="1200" dirty="0"/>
          </a:p>
        </p:txBody>
      </p:sp>
      <p:pic>
        <p:nvPicPr>
          <p:cNvPr id="6" name="Image 1" descr="Proximity/limit switch และ encoder มุมหมุน (คู่มือผู้ผลิต Figure 35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9993" y="1371600"/>
            <a:ext cx="4956078" cy="45720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233008" y="5989320"/>
            <a:ext cx="541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Proximity/limit switch และ encoder มุมหมุน (คู่มือผู้ผลิต Figure 35)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96</a:t>
            </a:fld>
            <a:endParaRPr lang="en-US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9 · Tripper Car Ü2200 สำหรับผู้ควบคุมเครื่อง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9.4 โหมดการทำงาน · ภาพประกอบ</a:t>
            </a:r>
            <a:endParaRPr lang="en-US" sz="2800" dirty="0"/>
          </a:p>
        </p:txBody>
      </p:sp>
      <p:pic>
        <p:nvPicPr>
          <p:cNvPr id="4" name="Image 0" descr="Encoder ระยะเดินของ Support bridge (คู่มือผู้ผลิต Figure 37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410048" cy="388620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303524"/>
            <a:ext cx="541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Encoder ระยะเดินของ Support bridge (คู่มือผู้ผลิต Figure 37)</a:t>
            </a:r>
            <a:endParaRPr lang="en-US" sz="1200" dirty="0"/>
          </a:p>
        </p:txBody>
      </p:sp>
      <p:pic>
        <p:nvPicPr>
          <p:cNvPr id="6" name="Image 1" descr="Belt misalignment switch (คู่มือผู้ผลิต Figure 38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008" y="1371600"/>
            <a:ext cx="5410048" cy="3964677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233008" y="5381997"/>
            <a:ext cx="541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Belt misalignment switch (คู่มือผู้ผลิต Figure 38)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97</a:t>
            </a:fld>
            <a:endParaRPr lang="en-US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9 · Tripper Car Ü2200 สำหรับผู้ควบคุมเครื่อง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9.4 โหมดการทำงาน · ภาพประกอบ</a:t>
            </a:r>
            <a:endParaRPr lang="en-US" sz="2800" dirty="0"/>
          </a:p>
        </p:txBody>
      </p:sp>
      <p:pic>
        <p:nvPicPr>
          <p:cNvPr id="4" name="Image 0" descr="Blocked chute detector (คู่มือผู้ผลิต Figure 39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2147" y="1371600"/>
            <a:ext cx="3923033" cy="4572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989320"/>
            <a:ext cx="541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Blocked chute detector (คู่มือผู้ผลิต Figure 39)</a:t>
            </a:r>
            <a:endParaRPr lang="en-US" sz="1200" dirty="0"/>
          </a:p>
        </p:txBody>
      </p:sp>
      <p:pic>
        <p:nvPicPr>
          <p:cNvPr id="6" name="Image 1" descr="Limit switch ของ take-up station (คู่มือผู้ผลิต Figure 40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008" y="1371600"/>
            <a:ext cx="5410048" cy="439263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233008" y="5809956"/>
            <a:ext cx="541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Limit switch ของ take-up station (คู่มือผู้ผลิต Figure 40)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98</a:t>
            </a:fld>
            <a:endParaRPr lang="en-US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9 · Tripper Car Ü2200 สำหรับผู้ควบคุมเครื่อง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9.5 ก่อนเริ่มเดิน (ตรวจประจำวัน) (1/2)</a:t>
            </a:r>
            <a:endParaRPr lang="en-US" sz="2800" dirty="0"/>
          </a:p>
        </p:txBody>
      </p:sp>
      <p:sp>
        <p:nvSpPr>
          <p:cNvPr id="4" name="row-1"/>
          <p:cNvSpPr/>
          <p:nvPr/>
        </p:nvSpPr>
        <p:spPr>
          <a:xfrm>
            <a:off x="548640" y="1417320"/>
            <a:ext cx="11094415" cy="512064"/>
          </a:xfrm>
          <a:prstGeom prst="roundRect">
            <a:avLst>
              <a:gd name="adj" fmla="val 14286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5" name="mark-1"/>
          <p:cNvSpPr/>
          <p:nvPr/>
        </p:nvSpPr>
        <p:spPr>
          <a:xfrm>
            <a:off x="685800" y="1490472"/>
            <a:ext cx="365760" cy="365760"/>
          </a:xfrm>
          <a:prstGeom prst="ellipse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4904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417320"/>
            <a:ext cx="102257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ตรวจ Tripper Car หาความเสียหายหรือการสึกที่เห็นได้ แจ้งผู้รับผิดชอบทันทีเมื่อพบการเปลี่ยนแปลง</a:t>
            </a:r>
            <a:endParaRPr lang="en-US" sz="1700" dirty="0"/>
          </a:p>
        </p:txBody>
      </p:sp>
      <p:sp>
        <p:nvSpPr>
          <p:cNvPr id="8" name="row-2"/>
          <p:cNvSpPr/>
          <p:nvPr/>
        </p:nvSpPr>
        <p:spPr>
          <a:xfrm>
            <a:off x="548640" y="2002536"/>
            <a:ext cx="11094415" cy="822960"/>
          </a:xfrm>
          <a:prstGeom prst="roundRect">
            <a:avLst>
              <a:gd name="adj" fmla="val 8889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9" name="mark-2"/>
          <p:cNvSpPr/>
          <p:nvPr/>
        </p:nvSpPr>
        <p:spPr>
          <a:xfrm>
            <a:off x="685800" y="2231136"/>
            <a:ext cx="365760" cy="365760"/>
          </a:xfrm>
          <a:prstGeom prst="ellipse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2231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002536"/>
            <a:ext cx="102257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ทดสอบ safety limit switch, operational limit switch, emergency limit switch และปุ่ม Emergency stop ทุกครั้งที่เปิดเครื่อง ปัดฝุ่นและวัสดุพอกที่ switch, proximity และ straight edge</a:t>
            </a:r>
            <a:endParaRPr lang="en-US" sz="1700" dirty="0"/>
          </a:p>
        </p:txBody>
      </p:sp>
      <p:sp>
        <p:nvSpPr>
          <p:cNvPr id="12" name="row-3"/>
          <p:cNvSpPr/>
          <p:nvPr/>
        </p:nvSpPr>
        <p:spPr>
          <a:xfrm>
            <a:off x="548640" y="2898648"/>
            <a:ext cx="11094415" cy="512064"/>
          </a:xfrm>
          <a:prstGeom prst="roundRect">
            <a:avLst>
              <a:gd name="adj" fmla="val 14286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3" name="mark-3"/>
          <p:cNvSpPr/>
          <p:nvPr/>
        </p:nvSpPr>
        <p:spPr>
          <a:xfrm>
            <a:off x="685800" y="2971800"/>
            <a:ext cx="365760" cy="365760"/>
          </a:xfrm>
          <a:prstGeom prst="ellipse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2971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2898648"/>
            <a:ext cx="102257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ตรวจสายเคเบิลที่เคลื่อนที่ว่าถลอกหรือฉนวนเสียหาย สายที่ฉนวนเสียหายต้องเปลี่ยนทันที</a:t>
            </a:r>
            <a:endParaRPr lang="en-US" sz="1700" dirty="0"/>
          </a:p>
        </p:txBody>
      </p:sp>
      <p:sp>
        <p:nvSpPr>
          <p:cNvPr id="16" name="row-4"/>
          <p:cNvSpPr/>
          <p:nvPr/>
        </p:nvSpPr>
        <p:spPr>
          <a:xfrm>
            <a:off x="548640" y="3483864"/>
            <a:ext cx="11094415" cy="512064"/>
          </a:xfrm>
          <a:prstGeom prst="roundRect">
            <a:avLst>
              <a:gd name="adj" fmla="val 14286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7" name="mark-4"/>
          <p:cNvSpPr/>
          <p:nvPr/>
        </p:nvSpPr>
        <p:spPr>
          <a:xfrm>
            <a:off x="685800" y="3557016"/>
            <a:ext cx="365760" cy="365760"/>
          </a:xfrm>
          <a:prstGeom prst="ellipse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5800" y="35570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3483864"/>
            <a:ext cx="102257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ตรวจความสกปรกของ Tripper Car ทุกวัน ทำความสะอาดวัสดุพอกที่ pulley และ idler</a:t>
            </a:r>
            <a:endParaRPr lang="en-US" sz="1700" dirty="0"/>
          </a:p>
        </p:txBody>
      </p:sp>
      <p:sp>
        <p:nvSpPr>
          <p:cNvPr id="20" name="row-5"/>
          <p:cNvSpPr/>
          <p:nvPr/>
        </p:nvSpPr>
        <p:spPr>
          <a:xfrm>
            <a:off x="548640" y="4069080"/>
            <a:ext cx="11094415" cy="512064"/>
          </a:xfrm>
          <a:prstGeom prst="roundRect">
            <a:avLst>
              <a:gd name="adj" fmla="val 14286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21" name="mark-5"/>
          <p:cNvSpPr/>
          <p:nvPr/>
        </p:nvSpPr>
        <p:spPr>
          <a:xfrm>
            <a:off x="685800" y="4142232"/>
            <a:ext cx="365760" cy="365760"/>
          </a:xfrm>
          <a:prstGeom prst="ellipse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5800" y="4142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234440" y="4069080"/>
            <a:ext cx="102257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ตรวจ scraper ทุกชุด: วัสดุพอก ระดับการสึก และการทำงาน</a:t>
            </a:r>
            <a:endParaRPr lang="en-US" sz="1700" dirty="0"/>
          </a:p>
        </p:txBody>
      </p:sp>
      <p:sp>
        <p:nvSpPr>
          <p:cNvPr id="24" name="row-6"/>
          <p:cNvSpPr/>
          <p:nvPr/>
        </p:nvSpPr>
        <p:spPr>
          <a:xfrm>
            <a:off x="548640" y="4654296"/>
            <a:ext cx="11094415" cy="822960"/>
          </a:xfrm>
          <a:prstGeom prst="roundRect">
            <a:avLst>
              <a:gd name="adj" fmla="val 8889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25" name="mark-6"/>
          <p:cNvSpPr/>
          <p:nvPr/>
        </p:nvSpPr>
        <p:spPr>
          <a:xfrm>
            <a:off x="685800" y="4882896"/>
            <a:ext cx="365760" cy="365760"/>
          </a:xfrm>
          <a:prstGeom prst="ellipse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85800" y="48828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1234440" y="4654296"/>
            <a:ext cx="102257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ตรวจระดับน้ำมันเกียร์เดินและชุดไฮดรอลิกของ rail clamp ตรวจเสียงผิดปกติและการรั่วของเกียร์และลูกปืน</a:t>
            </a:r>
            <a:endParaRPr lang="en-US" sz="1700" dirty="0"/>
          </a:p>
        </p:txBody>
      </p:sp>
      <p:sp>
        <p:nvSpPr>
          <p:cNvPr id="28" name="row-7"/>
          <p:cNvSpPr/>
          <p:nvPr/>
        </p:nvSpPr>
        <p:spPr>
          <a:xfrm>
            <a:off x="548640" y="5550408"/>
            <a:ext cx="11094415" cy="512064"/>
          </a:xfrm>
          <a:prstGeom prst="roundRect">
            <a:avLst>
              <a:gd name="adj" fmla="val 14286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29" name="mark-7"/>
          <p:cNvSpPr/>
          <p:nvPr/>
        </p:nvSpPr>
        <p:spPr>
          <a:xfrm>
            <a:off x="685800" y="5623560"/>
            <a:ext cx="365760" cy="365760"/>
          </a:xfrm>
          <a:prstGeom prst="ellipse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85800" y="5623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7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1234440" y="5550408"/>
            <a:ext cx="102257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ตรวจ rail clamp ของทุกชุดด้วยสายตา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99</a:t>
            </a:fld>
            <a:endParaRPr lang="en-US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9 · Tripper Car Ü2200 สำหรับผู้ควบคุมเครื่อง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9.5 ก่อนเริ่มเดิน (ตรวจประจำวัน) (2/2)</a:t>
            </a:r>
            <a:endParaRPr lang="en-US" sz="2800" dirty="0"/>
          </a:p>
        </p:txBody>
      </p:sp>
      <p:sp>
        <p:nvSpPr>
          <p:cNvPr id="4" name="row-8"/>
          <p:cNvSpPr/>
          <p:nvPr/>
        </p:nvSpPr>
        <p:spPr>
          <a:xfrm>
            <a:off x="548640" y="1417320"/>
            <a:ext cx="11094415" cy="512064"/>
          </a:xfrm>
          <a:prstGeom prst="roundRect">
            <a:avLst>
              <a:gd name="adj" fmla="val 14286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5" name="mark-8"/>
          <p:cNvSpPr/>
          <p:nvPr/>
        </p:nvSpPr>
        <p:spPr>
          <a:xfrm>
            <a:off x="685800" y="1490472"/>
            <a:ext cx="365760" cy="365760"/>
          </a:xfrm>
          <a:prstGeom prst="ellipse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4904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8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417320"/>
            <a:ext cx="102257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รีเซ็ตระบบปรับตึงสายพานกลับค่าตั้งต้นทุกครั้งที่เปลี่ยนกะ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100</a:t>
            </a:fld>
            <a:endParaRPr lang="en-US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9 · Tripper Car Ü2200 สำหรับผู้ควบคุมเครื่อง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9.5 ก่อนเริ่มเดิน (ตรวจประจำวัน)</a:t>
            </a:r>
            <a:endParaRPr lang="en-US" sz="2800" dirty="0"/>
          </a:p>
        </p:txBody>
      </p:sp>
      <p:sp>
        <p:nvSpPr>
          <p:cNvPr id="4" name="callout-card"/>
          <p:cNvSpPr/>
          <p:nvPr/>
        </p:nvSpPr>
        <p:spPr>
          <a:xfrm>
            <a:off x="548640" y="1737360"/>
            <a:ext cx="11094415" cy="2359152"/>
          </a:xfrm>
          <a:prstGeom prst="roundRect">
            <a:avLst>
              <a:gd name="adj" fmla="val 5814"/>
            </a:avLst>
          </a:prstGeom>
          <a:solidFill>
            <a:srgbClr val="FFF4DB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5" name="callout-badge"/>
          <p:cNvSpPr/>
          <p:nvPr/>
        </p:nvSpPr>
        <p:spPr>
          <a:xfrm>
            <a:off x="914400" y="2505456"/>
            <a:ext cx="822960" cy="82296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505456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!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2011680" y="1874520"/>
            <a:ext cx="9265615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D9770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คำเตือน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การทำความสะอาดต้องทำขณะหยุดเครื่อง ระวังพื้นลื่นจากน้ำหรือน้ำมันรั่ว ใส่หมวกนิรภัยเสมอ ห้ามอยู่ใต้ชิ้นส่วนขณะมีการขจัดวัสดุจากที่สูง คราบสกปรกหนาทำให้เสถียรภาพเครื่องลดลง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101</a:t>
            </a:fld>
            <a:endParaRPr lang="en-US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9 · Tripper Car Ü2200 สำหรับผู้ควบคุมเครื่อง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9.6 สตาร์ท ระหว่างเดิน และข้อห้าม (1/2)</a:t>
            </a:r>
            <a:endParaRPr lang="en-US" sz="2800" dirty="0"/>
          </a:p>
        </p:txBody>
      </p:sp>
      <p:sp>
        <p:nvSpPr>
          <p:cNvPr id="4" name="row-1"/>
          <p:cNvSpPr/>
          <p:nvPr/>
        </p:nvSpPr>
        <p:spPr>
          <a:xfrm>
            <a:off x="548640" y="1417320"/>
            <a:ext cx="11094415" cy="822960"/>
          </a:xfrm>
          <a:prstGeom prst="roundRect">
            <a:avLst>
              <a:gd name="adj" fmla="val 8889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5" name="mark-1"/>
          <p:cNvSpPr/>
          <p:nvPr/>
        </p:nvSpPr>
        <p:spPr>
          <a:xfrm>
            <a:off x="685800" y="1645920"/>
            <a:ext cx="365760" cy="365760"/>
          </a:xfrm>
          <a:prstGeom prst="ellipse">
            <a:avLst/>
          </a:prstGeom>
          <a:solidFill>
            <a:srgbClr val="F4A200"/>
          </a:solidFill>
          <a:ln w="12700">
            <a:solidFill>
              <a:srgbClr val="F4A2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34440" y="1417320"/>
            <a:ext cx="102257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เงื่อนไขก่อนสตาร์ท: เส้นทางสายพานไม่ล้น พื้นที่ทำงานไม่มีสิ่งกีดขวาง ไม่มีบุคคลภายนอก ความลาดของเครื่องและความเร็วลมอยู่ในเกณฑ์ และตรวจประจำวันแล้ว</a:t>
            </a:r>
            <a:endParaRPr lang="en-US" sz="1700" dirty="0"/>
          </a:p>
        </p:txBody>
      </p:sp>
      <p:sp>
        <p:nvSpPr>
          <p:cNvPr id="7" name="row-2"/>
          <p:cNvSpPr/>
          <p:nvPr/>
        </p:nvSpPr>
        <p:spPr>
          <a:xfrm>
            <a:off x="548640" y="2313432"/>
            <a:ext cx="11094415" cy="512064"/>
          </a:xfrm>
          <a:prstGeom prst="roundRect">
            <a:avLst>
              <a:gd name="adj" fmla="val 14286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8" name="mark-2"/>
          <p:cNvSpPr/>
          <p:nvPr/>
        </p:nvSpPr>
        <p:spPr>
          <a:xfrm>
            <a:off x="685800" y="2386584"/>
            <a:ext cx="365760" cy="365760"/>
          </a:xfrm>
          <a:prstGeom prst="ellipse">
            <a:avLst/>
          </a:prstGeom>
          <a:solidFill>
            <a:srgbClr val="F4A200"/>
          </a:solidFill>
          <a:ln w="12700">
            <a:solidFill>
              <a:srgbClr val="F4A2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34440" y="2313432"/>
            <a:ext cx="102257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ก่อนเดินสายพานต้องให้ทุกคนลงจาก Tripper Car และห้ามให้ผู้ใดขึ้นขณะเดินเครื่อง</a:t>
            </a:r>
            <a:endParaRPr lang="en-US" sz="1700" dirty="0"/>
          </a:p>
        </p:txBody>
      </p:sp>
      <p:sp>
        <p:nvSpPr>
          <p:cNvPr id="10" name="row-3"/>
          <p:cNvSpPr/>
          <p:nvPr/>
        </p:nvSpPr>
        <p:spPr>
          <a:xfrm>
            <a:off x="548640" y="2898648"/>
            <a:ext cx="11094415" cy="822960"/>
          </a:xfrm>
          <a:prstGeom prst="roundRect">
            <a:avLst>
              <a:gd name="adj" fmla="val 8889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1" name="mark-3"/>
          <p:cNvSpPr/>
          <p:nvPr/>
        </p:nvSpPr>
        <p:spPr>
          <a:xfrm>
            <a:off x="685800" y="3127248"/>
            <a:ext cx="365760" cy="365760"/>
          </a:xfrm>
          <a:prstGeom prst="ellipse">
            <a:avLst/>
          </a:prstGeom>
          <a:solidFill>
            <a:srgbClr val="F4A200"/>
          </a:solidFill>
          <a:ln w="12700">
            <a:solidFill>
              <a:srgbClr val="F4A20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234440" y="2898648"/>
            <a:ext cx="102257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ระหว่างเดินเครื่อง เฝ้าสังเกตความผิดปกติ จุดถ่ายวัสดุต้องถ่ายลงกลางสายพานถัดไปและตกได้โดยไม่ติดขัด เพื่อป้องกันอุดตันและโหลดเอียง</a:t>
            </a:r>
            <a:endParaRPr lang="en-US" sz="1700" dirty="0"/>
          </a:p>
        </p:txBody>
      </p:sp>
      <p:sp>
        <p:nvSpPr>
          <p:cNvPr id="13" name="row-4"/>
          <p:cNvSpPr/>
          <p:nvPr/>
        </p:nvSpPr>
        <p:spPr>
          <a:xfrm>
            <a:off x="548640" y="3794760"/>
            <a:ext cx="11094415" cy="512064"/>
          </a:xfrm>
          <a:prstGeom prst="roundRect">
            <a:avLst>
              <a:gd name="adj" fmla="val 14286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4" name="mark-4"/>
          <p:cNvSpPr/>
          <p:nvPr/>
        </p:nvSpPr>
        <p:spPr>
          <a:xfrm>
            <a:off x="685800" y="3867912"/>
            <a:ext cx="365760" cy="365760"/>
          </a:xfrm>
          <a:prstGeom prst="ellipse">
            <a:avLst/>
          </a:prstGeom>
          <a:solidFill>
            <a:srgbClr val="F4A200"/>
          </a:solidFill>
          <a:ln w="12700">
            <a:solidFill>
              <a:srgbClr val="F4A20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234440" y="3794760"/>
            <a:ext cx="102257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รักษาระยะห่างจุดถ่ายวัสดุแม้พ่นน้ำลดฝุ่นอยู่ หากอุดตันให้ปล่อยวัสดุให้หมดและหยุดเครื่องก่อนแก้</a:t>
            </a:r>
            <a:endParaRPr lang="en-US" sz="1700" dirty="0"/>
          </a:p>
        </p:txBody>
      </p:sp>
      <p:sp>
        <p:nvSpPr>
          <p:cNvPr id="16" name="row-5"/>
          <p:cNvSpPr/>
          <p:nvPr/>
        </p:nvSpPr>
        <p:spPr>
          <a:xfrm>
            <a:off x="548640" y="4379976"/>
            <a:ext cx="11094415" cy="822960"/>
          </a:xfrm>
          <a:prstGeom prst="roundRect">
            <a:avLst>
              <a:gd name="adj" fmla="val 8889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7" name="mark-5"/>
          <p:cNvSpPr/>
          <p:nvPr/>
        </p:nvSpPr>
        <p:spPr>
          <a:xfrm>
            <a:off x="685800" y="4608576"/>
            <a:ext cx="365760" cy="365760"/>
          </a:xfrm>
          <a:prstGeom prst="ellipse">
            <a:avLst/>
          </a:prstGeom>
          <a:solidFill>
            <a:srgbClr val="F4A200"/>
          </a:solidFill>
          <a:ln w="12700">
            <a:solidFill>
              <a:srgbClr val="F4A20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234440" y="4379976"/>
            <a:ext cx="102257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ระวังชิ้นส่วนของระบบเดินที่ยื่นออก เช่น gear motor ขณะ Tripper Car เคลื่อนที่ และระวังสาย/ท่อบนพื้นเมื่อเคลื่อน Tripper Car/Spreader</a:t>
            </a:r>
            <a:endParaRPr lang="en-US" sz="1700" dirty="0"/>
          </a:p>
        </p:txBody>
      </p:sp>
      <p:sp>
        <p:nvSpPr>
          <p:cNvPr id="19" name="row-6"/>
          <p:cNvSpPr/>
          <p:nvPr/>
        </p:nvSpPr>
        <p:spPr>
          <a:xfrm>
            <a:off x="548640" y="5276088"/>
            <a:ext cx="11094415" cy="822960"/>
          </a:xfrm>
          <a:prstGeom prst="roundRect">
            <a:avLst>
              <a:gd name="adj" fmla="val 8889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20" name="mark-6"/>
          <p:cNvSpPr/>
          <p:nvPr/>
        </p:nvSpPr>
        <p:spPr>
          <a:xfrm>
            <a:off x="685800" y="5504688"/>
            <a:ext cx="365760" cy="365760"/>
          </a:xfrm>
          <a:prstGeom prst="ellipse">
            <a:avLst/>
          </a:prstGeom>
          <a:solidFill>
            <a:srgbClr val="F4A200"/>
          </a:solidFill>
          <a:ln w="12700">
            <a:solidFill>
              <a:srgbClr val="F4A20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234440" y="5276088"/>
            <a:ext cx="102257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ทัศนวิสัยต่ำกว่า 10 ม. ต้องหยุดเดินเครื่อง และเพิ่มแสงสว่างเมื่อมองไม่ชัด ระวัง locking lever ของ baffle plate ที่ discharge hood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102</a:t>
            </a:fld>
            <a:endParaRPr lang="en-US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9 · Tripper Car Ü2200 สำหรับผู้ควบคุมเครื่อง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9.6 สตาร์ท ระหว่างเดิน และข้อห้าม (2/2)</a:t>
            </a:r>
            <a:endParaRPr lang="en-US" sz="2800" dirty="0"/>
          </a:p>
        </p:txBody>
      </p:sp>
      <p:sp>
        <p:nvSpPr>
          <p:cNvPr id="4" name="row-7"/>
          <p:cNvSpPr/>
          <p:nvPr/>
        </p:nvSpPr>
        <p:spPr>
          <a:xfrm>
            <a:off x="548640" y="1417320"/>
            <a:ext cx="11094415" cy="512064"/>
          </a:xfrm>
          <a:prstGeom prst="roundRect">
            <a:avLst>
              <a:gd name="adj" fmla="val 14286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5" name="mark-7"/>
          <p:cNvSpPr/>
          <p:nvPr/>
        </p:nvSpPr>
        <p:spPr>
          <a:xfrm>
            <a:off x="685800" y="1490472"/>
            <a:ext cx="365760" cy="365760"/>
          </a:xfrm>
          <a:prstGeom prst="ellipse">
            <a:avLst/>
          </a:prstGeom>
          <a:solidFill>
            <a:srgbClr val="F4A200"/>
          </a:solidFill>
          <a:ln w="12700">
            <a:solidFill>
              <a:srgbClr val="F4A2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34440" y="1417320"/>
            <a:ext cx="102257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ฟ้าผ่า: ติดตามพยากรณ์อากาศ ออกจากพื้นที่ทันทีและไม่แตะส่วนที่มีไฟ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103</a:t>
            </a:fld>
            <a:endParaRPr lang="en-US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9 · Tripper Car Ü2200 สำหรับผู้ควบคุมเครื่อง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9.7 หยุดฉุกเฉินและเริ่มใหม่</a:t>
            </a:r>
            <a:endParaRPr lang="en-US" sz="2800" dirty="0"/>
          </a:p>
        </p:txBody>
      </p:sp>
      <p:sp>
        <p:nvSpPr>
          <p:cNvPr id="4" name="row-1"/>
          <p:cNvSpPr/>
          <p:nvPr/>
        </p:nvSpPr>
        <p:spPr>
          <a:xfrm>
            <a:off x="548640" y="1417320"/>
            <a:ext cx="11094415" cy="512064"/>
          </a:xfrm>
          <a:prstGeom prst="roundRect">
            <a:avLst>
              <a:gd name="adj" fmla="val 14286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5" name="mark-1"/>
          <p:cNvSpPr/>
          <p:nvPr/>
        </p:nvSpPr>
        <p:spPr>
          <a:xfrm>
            <a:off x="685800" y="1490472"/>
            <a:ext cx="365760" cy="365760"/>
          </a:xfrm>
          <a:prstGeom prst="ellipse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4904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417320"/>
            <a:ext cx="102257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กดปุ่ม Emergency stop หรือดึง pull-rope ทันทีเมื่อมีอันตราย จอห้องควบคุมจะแสดง “Emergency off”</a:t>
            </a:r>
            <a:endParaRPr lang="en-US" sz="1700" dirty="0"/>
          </a:p>
        </p:txBody>
      </p:sp>
      <p:sp>
        <p:nvSpPr>
          <p:cNvPr id="8" name="row-2"/>
          <p:cNvSpPr/>
          <p:nvPr/>
        </p:nvSpPr>
        <p:spPr>
          <a:xfrm>
            <a:off x="548640" y="2002536"/>
            <a:ext cx="11094415" cy="512064"/>
          </a:xfrm>
          <a:prstGeom prst="roundRect">
            <a:avLst>
              <a:gd name="adj" fmla="val 14286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9" name="mark-2"/>
          <p:cNvSpPr/>
          <p:nvPr/>
        </p:nvSpPr>
        <p:spPr>
          <a:xfrm>
            <a:off x="685800" y="2075688"/>
            <a:ext cx="365760" cy="365760"/>
          </a:xfrm>
          <a:prstGeom prst="ellipse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20756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002536"/>
            <a:ext cx="102257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แจ้งหัวหน้างานและกำจัดสาเหตุของการกด</a:t>
            </a:r>
            <a:endParaRPr lang="en-US" sz="1700" dirty="0"/>
          </a:p>
        </p:txBody>
      </p:sp>
      <p:sp>
        <p:nvSpPr>
          <p:cNvPr id="12" name="row-3"/>
          <p:cNvSpPr/>
          <p:nvPr/>
        </p:nvSpPr>
        <p:spPr>
          <a:xfrm>
            <a:off x="548640" y="2587752"/>
            <a:ext cx="11094415" cy="512064"/>
          </a:xfrm>
          <a:prstGeom prst="roundRect">
            <a:avLst>
              <a:gd name="adj" fmla="val 14286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3" name="mark-3"/>
          <p:cNvSpPr/>
          <p:nvPr/>
        </p:nvSpPr>
        <p:spPr>
          <a:xfrm>
            <a:off x="685800" y="2660904"/>
            <a:ext cx="365760" cy="365760"/>
          </a:xfrm>
          <a:prstGeom prst="ellipse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26609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2587752"/>
            <a:ext cx="102257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ก่อนเริ่มใหม่: ตรวจให้จุดป้อนและจุดถ่ายวัสดุไม่มีวัสดุค้าง ชิ้นส่วนต้นน้ำ/ปลายน้ำพร้อมใช้งาน</a:t>
            </a:r>
            <a:endParaRPr lang="en-US" sz="1700" dirty="0"/>
          </a:p>
        </p:txBody>
      </p:sp>
      <p:sp>
        <p:nvSpPr>
          <p:cNvPr id="16" name="row-4"/>
          <p:cNvSpPr/>
          <p:nvPr/>
        </p:nvSpPr>
        <p:spPr>
          <a:xfrm>
            <a:off x="548640" y="3172968"/>
            <a:ext cx="11094415" cy="512064"/>
          </a:xfrm>
          <a:prstGeom prst="roundRect">
            <a:avLst>
              <a:gd name="adj" fmla="val 14286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7" name="mark-4"/>
          <p:cNvSpPr/>
          <p:nvPr/>
        </p:nvSpPr>
        <p:spPr>
          <a:xfrm>
            <a:off x="685800" y="3246120"/>
            <a:ext cx="365760" cy="365760"/>
          </a:xfrm>
          <a:prstGeom prst="ellipse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5800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3172968"/>
            <a:ext cx="102257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ตรวจแนวสายพาน และตรวจ Tripper Car หาความผิดปกติ</a:t>
            </a:r>
            <a:endParaRPr lang="en-US" sz="1700" dirty="0"/>
          </a:p>
        </p:txBody>
      </p:sp>
      <p:sp>
        <p:nvSpPr>
          <p:cNvPr id="20" name="row-5"/>
          <p:cNvSpPr/>
          <p:nvPr/>
        </p:nvSpPr>
        <p:spPr>
          <a:xfrm>
            <a:off x="548640" y="3758184"/>
            <a:ext cx="11094415" cy="512064"/>
          </a:xfrm>
          <a:prstGeom prst="roundRect">
            <a:avLst>
              <a:gd name="adj" fmla="val 14286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21" name="mark-5"/>
          <p:cNvSpPr/>
          <p:nvPr/>
        </p:nvSpPr>
        <p:spPr>
          <a:xfrm>
            <a:off x="685800" y="3831336"/>
            <a:ext cx="365760" cy="365760"/>
          </a:xfrm>
          <a:prstGeom prst="ellipse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5800" y="38313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234440" y="3758184"/>
            <a:ext cx="102257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ขัน anchor bolt และ bolt ยึดซ้ำ ปรับ scraper และแถบซีลให้เหมาะสม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104</a:t>
            </a:fld>
            <a:endParaRPr lang="en-US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9 · Tripper Car Ü2200 สำหรับผู้ควบคุมเครื่อง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9.8 ทดสอบเดินหลังหยุดนาน (Test run) (1/2)</a:t>
            </a:r>
            <a:endParaRPr lang="en-US" sz="2800" dirty="0"/>
          </a:p>
        </p:txBody>
      </p:sp>
      <p:sp>
        <p:nvSpPr>
          <p:cNvPr id="4" name="row-1"/>
          <p:cNvSpPr/>
          <p:nvPr/>
        </p:nvSpPr>
        <p:spPr>
          <a:xfrm>
            <a:off x="548640" y="1417320"/>
            <a:ext cx="11094415" cy="1133856"/>
          </a:xfrm>
          <a:prstGeom prst="roundRect">
            <a:avLst>
              <a:gd name="adj" fmla="val 6452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5" name="mark-1"/>
          <p:cNvSpPr/>
          <p:nvPr/>
        </p:nvSpPr>
        <p:spPr>
          <a:xfrm>
            <a:off x="685800" y="1801368"/>
            <a:ext cx="365760" cy="365760"/>
          </a:xfrm>
          <a:prstGeom prst="ellipse">
            <a:avLst/>
          </a:prstGeom>
          <a:solidFill>
            <a:srgbClr val="F4A200"/>
          </a:solidFill>
          <a:ln w="12700">
            <a:solidFill>
              <a:srgbClr val="F4A2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34440" y="1417320"/>
            <a:ext cx="10225735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หลังหยุดนาน เช่นหลังซ่อม ต้องทดสอบเดินเปล่าก่อน การเดิน local (เดินแต่ละชุดเพื่อตรวจ/ซ่อม) ทำได้เฉพาะสภาวะไม่ interlock โดยผู้มีอำนาจ มีผู้เฝ้าสังเกต และ de-interlock ได้เฉพาะชุดเดิน (travel) และปั๊มจาระบี</a:t>
            </a:r>
            <a:endParaRPr lang="en-US" sz="1700" dirty="0"/>
          </a:p>
        </p:txBody>
      </p:sp>
      <p:sp>
        <p:nvSpPr>
          <p:cNvPr id="7" name="row-2"/>
          <p:cNvSpPr/>
          <p:nvPr/>
        </p:nvSpPr>
        <p:spPr>
          <a:xfrm>
            <a:off x="548640" y="2624328"/>
            <a:ext cx="11094415" cy="822960"/>
          </a:xfrm>
          <a:prstGeom prst="roundRect">
            <a:avLst>
              <a:gd name="adj" fmla="val 8889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8" name="mark-2"/>
          <p:cNvSpPr/>
          <p:nvPr/>
        </p:nvSpPr>
        <p:spPr>
          <a:xfrm>
            <a:off x="685800" y="2852928"/>
            <a:ext cx="365760" cy="365760"/>
          </a:xfrm>
          <a:prstGeom prst="ellipse">
            <a:avLst/>
          </a:prstGeom>
          <a:solidFill>
            <a:srgbClr val="F4A200"/>
          </a:solidFill>
          <a:ln w="12700">
            <a:solidFill>
              <a:srgbClr val="F4A2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34440" y="2624328"/>
            <a:ext cx="102257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ก่อนเดิน: หล่อลื่นทุกจุดใหม่ ตรวจอุปกรณ์ความปลอดภัยครบและทำงาน ตรวจสิ่งแปลกปลอม ตรวจชิ้นส่วนกลและไฟฟ้าตามลำดับการทำงาน ให้ชิ้นส่วนถึงอุณหภูมิใช้งาน</a:t>
            </a:r>
            <a:endParaRPr lang="en-US" sz="1700" dirty="0"/>
          </a:p>
        </p:txBody>
      </p:sp>
      <p:sp>
        <p:nvSpPr>
          <p:cNvPr id="10" name="row-3"/>
          <p:cNvSpPr/>
          <p:nvPr/>
        </p:nvSpPr>
        <p:spPr>
          <a:xfrm>
            <a:off x="548640" y="3520440"/>
            <a:ext cx="11094415" cy="822960"/>
          </a:xfrm>
          <a:prstGeom prst="roundRect">
            <a:avLst>
              <a:gd name="adj" fmla="val 8889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1" name="mark-3"/>
          <p:cNvSpPr/>
          <p:nvPr/>
        </p:nvSpPr>
        <p:spPr>
          <a:xfrm>
            <a:off x="685800" y="3749040"/>
            <a:ext cx="365760" cy="365760"/>
          </a:xfrm>
          <a:prstGeom prst="ellipse">
            <a:avLst/>
          </a:prstGeom>
          <a:solidFill>
            <a:srgbClr val="F4A200"/>
          </a:solidFill>
          <a:ln w="12700">
            <a:solidFill>
              <a:srgbClr val="F4A20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234440" y="3520440"/>
            <a:ext cx="102257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ระหว่างทดสอบ: ทิศหมุนของมอเตอร์ การทำงานราบรื่น ค่าพารามิเตอร์ (อุณหภูมิ การสั่น ความดัน) อยู่ในเกณฑ์ ระบบควบคุมและจอแสดงผลถูกต้อง และตรวจการวิ่งตรงของสายพาน</a:t>
            </a:r>
            <a:endParaRPr lang="en-US" sz="1700" dirty="0"/>
          </a:p>
        </p:txBody>
      </p:sp>
      <p:sp>
        <p:nvSpPr>
          <p:cNvPr id="13" name="row-4"/>
          <p:cNvSpPr/>
          <p:nvPr/>
        </p:nvSpPr>
        <p:spPr>
          <a:xfrm>
            <a:off x="548640" y="4416552"/>
            <a:ext cx="11094415" cy="512064"/>
          </a:xfrm>
          <a:prstGeom prst="roundRect">
            <a:avLst>
              <a:gd name="adj" fmla="val 14286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4" name="mark-4"/>
          <p:cNvSpPr/>
          <p:nvPr/>
        </p:nvSpPr>
        <p:spPr>
          <a:xfrm>
            <a:off x="685800" y="4489704"/>
            <a:ext cx="365760" cy="365760"/>
          </a:xfrm>
          <a:prstGeom prst="ellipse">
            <a:avLst/>
          </a:prstGeom>
          <a:solidFill>
            <a:srgbClr val="F4A200"/>
          </a:solidFill>
          <a:ln w="12700">
            <a:solidFill>
              <a:srgbClr val="F4A20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234440" y="4416552"/>
            <a:ext cx="102257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ห้ามเพิ่มแรงตึงสายพานเพื่อแก้การวิ่งเบี้ยว ตึงเพียงให้ drive pulley ไม่ลื่นขณะสตาร์ท</a:t>
            </a:r>
            <a:endParaRPr lang="en-US" sz="1700" dirty="0"/>
          </a:p>
        </p:txBody>
      </p:sp>
      <p:sp>
        <p:nvSpPr>
          <p:cNvPr id="16" name="row-5"/>
          <p:cNvSpPr/>
          <p:nvPr/>
        </p:nvSpPr>
        <p:spPr>
          <a:xfrm>
            <a:off x="548640" y="5001768"/>
            <a:ext cx="11094415" cy="1133856"/>
          </a:xfrm>
          <a:prstGeom prst="roundRect">
            <a:avLst>
              <a:gd name="adj" fmla="val 6452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7" name="mark-5"/>
          <p:cNvSpPr/>
          <p:nvPr/>
        </p:nvSpPr>
        <p:spPr>
          <a:xfrm>
            <a:off x="685800" y="5385816"/>
            <a:ext cx="365760" cy="365760"/>
          </a:xfrm>
          <a:prstGeom prst="ellipse">
            <a:avLst/>
          </a:prstGeom>
          <a:solidFill>
            <a:srgbClr val="F4A200"/>
          </a:solidFill>
          <a:ln w="12700">
            <a:solidFill>
              <a:srgbClr val="F4A20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234440" y="5001768"/>
            <a:ext cx="10225735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สายพานวิ่งเบี้ยว: แก้ด้วย control idler ก่อน แล้วจึงปรับ carrying idler (ตัวที่ 2–3 หลังจุดที่เบี้ยว) โดยเลื่อนขา idler ฝั่งที่สายพานวิ่งไปให้เอียงไปทางทิศทางลำเลียง สายพานที่วิ่งดีตอนทดสอบอาจเบี้ยวเมื่อป้อนวัสดุครั้งแรก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105</a:t>
            </a:fld>
            <a:endParaRPr lang="en-US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9 · Tripper Car Ü2200 สำหรับผู้ควบคุมเครื่อง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9.8 ทดสอบเดินหลังหยุดนาน (Test run) (2/2)</a:t>
            </a:r>
            <a:endParaRPr lang="en-US" sz="2800" dirty="0"/>
          </a:p>
        </p:txBody>
      </p:sp>
      <p:sp>
        <p:nvSpPr>
          <p:cNvPr id="4" name="row-6"/>
          <p:cNvSpPr/>
          <p:nvPr/>
        </p:nvSpPr>
        <p:spPr>
          <a:xfrm>
            <a:off x="548640" y="1417320"/>
            <a:ext cx="11094415" cy="512064"/>
          </a:xfrm>
          <a:prstGeom prst="roundRect">
            <a:avLst>
              <a:gd name="adj" fmla="val 14286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5" name="mark-6"/>
          <p:cNvSpPr/>
          <p:nvPr/>
        </p:nvSpPr>
        <p:spPr>
          <a:xfrm>
            <a:off x="685800" y="1490472"/>
            <a:ext cx="365760" cy="365760"/>
          </a:xfrm>
          <a:prstGeom prst="ellipse">
            <a:avLst/>
          </a:prstGeom>
          <a:solidFill>
            <a:srgbClr val="F4A200"/>
          </a:solidFill>
          <a:ln w="12700">
            <a:solidFill>
              <a:srgbClr val="F4A2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34440" y="1417320"/>
            <a:ext cx="102257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หลังทดสอบ: ตรวจแรงตึงสายพาน ขัน anchor bolt ทุกตัว ตรวจจุดหล่อลื่นตามคู่มือ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106</a:t>
            </a:fld>
            <a:endParaRPr lang="en-US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9 · Tripper Car Ü2200 สำหรับผู้ควบคุมเครื่อง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9.9 พายุและการหยุดเครื่องเพื่อบำรุงรักษา</a:t>
            </a:r>
            <a:endParaRPr lang="en-US" sz="2800" dirty="0"/>
          </a:p>
        </p:txBody>
      </p:sp>
      <p:sp>
        <p:nvSpPr>
          <p:cNvPr id="4" name="row-1"/>
          <p:cNvSpPr/>
          <p:nvPr/>
        </p:nvSpPr>
        <p:spPr>
          <a:xfrm>
            <a:off x="548640" y="1417320"/>
            <a:ext cx="11094415" cy="822960"/>
          </a:xfrm>
          <a:prstGeom prst="roundRect">
            <a:avLst>
              <a:gd name="adj" fmla="val 8889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5" name="mark-1"/>
          <p:cNvSpPr/>
          <p:nvPr/>
        </p:nvSpPr>
        <p:spPr>
          <a:xfrm>
            <a:off x="685800" y="1645920"/>
            <a:ext cx="365760" cy="365760"/>
          </a:xfrm>
          <a:prstGeom prst="ellipse">
            <a:avLst/>
          </a:prstGeom>
          <a:solidFill>
            <a:srgbClr val="F4A200"/>
          </a:solidFill>
          <a:ln w="12700">
            <a:solidFill>
              <a:srgbClr val="F4A2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34440" y="1417320"/>
            <a:ext cx="102257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เมื่อแรงลมเกิน 250 N/m² (20 m/s) ต้องหยุดใช้เครื่อง: ปล่อยสายพานจนว่าง ปิดระบบสายพาน หยุดการทำงานทั้งหมดของ Tripper Car และออกจากเครื่อง</a:t>
            </a:r>
            <a:endParaRPr lang="en-US" sz="1700" dirty="0"/>
          </a:p>
        </p:txBody>
      </p:sp>
      <p:sp>
        <p:nvSpPr>
          <p:cNvPr id="7" name="row-2"/>
          <p:cNvSpPr/>
          <p:nvPr/>
        </p:nvSpPr>
        <p:spPr>
          <a:xfrm>
            <a:off x="548640" y="2313432"/>
            <a:ext cx="11094415" cy="822960"/>
          </a:xfrm>
          <a:prstGeom prst="roundRect">
            <a:avLst>
              <a:gd name="adj" fmla="val 8889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8" name="mark-2"/>
          <p:cNvSpPr/>
          <p:nvPr/>
        </p:nvSpPr>
        <p:spPr>
          <a:xfrm>
            <a:off x="685800" y="2542032"/>
            <a:ext cx="365760" cy="365760"/>
          </a:xfrm>
          <a:prstGeom prst="ellipse">
            <a:avLst/>
          </a:prstGeom>
          <a:solidFill>
            <a:srgbClr val="F4A200"/>
          </a:solidFill>
          <a:ln w="12700">
            <a:solidFill>
              <a:srgbClr val="F4A2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34440" y="2313432"/>
            <a:ext cx="102257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หยุดเพื่อซ่อมบำรุง: ปล่อยเครื่องว่าง ปิดสายพาน และป้องกันการสตาร์ทโดยไม่ได้รับอนุญาต (LOTO) แม้ปิดแล้วระบบไฟฟ้ายังมีไฟ งานไฟฟ้าต้องเป็นช่างไฟที่มีคุณสมบัติและตัดไฟ/ล็อคเพิ่ม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107</a:t>
            </a:fld>
            <a:endParaRPr lang="en-US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9 · Tripper Car Ü2200 สำหรับผู้ควบคุมเครื่อง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9.10 การเลื่อน bench conveyor และการย้ายตำแหน่ง Tripper Car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ขณะเลื่อน bench conveyor ให้จอด Tripper Car ไว้ที่ปลายราง (ถอด switch actuator ของรางที่ใช้จำกัดระยะเดินออก) แล้วเดินไปปลายอีกฝั่งด้วยทางโค้งรูปตัว S รัศมีเลี้ยวต้องไม่ต่ำกว่า 200 ม. ต้องเปิด rail clamp ระหว่างเลื่อน และตรวจรางสองข้างหลังเลื่อนเสร็จเพื่อกันเสถียรภาพเสียจากรางหัก</a:t>
            </a:r>
            <a:endParaRPr lang="en-US" sz="1500" dirty="0"/>
          </a:p>
        </p:txBody>
      </p:sp>
      <p:graphicFrame>
        <p:nvGraphicFramePr>
          <p:cNvPr id="10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77440"/>
          <a:ext cx="11094415" cy="914400"/>
        </p:xfrm>
        <a:graphic>
          <a:graphicData uri="http://schemas.openxmlformats.org/drawingml/2006/table">
            <a:tbl>
              <a:tblPr/>
              <a:tblGrid>
                <a:gridCol w="6656649"/>
                <a:gridCol w="4437766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ชิ้นส่วน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น้ำหนักโดยประมาณ (kg)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935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Trailer I รวม bogie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21,000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935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Trailer II รวม bogie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15,500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45935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Portal รวม bogie 6 ล้อ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260,000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935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Support car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42,500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45935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Bogie 8 ล้อของ portal (2 ชุด)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12,500 ต่อชุด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108</a:t>
            </a:fld>
            <a:endParaRPr lang="en-US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9 · Tripper Car Ü2200 สำหรับผู้ควบคุมเครื่อง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9.10 การเลื่อน bench conveyor และการย้ายตำแหน่ง Tripper Car (1/2)</a:t>
            </a:r>
            <a:endParaRPr lang="en-US" sz="2800" dirty="0"/>
          </a:p>
        </p:txBody>
      </p:sp>
      <p:sp>
        <p:nvSpPr>
          <p:cNvPr id="4" name="row-1"/>
          <p:cNvSpPr/>
          <p:nvPr/>
        </p:nvSpPr>
        <p:spPr>
          <a:xfrm>
            <a:off x="548640" y="1417320"/>
            <a:ext cx="11094415" cy="822960"/>
          </a:xfrm>
          <a:prstGeom prst="roundRect">
            <a:avLst>
              <a:gd name="adj" fmla="val 8889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5" name="mark-1"/>
          <p:cNvSpPr/>
          <p:nvPr/>
        </p:nvSpPr>
        <p:spPr>
          <a:xfrm>
            <a:off x="685800" y="1645920"/>
            <a:ext cx="365760" cy="365760"/>
          </a:xfrm>
          <a:prstGeom prst="ellipse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417320"/>
            <a:ext cx="102257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เตรียมพื้นที่เรียบที่รับน้ำหนักได้ ปล่อยสายพานทั้งไลน์ให้ว่าง หยุดทั้งไลน์ และ LOTO เครื่องที่เกี่ยวข้อง (bench conveyor, Tripper Car, Spreader)</a:t>
            </a:r>
            <a:endParaRPr lang="en-US" sz="1700" dirty="0"/>
          </a:p>
        </p:txBody>
      </p:sp>
      <p:sp>
        <p:nvSpPr>
          <p:cNvPr id="8" name="row-2"/>
          <p:cNvSpPr/>
          <p:nvPr/>
        </p:nvSpPr>
        <p:spPr>
          <a:xfrm>
            <a:off x="548640" y="2313432"/>
            <a:ext cx="11094415" cy="822960"/>
          </a:xfrm>
          <a:prstGeom prst="roundRect">
            <a:avLst>
              <a:gd name="adj" fmla="val 8889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9" name="mark-2"/>
          <p:cNvSpPr/>
          <p:nvPr/>
        </p:nvSpPr>
        <p:spPr>
          <a:xfrm>
            <a:off x="685800" y="2542032"/>
            <a:ext cx="365760" cy="365760"/>
          </a:xfrm>
          <a:prstGeom prst="ellipse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25420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313432"/>
            <a:ext cx="102257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ยึดแต่ละส่วนของ Tripper Car และ Support car แยกกันเพิ่มจาก rail clamp ผ่อนสายพาน bench conveyor ด้วยระบบปรับตึง</a:t>
            </a:r>
            <a:endParaRPr lang="en-US" sz="1700" dirty="0"/>
          </a:p>
        </p:txBody>
      </p:sp>
      <p:sp>
        <p:nvSpPr>
          <p:cNvPr id="12" name="row-3"/>
          <p:cNvSpPr/>
          <p:nvPr/>
        </p:nvSpPr>
        <p:spPr>
          <a:xfrm>
            <a:off x="548640" y="3209544"/>
            <a:ext cx="11094415" cy="822960"/>
          </a:xfrm>
          <a:prstGeom prst="roundRect">
            <a:avLst>
              <a:gd name="adj" fmla="val 8889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3" name="mark-3"/>
          <p:cNvSpPr/>
          <p:nvPr/>
        </p:nvSpPr>
        <p:spPr>
          <a:xfrm>
            <a:off x="685800" y="3438144"/>
            <a:ext cx="365760" cy="365760"/>
          </a:xfrm>
          <a:prstGeom prst="ellipse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34381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3209544"/>
            <a:ext cx="102257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ตัดไฟและถอดการเชื่อมต่อไฟฟ้าระหว่าง Tripper Car–Spreader, ระหว่างส่วนต่างๆ ของ Tripper Car และสายดินกับ Tripper Car (ช่างไฟที่มีคุณสมบัติเท่านั้น)</a:t>
            </a:r>
            <a:endParaRPr lang="en-US" sz="1700" dirty="0"/>
          </a:p>
        </p:txBody>
      </p:sp>
      <p:sp>
        <p:nvSpPr>
          <p:cNvPr id="16" name="row-4"/>
          <p:cNvSpPr/>
          <p:nvPr/>
        </p:nvSpPr>
        <p:spPr>
          <a:xfrm>
            <a:off x="548640" y="4105656"/>
            <a:ext cx="11094415" cy="822960"/>
          </a:xfrm>
          <a:prstGeom prst="roundRect">
            <a:avLst>
              <a:gd name="adj" fmla="val 8889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7" name="mark-4"/>
          <p:cNvSpPr/>
          <p:nvPr/>
        </p:nvSpPr>
        <p:spPr>
          <a:xfrm>
            <a:off x="685800" y="4334256"/>
            <a:ext cx="365760" cy="365760"/>
          </a:xfrm>
          <a:prstGeom prst="ellipse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5800" y="43342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4105656"/>
            <a:ext cx="102257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ล้างทำความสะอาด Tripper Car และสะพาน Spreader ให้หมดวัสดุพอก (ระวังน้ำแรงดันสูง/ไอน้ำ: ปิดช่องเปิด ห้ามฉีดใส่อุปกรณ์ไฟฟ้า) แล้วถอดสะพานออกจาก Support car</a:t>
            </a:r>
            <a:endParaRPr lang="en-US" sz="1700" dirty="0"/>
          </a:p>
        </p:txBody>
      </p:sp>
      <p:sp>
        <p:nvSpPr>
          <p:cNvPr id="20" name="row-5"/>
          <p:cNvSpPr/>
          <p:nvPr/>
        </p:nvSpPr>
        <p:spPr>
          <a:xfrm>
            <a:off x="548640" y="5001768"/>
            <a:ext cx="11094415" cy="822960"/>
          </a:xfrm>
          <a:prstGeom prst="roundRect">
            <a:avLst>
              <a:gd name="adj" fmla="val 8889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21" name="mark-5"/>
          <p:cNvSpPr/>
          <p:nvPr/>
        </p:nvSpPr>
        <p:spPr>
          <a:xfrm>
            <a:off x="685800" y="5230368"/>
            <a:ext cx="365760" cy="365760"/>
          </a:xfrm>
          <a:prstGeom prst="ellipse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5800" y="52303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234440" y="5001768"/>
            <a:ext cx="102257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เปิดรอยต่อสายพาน bench conveyor และดึงสายพานออกจาก Tripper Car โดยผู้ชำนาญและมีมาตรการกันสายพานเลื่อนไหล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109</a:t>
            </a:fld>
            <a:endParaRPr lang="en-US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9 · Tripper Car Ü2200 สำหรับผู้ควบคุมเครื่อง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9.10 การเลื่อน bench conveyor และการย้ายตำแหน่ง Tripper Car (2/2)</a:t>
            </a:r>
            <a:endParaRPr lang="en-US" sz="2800" dirty="0"/>
          </a:p>
        </p:txBody>
      </p:sp>
      <p:sp>
        <p:nvSpPr>
          <p:cNvPr id="4" name="row-6"/>
          <p:cNvSpPr/>
          <p:nvPr/>
        </p:nvSpPr>
        <p:spPr>
          <a:xfrm>
            <a:off x="548640" y="1417320"/>
            <a:ext cx="11094415" cy="822960"/>
          </a:xfrm>
          <a:prstGeom prst="roundRect">
            <a:avLst>
              <a:gd name="adj" fmla="val 8889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5" name="mark-6"/>
          <p:cNvSpPr/>
          <p:nvPr/>
        </p:nvSpPr>
        <p:spPr>
          <a:xfrm>
            <a:off x="685800" y="1645920"/>
            <a:ext cx="365760" cy="365760"/>
          </a:xfrm>
          <a:prstGeom prst="ellipse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417320"/>
            <a:ext cx="102257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ใช้เครนรับน้ำหนัก Trailer I พิจารณาจุดศูนย์ถ่วง ยึด bogie กันเคลื่อน จึงถอด bolt เชื่อมต่อกับ Trailer II แล้วยกออก (ลมต้องไม่เกิน 20 m/s) จากนั้นทำ Trailer II และ Portal ตามลำดับ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110</a:t>
            </a:fld>
            <a:endParaRPr lang="en-US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9 · Tripper Car Ü2200 สำหรับผู้ควบคุมเครื่อง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9.10 การเลื่อน bench conveyor และการย้ายตำแหน่ง Tripper Car</a:t>
            </a:r>
            <a:endParaRPr lang="en-US" sz="2800" dirty="0"/>
          </a:p>
        </p:txBody>
      </p:sp>
      <p:sp>
        <p:nvSpPr>
          <p:cNvPr id="4" name="callout-card"/>
          <p:cNvSpPr/>
          <p:nvPr/>
        </p:nvSpPr>
        <p:spPr>
          <a:xfrm>
            <a:off x="548640" y="1737360"/>
            <a:ext cx="11094415" cy="2359152"/>
          </a:xfrm>
          <a:prstGeom prst="roundRect">
            <a:avLst>
              <a:gd name="adj" fmla="val 5814"/>
            </a:avLst>
          </a:prstGeom>
          <a:solidFill>
            <a:srgbClr val="FDECEC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5" name="callout-badge"/>
          <p:cNvSpPr/>
          <p:nvPr/>
        </p:nvSpPr>
        <p:spPr>
          <a:xfrm>
            <a:off x="914400" y="2505456"/>
            <a:ext cx="822960" cy="82296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505456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!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2011680" y="1874520"/>
            <a:ext cx="9265615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DC26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อันตราย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งานย้ายตำแหน่งกระทบเสถียรภาพของ Tripper Car และ Spreader ต้องทำโดยผู้มีประสบการณ์และคุณสมบัติเท่านั้น ห้ามถอด bolt เชื่อมก่อนรับน้ำหนักด้วยเครน มิฉะนั้นชิ้นส่วนจะตกลงมา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111</a:t>
            </a:fld>
            <a:endParaRPr lang="en-US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9 · Tripper Car Ü2200 สำหรับผู้ควบคุมเครื่อง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9.11 อาการขัดข้องและการแก้ไข</a:t>
            </a:r>
            <a:endParaRPr lang="en-US" sz="2800" dirty="0"/>
          </a:p>
        </p:txBody>
      </p:sp>
      <p:sp>
        <p:nvSpPr>
          <p:cNvPr id="4" name="row-1"/>
          <p:cNvSpPr/>
          <p:nvPr/>
        </p:nvSpPr>
        <p:spPr>
          <a:xfrm>
            <a:off x="548640" y="1417320"/>
            <a:ext cx="11094415" cy="822960"/>
          </a:xfrm>
          <a:prstGeom prst="roundRect">
            <a:avLst>
              <a:gd name="adj" fmla="val 8889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5" name="mark-1"/>
          <p:cNvSpPr/>
          <p:nvPr/>
        </p:nvSpPr>
        <p:spPr>
          <a:xfrm>
            <a:off x="685800" y="1645920"/>
            <a:ext cx="365760" cy="365760"/>
          </a:xfrm>
          <a:prstGeom prst="ellipse">
            <a:avLst/>
          </a:prstGeom>
          <a:solidFill>
            <a:srgbClr val="F4A200"/>
          </a:solidFill>
          <a:ln w="12700">
            <a:solidFill>
              <a:srgbClr val="F4A2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34440" y="1417320"/>
            <a:ext cx="102257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ข้อผิดพลาดส่วนใหญ่แสดงบนจอที่ห้องควบคุม Spreader เป็นข้อความจาก PLC (เตือนหรือเตือนพร้อมหยุดเครื่อง) ดูรายละเอียดใน Electrotechnical Documentation</a:t>
            </a:r>
            <a:endParaRPr lang="en-US" sz="1700" dirty="0"/>
          </a:p>
        </p:txBody>
      </p:sp>
      <p:sp>
        <p:nvSpPr>
          <p:cNvPr id="7" name="row-2"/>
          <p:cNvSpPr/>
          <p:nvPr/>
        </p:nvSpPr>
        <p:spPr>
          <a:xfrm>
            <a:off x="548640" y="2313432"/>
            <a:ext cx="11094415" cy="822960"/>
          </a:xfrm>
          <a:prstGeom prst="roundRect">
            <a:avLst>
              <a:gd name="adj" fmla="val 8889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8" name="mark-2"/>
          <p:cNvSpPr/>
          <p:nvPr/>
        </p:nvSpPr>
        <p:spPr>
          <a:xfrm>
            <a:off x="685800" y="2542032"/>
            <a:ext cx="365760" cy="365760"/>
          </a:xfrm>
          <a:prstGeom prst="ellipse">
            <a:avLst/>
          </a:prstGeom>
          <a:solidFill>
            <a:srgbClr val="F4A200"/>
          </a:solidFill>
          <a:ln w="12700">
            <a:solidFill>
              <a:srgbClr val="F4A2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34440" y="2313432"/>
            <a:ext cx="102257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ข้อบกพร่องที่ไม่แสดงต้องหาสาเหตุและแก้โดยเร็ว: หยุดเครื่องตามขั้นตอนและป้องกันการสตาร์ท ล็อคอุปกรณ์ควบคุมหลักหรือติดป้ายเตือน กั้นพื้นที่ซ่อมบำรุง แจ้งผู้ปฏิบัติงานและแต่งตั้งผู้ควบคุมงาน</a:t>
            </a:r>
            <a:endParaRPr lang="en-US" sz="1700" dirty="0"/>
          </a:p>
        </p:txBody>
      </p:sp>
      <p:sp>
        <p:nvSpPr>
          <p:cNvPr id="10" name="row-3"/>
          <p:cNvSpPr/>
          <p:nvPr/>
        </p:nvSpPr>
        <p:spPr>
          <a:xfrm>
            <a:off x="548640" y="3209544"/>
            <a:ext cx="11094415" cy="822960"/>
          </a:xfrm>
          <a:prstGeom prst="roundRect">
            <a:avLst>
              <a:gd name="adj" fmla="val 8889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1" name="mark-3"/>
          <p:cNvSpPr/>
          <p:nvPr/>
        </p:nvSpPr>
        <p:spPr>
          <a:xfrm>
            <a:off x="685800" y="3438144"/>
            <a:ext cx="365760" cy="365760"/>
          </a:xfrm>
          <a:prstGeom prst="ellipse">
            <a:avLst/>
          </a:prstGeom>
          <a:solidFill>
            <a:srgbClr val="F4A200"/>
          </a:solidFill>
          <a:ln w="12700">
            <a:solidFill>
              <a:srgbClr val="F4A20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234440" y="3209544"/>
            <a:ext cx="102257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ลูกปืนหรือเกียร์เสียงดังมาก: อาจเสียหายรุนแรง ให้ผู้เชี่ยวชาญประเมิน ซ่อมตามความจำเป็น และตรวจ/ปรับปรุงการหล่อลื่น</a:t>
            </a:r>
            <a:endParaRPr lang="en-US" sz="1700" dirty="0"/>
          </a:p>
        </p:txBody>
      </p:sp>
      <p:sp>
        <p:nvSpPr>
          <p:cNvPr id="13" name="row-4"/>
          <p:cNvSpPr/>
          <p:nvPr/>
        </p:nvSpPr>
        <p:spPr>
          <a:xfrm>
            <a:off x="548640" y="4105656"/>
            <a:ext cx="11094415" cy="822960"/>
          </a:xfrm>
          <a:prstGeom prst="roundRect">
            <a:avLst>
              <a:gd name="adj" fmla="val 8889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4" name="mark-4"/>
          <p:cNvSpPr/>
          <p:nvPr/>
        </p:nvSpPr>
        <p:spPr>
          <a:xfrm>
            <a:off x="685800" y="4334256"/>
            <a:ext cx="365760" cy="365760"/>
          </a:xfrm>
          <a:prstGeom prst="ellipse">
            <a:avLst/>
          </a:prstGeom>
          <a:solidFill>
            <a:srgbClr val="F4A200"/>
          </a:solidFill>
          <a:ln w="12700">
            <a:solidFill>
              <a:srgbClr val="F4A20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234440" y="4105656"/>
            <a:ext cx="102257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งานระบบไฮดรอลิกต้องเป็นผู้ผ่านการฝึกเท่านั้น และต้องจดบันทึกว่าอาการเกิดเมื่อใด เงื่อนไขใด และถี่เพียงใด เพื่อวินิจฉัย</a:t>
            </a:r>
            <a:endParaRPr lang="en-US" sz="1700" dirty="0"/>
          </a:p>
        </p:txBody>
      </p:sp>
      <p:sp>
        <p:nvSpPr>
          <p:cNvPr id="16" name="row-5"/>
          <p:cNvSpPr/>
          <p:nvPr/>
        </p:nvSpPr>
        <p:spPr>
          <a:xfrm>
            <a:off x="548640" y="5001768"/>
            <a:ext cx="11094415" cy="822960"/>
          </a:xfrm>
          <a:prstGeom prst="roundRect">
            <a:avLst>
              <a:gd name="adj" fmla="val 8889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7" name="mark-5"/>
          <p:cNvSpPr/>
          <p:nvPr/>
        </p:nvSpPr>
        <p:spPr>
          <a:xfrm>
            <a:off x="685800" y="5230368"/>
            <a:ext cx="365760" cy="365760"/>
          </a:xfrm>
          <a:prstGeom prst="ellipse">
            <a:avLst/>
          </a:prstGeom>
          <a:solidFill>
            <a:srgbClr val="F4A200"/>
          </a:solidFill>
          <a:ln w="12700">
            <a:solidFill>
              <a:srgbClr val="F4A20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234440" y="5001768"/>
            <a:ext cx="102257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หลังแก้ไข ต้องรีเซ็ต (acknowledge) ข้อความผิดพลาด และเริ่มเดินใหม่ได้เมื่อผู้รับผิดชอบยืนยันว่างานเสร็จจริง เครื่องปลอดภัย และทุกคนออกจากเครื่องและพื้นที่แล้ว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112</a:t>
            </a:fld>
            <a:endParaRPr lang="en-US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vider-circle"/>
          <p:cNvSpPr/>
          <p:nvPr/>
        </p:nvSpPr>
        <p:spPr>
          <a:xfrm>
            <a:off x="7680960" y="1280160"/>
            <a:ext cx="4937760" cy="4937760"/>
          </a:xfrm>
          <a:prstGeom prst="ellipse">
            <a:avLst/>
          </a:prstGeom>
          <a:solidFill>
            <a:srgbClr val="1A5FA8">
              <a:alpha val="45000"/>
            </a:srgbClr>
          </a:solidFill>
          <a:ln w="12700">
            <a:solidFill>
              <a:srgbClr val="1A5FA8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680960" y="265176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10</a:t>
            </a:r>
            <a:endParaRPr lang="en-US" sz="9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28600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A2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10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834640"/>
            <a:ext cx="6949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ข้อกำหนดความปลอดภัยเพิ่มเติมจากคู่มือผู้ผลิต</a:t>
            </a:r>
            <a:endParaRPr lang="en-US" sz="3600" dirty="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10 · ข้อกำหนดความปลอดภัยเพิ่มเติมจากคู่มือผู้ผลิต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10.1 อุปกรณ์ป้องกันส่วนบุคคล (PPE)</a:t>
            </a:r>
            <a:endParaRPr lang="en-US" sz="2800" dirty="0"/>
          </a:p>
        </p:txBody>
      </p:sp>
      <p:sp>
        <p:nvSpPr>
          <p:cNvPr id="4" name="row-1"/>
          <p:cNvSpPr/>
          <p:nvPr/>
        </p:nvSpPr>
        <p:spPr>
          <a:xfrm>
            <a:off x="548640" y="1417320"/>
            <a:ext cx="11094415" cy="512064"/>
          </a:xfrm>
          <a:prstGeom prst="roundRect">
            <a:avLst>
              <a:gd name="adj" fmla="val 14286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5" name="mark-1"/>
          <p:cNvSpPr/>
          <p:nvPr/>
        </p:nvSpPr>
        <p:spPr>
          <a:xfrm>
            <a:off x="685800" y="1490472"/>
            <a:ext cx="365760" cy="365760"/>
          </a:xfrm>
          <a:prstGeom prst="ellipse">
            <a:avLst/>
          </a:prstGeom>
          <a:solidFill>
            <a:srgbClr val="F4A200"/>
          </a:solidFill>
          <a:ln w="12700">
            <a:solidFill>
              <a:srgbClr val="F4A2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34440" y="1417320"/>
            <a:ext cx="102257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อย่างน้อย: หมวกนิรภัย รองเท้านิรภัย แว่นนิรภัย ที่ป้องกันหู ถุงมือ และอุปกรณ์ป้องกันการตก</a:t>
            </a:r>
            <a:endParaRPr lang="en-US" sz="1700" dirty="0"/>
          </a:p>
        </p:txBody>
      </p:sp>
      <p:sp>
        <p:nvSpPr>
          <p:cNvPr id="7" name="row-2"/>
          <p:cNvSpPr/>
          <p:nvPr/>
        </p:nvSpPr>
        <p:spPr>
          <a:xfrm>
            <a:off x="548640" y="2002536"/>
            <a:ext cx="11094415" cy="822960"/>
          </a:xfrm>
          <a:prstGeom prst="roundRect">
            <a:avLst>
              <a:gd name="adj" fmla="val 8889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8" name="mark-2"/>
          <p:cNvSpPr/>
          <p:nvPr/>
        </p:nvSpPr>
        <p:spPr>
          <a:xfrm>
            <a:off x="685800" y="2231136"/>
            <a:ext cx="365760" cy="365760"/>
          </a:xfrm>
          <a:prstGeom prst="ellipse">
            <a:avLst/>
          </a:prstGeom>
          <a:solidFill>
            <a:srgbClr val="F4A200"/>
          </a:solidFill>
          <a:ln w="12700">
            <a:solidFill>
              <a:srgbClr val="F4A2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34440" y="2002536"/>
            <a:ext cx="102257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งานกับส่วนที่มีไฟถึง 1,000 V: ชุดฉนวนป้องกันไฟ เสื้อผ้ากันสนามไฟ ถุงมือ/แขนฉนวน รองเท้าฉนวน ฝาครอบป้องกัน เครื่องมือหุ้มฉนวน และเครื่องวัดแรงดันแบบสองขั้ว</a:t>
            </a:r>
            <a:endParaRPr lang="en-US" sz="1700" dirty="0"/>
          </a:p>
        </p:txBody>
      </p:sp>
      <p:sp>
        <p:nvSpPr>
          <p:cNvPr id="10" name="row-3"/>
          <p:cNvSpPr/>
          <p:nvPr/>
        </p:nvSpPr>
        <p:spPr>
          <a:xfrm>
            <a:off x="548640" y="2898648"/>
            <a:ext cx="11094415" cy="512064"/>
          </a:xfrm>
          <a:prstGeom prst="roundRect">
            <a:avLst>
              <a:gd name="adj" fmla="val 14286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1" name="mark-3"/>
          <p:cNvSpPr/>
          <p:nvPr/>
        </p:nvSpPr>
        <p:spPr>
          <a:xfrm>
            <a:off x="685800" y="2971800"/>
            <a:ext cx="365760" cy="365760"/>
          </a:xfrm>
          <a:prstGeom prst="ellipse">
            <a:avLst/>
          </a:prstGeom>
          <a:solidFill>
            <a:srgbClr val="F4A200"/>
          </a:solidFill>
          <a:ln w="12700">
            <a:solidFill>
              <a:srgbClr val="F4A20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234440" y="2898648"/>
            <a:ext cx="102257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ตรวจสภาพ PPE ด้วยสายตาก่อนใช้ทุกครั้ง และรายงานสิ่งที่ชำรุดเพื่อเปลี่ยนใหม่</a:t>
            </a:r>
            <a:endParaRPr lang="en-US" sz="1700" dirty="0"/>
          </a:p>
        </p:txBody>
      </p:sp>
      <p:sp>
        <p:nvSpPr>
          <p:cNvPr id="13" name="row-4"/>
          <p:cNvSpPr/>
          <p:nvPr/>
        </p:nvSpPr>
        <p:spPr>
          <a:xfrm>
            <a:off x="548640" y="3483864"/>
            <a:ext cx="11094415" cy="512064"/>
          </a:xfrm>
          <a:prstGeom prst="roundRect">
            <a:avLst>
              <a:gd name="adj" fmla="val 14286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4" name="mark-4"/>
          <p:cNvSpPr/>
          <p:nvPr/>
        </p:nvSpPr>
        <p:spPr>
          <a:xfrm>
            <a:off x="685800" y="3557016"/>
            <a:ext cx="365760" cy="365760"/>
          </a:xfrm>
          <a:prstGeom prst="ellipse">
            <a:avLst/>
          </a:prstGeom>
          <a:solidFill>
            <a:srgbClr val="F4A200"/>
          </a:solidFill>
          <a:ln w="12700">
            <a:solidFill>
              <a:srgbClr val="F4A20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234440" y="3483864"/>
            <a:ext cx="102257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เสียงดังถึงเกณฑ์ 85 dBA ต้องใช้ที่ป้องกันหู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114</a:t>
            </a:fld>
            <a:endParaRPr lang="en-US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10 · ข้อกำหนดความปลอดภัยเพิ่มเติมจากคู่มือผู้ผลิต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10.2 การล็อค/ติดป้าย (Lockout/Tag out) ตามผู้ผลิต</a:t>
            </a:r>
            <a:endParaRPr lang="en-US" sz="2800" dirty="0"/>
          </a:p>
        </p:txBody>
      </p:sp>
      <p:sp>
        <p:nvSpPr>
          <p:cNvPr id="4" name="row-1"/>
          <p:cNvSpPr/>
          <p:nvPr/>
        </p:nvSpPr>
        <p:spPr>
          <a:xfrm>
            <a:off x="548640" y="1417320"/>
            <a:ext cx="11094415" cy="512064"/>
          </a:xfrm>
          <a:prstGeom prst="roundRect">
            <a:avLst>
              <a:gd name="adj" fmla="val 14286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5" name="mark-1"/>
          <p:cNvSpPr/>
          <p:nvPr/>
        </p:nvSpPr>
        <p:spPr>
          <a:xfrm>
            <a:off x="685800" y="1490472"/>
            <a:ext cx="365760" cy="365760"/>
          </a:xfrm>
          <a:prstGeom prst="ellipse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4904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417320"/>
            <a:ext cx="102257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แจ้งทุกคนที่เกี่ยวข้องว่าจะใช้ระบบล็อค/ติดป้ายและเหตุผล</a:t>
            </a:r>
            <a:endParaRPr lang="en-US" sz="1700" dirty="0"/>
          </a:p>
        </p:txBody>
      </p:sp>
      <p:sp>
        <p:nvSpPr>
          <p:cNvPr id="8" name="row-2"/>
          <p:cNvSpPr/>
          <p:nvPr/>
        </p:nvSpPr>
        <p:spPr>
          <a:xfrm>
            <a:off x="548640" y="2002536"/>
            <a:ext cx="11094415" cy="512064"/>
          </a:xfrm>
          <a:prstGeom prst="roundRect">
            <a:avLst>
              <a:gd name="adj" fmla="val 14286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9" name="mark-2"/>
          <p:cNvSpPr/>
          <p:nvPr/>
        </p:nvSpPr>
        <p:spPr>
          <a:xfrm>
            <a:off x="685800" y="2075688"/>
            <a:ext cx="365760" cy="365760"/>
          </a:xfrm>
          <a:prstGeom prst="ellipse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20756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002536"/>
            <a:ext cx="102257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หากเครื่องกำลังทำงาน ให้หยุดตามขั้นตอนปกติ (กดปุ่ม Stop ฯลฯ)</a:t>
            </a:r>
            <a:endParaRPr lang="en-US" sz="1700" dirty="0"/>
          </a:p>
        </p:txBody>
      </p:sp>
      <p:sp>
        <p:nvSpPr>
          <p:cNvPr id="12" name="row-3"/>
          <p:cNvSpPr/>
          <p:nvPr/>
        </p:nvSpPr>
        <p:spPr>
          <a:xfrm>
            <a:off x="548640" y="2587752"/>
            <a:ext cx="11094415" cy="822960"/>
          </a:xfrm>
          <a:prstGeom prst="roundRect">
            <a:avLst>
              <a:gd name="adj" fmla="val 8889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3" name="mark-3"/>
          <p:cNvSpPr/>
          <p:nvPr/>
        </p:nvSpPr>
        <p:spPr>
          <a:xfrm>
            <a:off x="685800" y="2816352"/>
            <a:ext cx="365760" cy="365760"/>
          </a:xfrm>
          <a:prstGeom prst="ellipse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28163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2587752"/>
            <a:ext cx="102257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ปิดหรือตัดอุปกรณ์แยกพลังงาน (สวิตช์ วาล์ว) พร้อมระบายหรือยึดพลังงานสะสม (สปริง ส่วนที่ยกสูง ไฮดรอลิก ลม ฯลฯ)</a:t>
            </a:r>
            <a:endParaRPr lang="en-US" sz="1700" dirty="0"/>
          </a:p>
        </p:txBody>
      </p:sp>
      <p:sp>
        <p:nvSpPr>
          <p:cNvPr id="16" name="row-4"/>
          <p:cNvSpPr/>
          <p:nvPr/>
        </p:nvSpPr>
        <p:spPr>
          <a:xfrm>
            <a:off x="548640" y="3483864"/>
            <a:ext cx="11094415" cy="512064"/>
          </a:xfrm>
          <a:prstGeom prst="roundRect">
            <a:avLst>
              <a:gd name="adj" fmla="val 14286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7" name="mark-4"/>
          <p:cNvSpPr/>
          <p:nvPr/>
        </p:nvSpPr>
        <p:spPr>
          <a:xfrm>
            <a:off x="685800" y="3557016"/>
            <a:ext cx="365760" cy="365760"/>
          </a:xfrm>
          <a:prstGeom prst="ellipse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5800" y="35570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3483864"/>
            <a:ext cx="102257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ล็อคและ/หรือติดป้ายชื่อผู้ปฏิบัติงานที่อุปกรณ์แยกพลังงาน</a:t>
            </a:r>
            <a:endParaRPr lang="en-US" sz="1700" dirty="0"/>
          </a:p>
        </p:txBody>
      </p:sp>
      <p:sp>
        <p:nvSpPr>
          <p:cNvPr id="20" name="row-5"/>
          <p:cNvSpPr/>
          <p:nvPr/>
        </p:nvSpPr>
        <p:spPr>
          <a:xfrm>
            <a:off x="548640" y="4069080"/>
            <a:ext cx="11094415" cy="822960"/>
          </a:xfrm>
          <a:prstGeom prst="roundRect">
            <a:avLst>
              <a:gd name="adj" fmla="val 8889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21" name="mark-5"/>
          <p:cNvSpPr/>
          <p:nvPr/>
        </p:nvSpPr>
        <p:spPr>
          <a:xfrm>
            <a:off x="685800" y="4297680"/>
            <a:ext cx="365760" cy="365760"/>
          </a:xfrm>
          <a:prstGeom prst="ellipse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5800" y="4297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234440" y="4069080"/>
            <a:ext cx="102257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ตรวจสอบโดยกดปุ่มสั่งงานปกติเพื่อยืนยันว่าเครื่องไม่ทำงาน (เมื่อไม่มีใครอยู่ในพื้นที่เสี่ยง) แล้วคืนปุ่มสั่งงานสู่ตำแหน่ง neutral/off</a:t>
            </a:r>
            <a:endParaRPr lang="en-US" sz="1700" dirty="0"/>
          </a:p>
        </p:txBody>
      </p:sp>
      <p:sp>
        <p:nvSpPr>
          <p:cNvPr id="24" name="row-6"/>
          <p:cNvSpPr/>
          <p:nvPr/>
        </p:nvSpPr>
        <p:spPr>
          <a:xfrm>
            <a:off x="548640" y="4965192"/>
            <a:ext cx="11094415" cy="822960"/>
          </a:xfrm>
          <a:prstGeom prst="roundRect">
            <a:avLst>
              <a:gd name="adj" fmla="val 8889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25" name="mark-6"/>
          <p:cNvSpPr/>
          <p:nvPr/>
        </p:nvSpPr>
        <p:spPr>
          <a:xfrm>
            <a:off x="685800" y="5193792"/>
            <a:ext cx="365760" cy="365760"/>
          </a:xfrm>
          <a:prstGeom prst="ellipse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85800" y="51937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1234440" y="4965192"/>
            <a:ext cx="102257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เมื่อเสร็จงาน: ตรวจพื้นที่ เก็บเครื่องมือ ติดตั้ง guard กลับ ให้ทุกคนออกจากพื้นที่ แล้วเฉพาะผู้ที่ติดล็อคเป็นผู้ปลดล็อค และแจ้งทุกคนว่าจ่ายพลังงานแล้ว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115</a:t>
            </a:fld>
            <a:endParaRPr lang="en-US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10 · ข้อกำหนดความปลอดภัยเพิ่มเติมจากคู่มือผู้ผลิต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10.2 การล็อค/ติดป้าย (Lockout/Tag out) ตามผู้ผลิต</a:t>
            </a:r>
            <a:endParaRPr lang="en-US" sz="2800" dirty="0"/>
          </a:p>
        </p:txBody>
      </p:sp>
      <p:sp>
        <p:nvSpPr>
          <p:cNvPr id="4" name="row-1"/>
          <p:cNvSpPr/>
          <p:nvPr/>
        </p:nvSpPr>
        <p:spPr>
          <a:xfrm>
            <a:off x="548640" y="1417320"/>
            <a:ext cx="11094415" cy="822960"/>
          </a:xfrm>
          <a:prstGeom prst="roundRect">
            <a:avLst>
              <a:gd name="adj" fmla="val 8889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5" name="mark-1"/>
          <p:cNvSpPr/>
          <p:nvPr/>
        </p:nvSpPr>
        <p:spPr>
          <a:xfrm>
            <a:off x="685800" y="1645920"/>
            <a:ext cx="365760" cy="365760"/>
          </a:xfrm>
          <a:prstGeom prst="ellipse">
            <a:avLst/>
          </a:prstGeom>
          <a:solidFill>
            <a:srgbClr val="F4A200"/>
          </a:solidFill>
          <a:ln w="12700">
            <a:solidFill>
              <a:srgbClr val="F4A2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34440" y="1417320"/>
            <a:ext cx="102257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ทำงานหลายคน: ทุกคนติดล็อคส่วนตัวของตนเอง หรือใช้กล่องล็อคกลุ่ม ผู้มีอำนาจคนหนึ่งเป็นผู้ประสานงาน</a:t>
            </a:r>
            <a:endParaRPr lang="en-US" sz="1700" dirty="0"/>
          </a:p>
        </p:txBody>
      </p:sp>
      <p:sp>
        <p:nvSpPr>
          <p:cNvPr id="7" name="row-2"/>
          <p:cNvSpPr/>
          <p:nvPr/>
        </p:nvSpPr>
        <p:spPr>
          <a:xfrm>
            <a:off x="548640" y="2313432"/>
            <a:ext cx="11094415" cy="822960"/>
          </a:xfrm>
          <a:prstGeom prst="roundRect">
            <a:avLst>
              <a:gd name="adj" fmla="val 8889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8" name="mark-2"/>
          <p:cNvSpPr/>
          <p:nvPr/>
        </p:nvSpPr>
        <p:spPr>
          <a:xfrm>
            <a:off x="685800" y="2542032"/>
            <a:ext cx="365760" cy="365760"/>
          </a:xfrm>
          <a:prstGeom prst="ellipse">
            <a:avLst/>
          </a:prstGeom>
          <a:solidFill>
            <a:srgbClr val="F4A200"/>
          </a:solidFill>
          <a:ln w="12700">
            <a:solidFill>
              <a:srgbClr val="F4A2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34440" y="2313432"/>
            <a:ext cx="102257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เปลี่ยนกะ: ผู้มีอำนาจประสานการเปลี่ยนล็อค/ป้าย ทดสอบสภาพไม่มีพลังงานซ้ำ และแจ้งการสตาร์ทและทดสอบ</a:t>
            </a:r>
            <a:endParaRPr lang="en-US" sz="1700" dirty="0"/>
          </a:p>
        </p:txBody>
      </p:sp>
      <p:sp>
        <p:nvSpPr>
          <p:cNvPr id="10" name="row-3"/>
          <p:cNvSpPr/>
          <p:nvPr/>
        </p:nvSpPr>
        <p:spPr>
          <a:xfrm>
            <a:off x="548640" y="3209544"/>
            <a:ext cx="11094415" cy="822960"/>
          </a:xfrm>
          <a:prstGeom prst="roundRect">
            <a:avLst>
              <a:gd name="adj" fmla="val 8889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1" name="mark-3"/>
          <p:cNvSpPr/>
          <p:nvPr/>
        </p:nvSpPr>
        <p:spPr>
          <a:xfrm>
            <a:off x="685800" y="3438144"/>
            <a:ext cx="365760" cy="365760"/>
          </a:xfrm>
          <a:prstGeom prst="ellipse">
            <a:avLst/>
          </a:prstGeom>
          <a:solidFill>
            <a:srgbClr val="F4A200"/>
          </a:solidFill>
          <a:ln w="12700">
            <a:solidFill>
              <a:srgbClr val="F4A20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234440" y="3209544"/>
            <a:ext cx="102257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กรณีเจ้าของล็อคไม่อยู่: โทรถามว่าปลอดภัยหรือไม่ หากติดต่อไม่ได้ผู้จัดการสายงานต้องตรวจเครื่องและตัดสินใจก่อนปลดล็อค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116</a:t>
            </a:fld>
            <a:endParaRPr lang="en-US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10 · ข้อกำหนดความปลอดภัยเพิ่มเติมจากคู่มือผู้ผลิต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10.3 ไฟไหม้</a:t>
            </a:r>
            <a:endParaRPr lang="en-US" sz="2800" dirty="0"/>
          </a:p>
        </p:txBody>
      </p:sp>
      <p:graphicFrame>
        <p:nvGraphicFramePr>
          <p:cNvPr id="1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1331330"/>
                <a:gridCol w="4215878"/>
                <a:gridCol w="5547208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ประเภท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วัสดุ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สารดับเพลิง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77241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A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ของแข็ง เช่น ไม้ กระดาษ ถ่านหิน สิ่งทอ พลาสติกบางชนิด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น้ำ โฟม ผง ABC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241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B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ของเหลว/วัสดุที่หลอมเหลว เช่น น้ำมัน จาระบี สี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โฟม ผง ABC/BC คาร์บอนไดออกไซด์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77241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C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ก๊าซ เช่น อะเซทิลีน ไฮโดรเจน มีเทน โพรเพน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ตัดแหล่งก๊าซก่อน จึงดับด้วยผง ABC/BC (ระวังเกิดส่วนผสมระเบิด)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935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โลหะ เช่น อะลูมิเนียม แมกนีเซียม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ผงดับไฟโลหะ (ห้ามใช้น้ำ)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117</a:t>
            </a:fld>
            <a:endParaRPr lang="en-US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10 · ข้อกำหนดความปลอดภัยเพิ่มเติมจากคู่มือผู้ผลิต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10.3 ไฟไหม้</a:t>
            </a:r>
            <a:endParaRPr lang="en-US" sz="2800" dirty="0"/>
          </a:p>
        </p:txBody>
      </p:sp>
      <p:sp>
        <p:nvSpPr>
          <p:cNvPr id="4" name="row-1"/>
          <p:cNvSpPr/>
          <p:nvPr/>
        </p:nvSpPr>
        <p:spPr>
          <a:xfrm>
            <a:off x="548640" y="1417320"/>
            <a:ext cx="11094415" cy="822960"/>
          </a:xfrm>
          <a:prstGeom prst="roundRect">
            <a:avLst>
              <a:gd name="adj" fmla="val 8889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5" name="mark-1"/>
          <p:cNvSpPr/>
          <p:nvPr/>
        </p:nvSpPr>
        <p:spPr>
          <a:xfrm>
            <a:off x="685800" y="1645920"/>
            <a:ext cx="365760" cy="365760"/>
          </a:xfrm>
          <a:prstGeom prst="ellipse">
            <a:avLst/>
          </a:prstGeom>
          <a:solidFill>
            <a:srgbClr val="F4A200"/>
          </a:solidFill>
          <a:ln w="12700">
            <a:solidFill>
              <a:srgbClr val="F4A2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34440" y="1417320"/>
            <a:ext cx="102257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ความปลอดภัยของชีวิตมาก่อนการดับเพลิงเสมอ หากดับไม่ได้ทันทีให้เปิดสัญญาณเตือนไฟไหม้และแจ้งหัวหน้างานทันที</a:t>
            </a:r>
            <a:endParaRPr lang="en-US" sz="1700" dirty="0"/>
          </a:p>
        </p:txBody>
      </p:sp>
      <p:sp>
        <p:nvSpPr>
          <p:cNvPr id="7" name="row-2"/>
          <p:cNvSpPr/>
          <p:nvPr/>
        </p:nvSpPr>
        <p:spPr>
          <a:xfrm>
            <a:off x="548640" y="2313432"/>
            <a:ext cx="11094415" cy="822960"/>
          </a:xfrm>
          <a:prstGeom prst="roundRect">
            <a:avLst>
              <a:gd name="adj" fmla="val 8889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8" name="mark-2"/>
          <p:cNvSpPr/>
          <p:nvPr/>
        </p:nvSpPr>
        <p:spPr>
          <a:xfrm>
            <a:off x="685800" y="2542032"/>
            <a:ext cx="365760" cy="365760"/>
          </a:xfrm>
          <a:prstGeom prst="ellipse">
            <a:avLst/>
          </a:prstGeom>
          <a:solidFill>
            <a:srgbClr val="F4A200"/>
          </a:solidFill>
          <a:ln w="12700">
            <a:solidFill>
              <a:srgbClr val="F4A2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34440" y="2313432"/>
            <a:ext cx="102257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ตัดไฟส่วนที่ถูกไฟคุกคามเว้นแต่จำเป็นต้องใช้ดับเพลิง สายเคเบิล มอเตอร์ และอุปกรณ์ไฟฟ้าที่ไหม้ ให้ใช้ถังผงแห้งเท่านั้น</a:t>
            </a:r>
            <a:endParaRPr lang="en-US" sz="1700" dirty="0"/>
          </a:p>
        </p:txBody>
      </p:sp>
      <p:sp>
        <p:nvSpPr>
          <p:cNvPr id="10" name="row-3"/>
          <p:cNvSpPr/>
          <p:nvPr/>
        </p:nvSpPr>
        <p:spPr>
          <a:xfrm>
            <a:off x="548640" y="3209544"/>
            <a:ext cx="11094415" cy="512064"/>
          </a:xfrm>
          <a:prstGeom prst="roundRect">
            <a:avLst>
              <a:gd name="adj" fmla="val 14286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1" name="mark-3"/>
          <p:cNvSpPr/>
          <p:nvPr/>
        </p:nvSpPr>
        <p:spPr>
          <a:xfrm>
            <a:off x="685800" y="3282696"/>
            <a:ext cx="365760" cy="365760"/>
          </a:xfrm>
          <a:prstGeom prst="ellipse">
            <a:avLst/>
          </a:prstGeom>
          <a:solidFill>
            <a:srgbClr val="F4A200"/>
          </a:solidFill>
          <a:ln w="12700">
            <a:solidFill>
              <a:srgbClr val="F4A20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234440" y="3209544"/>
            <a:ext cx="102257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ระวังถัง CO₂ ในห้องที่ระบายอากาศไม่พอ เสี่ยงขาดอากาศหายใจ</a:t>
            </a:r>
            <a:endParaRPr lang="en-US" sz="1700" dirty="0"/>
          </a:p>
        </p:txBody>
      </p:sp>
      <p:sp>
        <p:nvSpPr>
          <p:cNvPr id="13" name="row-4"/>
          <p:cNvSpPr/>
          <p:nvPr/>
        </p:nvSpPr>
        <p:spPr>
          <a:xfrm>
            <a:off x="548640" y="3794760"/>
            <a:ext cx="11094415" cy="512064"/>
          </a:xfrm>
          <a:prstGeom prst="roundRect">
            <a:avLst>
              <a:gd name="adj" fmla="val 14286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4" name="mark-4"/>
          <p:cNvSpPr/>
          <p:nvPr/>
        </p:nvSpPr>
        <p:spPr>
          <a:xfrm>
            <a:off x="685800" y="3867912"/>
            <a:ext cx="365760" cy="365760"/>
          </a:xfrm>
          <a:prstGeom prst="ellipse">
            <a:avLst/>
          </a:prstGeom>
          <a:solidFill>
            <a:srgbClr val="F4A200"/>
          </a:solidFill>
          <a:ln w="12700">
            <a:solidFill>
              <a:srgbClr val="F4A20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234440" y="3794760"/>
            <a:ext cx="102257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ระยะห่างจากไฟขั้นต่ำ: ฉีดน้ำเต็มลำ 3 ม. น้ำฝอย 2 ม. ผงเคมี 3 ม.</a:t>
            </a:r>
            <a:endParaRPr lang="en-US" sz="1700" dirty="0"/>
          </a:p>
        </p:txBody>
      </p:sp>
      <p:sp>
        <p:nvSpPr>
          <p:cNvPr id="16" name="row-5"/>
          <p:cNvSpPr/>
          <p:nvPr/>
        </p:nvSpPr>
        <p:spPr>
          <a:xfrm>
            <a:off x="548640" y="4379976"/>
            <a:ext cx="11094415" cy="512064"/>
          </a:xfrm>
          <a:prstGeom prst="roundRect">
            <a:avLst>
              <a:gd name="adj" fmla="val 14286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7" name="mark-5"/>
          <p:cNvSpPr/>
          <p:nvPr/>
        </p:nvSpPr>
        <p:spPr>
          <a:xfrm>
            <a:off x="685800" y="4453128"/>
            <a:ext cx="365760" cy="365760"/>
          </a:xfrm>
          <a:prstGeom prst="ellipse">
            <a:avLst/>
          </a:prstGeom>
          <a:solidFill>
            <a:srgbClr val="F4A200"/>
          </a:solidFill>
          <a:ln w="12700">
            <a:solidFill>
              <a:srgbClr val="F4A20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234440" y="4379976"/>
            <a:ext cx="102257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ทุกครั้งที่ใช้ถังดับเพลิงต้องรายงานหัวหน้างาน และเปลี่ยนถังใหม่ทันที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118</a:t>
            </a:fld>
            <a:endParaRPr lang="en-US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10 · ข้อกำหนดความปลอดภัยเพิ่มเติมจากคู่มือผู้ผลิต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10.4 ปฐมพยาบาลและความเสี่ยงที่เหลืออยู่</a:t>
            </a:r>
            <a:endParaRPr lang="en-US" sz="2800" dirty="0"/>
          </a:p>
        </p:txBody>
      </p:sp>
      <p:sp>
        <p:nvSpPr>
          <p:cNvPr id="4" name="row-1"/>
          <p:cNvSpPr/>
          <p:nvPr/>
        </p:nvSpPr>
        <p:spPr>
          <a:xfrm>
            <a:off x="548640" y="1417320"/>
            <a:ext cx="11094415" cy="512064"/>
          </a:xfrm>
          <a:prstGeom prst="roundRect">
            <a:avLst>
              <a:gd name="adj" fmla="val 14286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5" name="mark-1"/>
          <p:cNvSpPr/>
          <p:nvPr/>
        </p:nvSpPr>
        <p:spPr>
          <a:xfrm>
            <a:off x="685800" y="1490472"/>
            <a:ext cx="365760" cy="365760"/>
          </a:xfrm>
          <a:prstGeom prst="ellipse">
            <a:avLst/>
          </a:prstGeom>
          <a:solidFill>
            <a:srgbClr val="F4A200"/>
          </a:solidFill>
          <a:ln w="12700">
            <a:solidFill>
              <a:srgbClr val="F4A2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34440" y="1417320"/>
            <a:ext cx="102257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ผู้ใช้เครื่องรับผิดชอบจัดระบบปฐมพยาบาล ควรมีชุดปฐมพยาบาลในจุดที่เหมาะสมและมีป้ายบอกตำแหน่ง</a:t>
            </a:r>
            <a:endParaRPr lang="en-US" sz="1700" dirty="0"/>
          </a:p>
        </p:txBody>
      </p:sp>
      <p:sp>
        <p:nvSpPr>
          <p:cNvPr id="7" name="row-2"/>
          <p:cNvSpPr/>
          <p:nvPr/>
        </p:nvSpPr>
        <p:spPr>
          <a:xfrm>
            <a:off x="548640" y="2002536"/>
            <a:ext cx="11094415" cy="822960"/>
          </a:xfrm>
          <a:prstGeom prst="roundRect">
            <a:avLst>
              <a:gd name="adj" fmla="val 8889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8" name="mark-2"/>
          <p:cNvSpPr/>
          <p:nvPr/>
        </p:nvSpPr>
        <p:spPr>
          <a:xfrm>
            <a:off x="685800" y="2231136"/>
            <a:ext cx="365760" cy="365760"/>
          </a:xfrm>
          <a:prstGeom prst="ellipse">
            <a:avLst/>
          </a:prstGeom>
          <a:solidFill>
            <a:srgbClr val="F4A200"/>
          </a:solidFill>
          <a:ln w="12700">
            <a:solidFill>
              <a:srgbClr val="F4A2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34440" y="2002536"/>
            <a:ext cx="102257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ห้ามดัดแปลง เพิ่ม หรือตัดต่อเครื่อง รวมถึงการเชื่อมบนโครงสร้างรับน้ำหนักโดยไม่ได้รับอนุญาตจากผู้ผลิต และใช้อะไหล่แท้ที่เหมือนเดิมเท่านั้น</a:t>
            </a:r>
            <a:endParaRPr lang="en-US" sz="1700" dirty="0"/>
          </a:p>
        </p:txBody>
      </p:sp>
      <p:sp>
        <p:nvSpPr>
          <p:cNvPr id="10" name="row-3"/>
          <p:cNvSpPr/>
          <p:nvPr/>
        </p:nvSpPr>
        <p:spPr>
          <a:xfrm>
            <a:off x="548640" y="2898648"/>
            <a:ext cx="11094415" cy="822960"/>
          </a:xfrm>
          <a:prstGeom prst="roundRect">
            <a:avLst>
              <a:gd name="adj" fmla="val 8889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1" name="mark-3"/>
          <p:cNvSpPr/>
          <p:nvPr/>
        </p:nvSpPr>
        <p:spPr>
          <a:xfrm>
            <a:off x="685800" y="3127248"/>
            <a:ext cx="365760" cy="365760"/>
          </a:xfrm>
          <a:prstGeom prst="ellipse">
            <a:avLst/>
          </a:prstGeom>
          <a:solidFill>
            <a:srgbClr val="F4A200"/>
          </a:solidFill>
          <a:ln w="12700">
            <a:solidFill>
              <a:srgbClr val="F4A20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234440" y="2898648"/>
            <a:ext cx="102257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ความเสี่ยงที่ยังเหลือหลังออกแบบตาม Machine Directive ของ EC ถูกระบุไว้ในจุดที่เกี่ยวข้องของคู่มือ ให้ปฏิบัติตามคำเตือนทุกข้อ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119</a:t>
            </a:fld>
            <a:endParaRPr lang="en-US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vider-circle"/>
          <p:cNvSpPr/>
          <p:nvPr/>
        </p:nvSpPr>
        <p:spPr>
          <a:xfrm>
            <a:off x="7680960" y="1280160"/>
            <a:ext cx="4937760" cy="4937760"/>
          </a:xfrm>
          <a:prstGeom prst="ellipse">
            <a:avLst/>
          </a:prstGeom>
          <a:solidFill>
            <a:srgbClr val="1A5FA8">
              <a:alpha val="45000"/>
            </a:srgbClr>
          </a:solidFill>
          <a:ln w="12700">
            <a:solidFill>
              <a:srgbClr val="1A5FA8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680960" y="265176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ภาคผนวก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28600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A2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ภาคผนวก ก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834640"/>
            <a:ext cx="6949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บัตรสรุปสถานการณ์ฉุกเฉิน (Quick reference)</a:t>
            </a:r>
            <a:endParaRPr lang="en-US" sz="3600" dirty="0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ภาคผนวก ก · บัตรสรุปสถานการณ์ฉุกเฉิน (Quick reference)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บัตรสรุปสถานการณ์ฉุกเฉิน (Quick reference)</a:t>
            </a:r>
            <a:endParaRPr lang="en-US" sz="2800" dirty="0"/>
          </a:p>
        </p:txBody>
      </p:sp>
      <p:graphicFrame>
        <p:nvGraphicFramePr>
          <p:cNvPr id="1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3328325"/>
                <a:gridCol w="7766091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สถานการณ์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ทำทันที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935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อันตรายต่อคน/เครื่อง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กด Emergency Stop หรือดึง pull-rope → แจ้งหัวหน้างาน → กั้นพื้นที่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241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ไฟไหม้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หยุดเครื่อง ใช้ถังดับเพลิงตามประเภทไฟ แจ้งผู้รับผิดชอบ และอพยพตามเส้นทางหนีไฟ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77241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ลมแรงเกิน 20 m/s (250 N/m²)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หยุดเครื่อง → ปล่อยสายพานว่าง → จอดที่มั่นคง → ล็อค storm lock → ออกจากเครื่อง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935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สายพานเบี้ยวรุนแรง/ลื่น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หยุดสายพาน ตรวจสาเหตุ อย่าเพิ่มแรงตึง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77241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เกียร์/มอเตอร์ร้อน ควัน เสียงดัง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หยุดเครื่องชุดนั้น แจ้งช่างซ่อม ห้ามเดินต่อ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935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ฝนตก พื้นลื่น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ระวังบันได ทางเดินลื่น และเลื่อนงานบนที่สูงจนกว่าจะปลอดภัย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121</a:t>
            </a:fld>
            <a:endParaRPr lang="en-US"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vider-circle"/>
          <p:cNvSpPr/>
          <p:nvPr/>
        </p:nvSpPr>
        <p:spPr>
          <a:xfrm>
            <a:off x="7680960" y="1280160"/>
            <a:ext cx="4937760" cy="4937760"/>
          </a:xfrm>
          <a:prstGeom prst="ellipse">
            <a:avLst/>
          </a:prstGeom>
          <a:solidFill>
            <a:srgbClr val="1A5FA8">
              <a:alpha val="45000"/>
            </a:srgbClr>
          </a:solidFill>
          <a:ln w="12700">
            <a:solidFill>
              <a:srgbClr val="1A5FA8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680960" y="265176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ภาคผนวก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28600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A2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ภาคผนวก ข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834640"/>
            <a:ext cx="6949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ข้อมูลที่โครงการต้องกำหนดเพิ่ม</a:t>
            </a:r>
            <a:endParaRPr lang="en-US" sz="3600" dirty="0"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ภาคผนวก ข · ข้อมูลที่โครงการต้องกำหนดเพิ่ม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ข้อมูลที่โครงการต้องกำหนดเพิ่ม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หัวข้อต่อไปนี้ไม่อยู่ในคู่มือผู้ผลิต จึงยังไม่ระบุค่าในเล่มนี้ ขอให้ฝ่ายปฏิบัติการและความปลอดภัยของโครงการกำหนดและเพิ่มเข้ามาเมื่อพร้อม</a:t>
            </a:r>
            <a:endParaRPr lang="en-US" sz="1500" dirty="0"/>
          </a:p>
        </p:txBody>
      </p:sp>
      <p:graphicFrame>
        <p:nvGraphicFramePr>
          <p:cNvPr id="1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11094415" cy="914400"/>
        </p:xfrm>
        <a:graphic>
          <a:graphicData uri="http://schemas.openxmlformats.org/drawingml/2006/table">
            <a:tbl>
              <a:tblPr/>
              <a:tblGrid>
                <a:gridCol w="3328325"/>
                <a:gridCol w="5325319"/>
                <a:gridCol w="2440771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หัวข้อ</a:t>
                      </a:r>
                      <a:endParaRPr lang="en-US" sz="16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รายละเอียดที่ต้องกำหนด</a:t>
                      </a:r>
                      <a:endParaRPr lang="en-US" sz="16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ผู้รับผิดชอบ</a:t>
                      </a:r>
                      <a:endParaRPr lang="en-US" sz="16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7355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ลำดับกดปุ่มสตาร์ท/หยุดบนแผงควบคุม</a:t>
                      </a:r>
                      <a:endParaRPr lang="en-US" sz="16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ลำดับจริงที่ operator ใช้ตามโหมดที่โครงการอนุมัติ</a:t>
                      </a:r>
                      <a:endParaRPr lang="en-US" sz="16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วิศวกร / หัวหน้า operator</a:t>
                      </a:r>
                      <a:endParaRPr lang="en-US" sz="16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09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การสื่อสารทางวิทยุ</a:t>
                      </a:r>
                      <a:endParaRPr lang="en-US" sz="16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ช่อง รหัสเรียก และสัญญาณก่อนเคลื่อนเครื่อง</a:t>
                      </a:r>
                      <a:endParaRPr lang="en-US" sz="16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ฝ่ายปฏิบัติการ</a:t>
                      </a:r>
                      <a:endParaRPr lang="en-US" sz="16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4409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กฎความปลอดภัยของโครงการ</a:t>
                      </a:r>
                      <a:endParaRPr lang="en-US" sz="16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จุดห้ามเข้า ระยะปลอดภัย การควบคุมผู้มาเยี่ยมชม</a:t>
                      </a:r>
                      <a:endParaRPr lang="en-US" sz="16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ฝ่ายความปลอดภัย</a:t>
                      </a:r>
                      <a:endParaRPr lang="en-US" sz="16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55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รหัส fault ที่พบบ่อยของ HMI</a:t>
                      </a:r>
                      <a:endParaRPr lang="en-US" sz="16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รหัส ความหมาย และวิธีรีเซ็ตที่อนุญาตให้ operator ทำเอง</a:t>
                      </a:r>
                      <a:endParaRPr lang="en-US" sz="16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วิศวกรไฟฟ้า</a:t>
                      </a:r>
                      <a:endParaRPr lang="en-US" sz="16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4409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เงื่อนไขการเดินเข้า Line</a:t>
                      </a:r>
                      <a:endParaRPr lang="en-US" sz="16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ขั้นตอนเดินเข้า Line B1/A9 ข้อจำกัดของกองดิน</a:t>
                      </a:r>
                      <a:endParaRPr lang="en-US" sz="16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ฝ่ายวางแผนเหมือง</a:t>
                      </a:r>
                      <a:endParaRPr lang="en-US" sz="16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55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Tripper Car</a:t>
                      </a:r>
                      <a:endParaRPr lang="en-US" sz="16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ขั้นตอนการใช้ rail clamp และการเดิน Tripper Car แบบละเอียดของโครงการ (ข้อมูลทั่วไปอยู่ในบทที่ 9)</a:t>
                      </a:r>
                      <a:endParaRPr lang="en-US" sz="16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วิศวกรเครื่องกล</a:t>
                      </a:r>
                      <a:endParaRPr lang="en-US" sz="16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123</a:t>
            </a:fld>
            <a:endParaRPr lang="en-US"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nd-circle"/>
          <p:cNvSpPr/>
          <p:nvPr/>
        </p:nvSpPr>
        <p:spPr>
          <a:xfrm>
            <a:off x="7680960" y="1280160"/>
            <a:ext cx="4937760" cy="4937760"/>
          </a:xfrm>
          <a:prstGeom prst="ellipse">
            <a:avLst/>
          </a:prstGeom>
          <a:solidFill>
            <a:srgbClr val="F4A200">
              <a:alpha val="18000"/>
            </a:srgbClr>
          </a:solidFill>
          <a:ln w="12700">
            <a:solidFill>
              <a:srgbClr val="F4A200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21945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ปลอดภัยไว้ก่อน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2004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A2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หยุดเครื่อง · ล็อค · ตรวจสอบ · จึงเริ่มงาน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9377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FC0D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OB9-MAN-OPS-01  ·  Rev 0  ·  7 ต.ค. 69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FC0D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เอกสารนี้จัดเก็บใน Document Center (Admin เท่านั้น)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ahom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ahom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124</Slides>
  <Notes>124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124</vt:i4>
      </vt:variant>
    </vt:vector>
  </HeadingPairs>
  <TitlesOfParts>
    <vt:vector size="1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คู่มือการเดินเครื่อง (Operations)</dc:title>
  <dc:subject>Spreader ARs 2400/52+50x19 และ Tripper Car Ü2200</dc:subject>
  <dc:creator>OB9</dc:creator>
  <cp:lastModifiedBy>OB9</cp:lastModifiedBy>
  <cp:revision>1</cp:revision>
  <dcterms:created xsi:type="dcterms:W3CDTF">2026-10-07T02:04:02Z</dcterms:created>
  <dcterms:modified xsi:type="dcterms:W3CDTF">2026-10-07T02:04:02Z</dcterms:modified>
</cp:coreProperties>
</file>