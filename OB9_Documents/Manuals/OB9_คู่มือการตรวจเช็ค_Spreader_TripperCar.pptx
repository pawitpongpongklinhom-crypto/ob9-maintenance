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</p:sldIdLst>
  <p:notesMasterIdLst>
    <p:notesMasterId r:id="rId19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notesMaster" Target="notesMasters/notesMaster1.xml"/><Relationship Id="rId197" Type="http://schemas.openxmlformats.org/officeDocument/2006/relationships/presProps" Target="presProps.xml"/><Relationship Id="rId198" Type="http://schemas.openxmlformats.org/officeDocument/2006/relationships/viewProps" Target="viewProps.xml"/><Relationship Id="rId199" Type="http://schemas.openxmlformats.org/officeDocument/2006/relationships/theme" Target="theme/theme1.xml"/><Relationship Id="rId2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OB9-MAN-INS-01  |  คู่มือการตรวจเช็คเครื่องจักร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image" Target="../media/image-15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image" Target="../media/image-15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image" Target="../media/image-15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image" Target="../media/image-15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circle-1"/>
          <p:cNvSpPr/>
          <p:nvPr/>
        </p:nvSpPr>
        <p:spPr>
          <a:xfrm>
            <a:off x="7863840" y="2011680"/>
            <a:ext cx="5669280" cy="5669280"/>
          </a:xfrm>
          <a:prstGeom prst="ellipse">
            <a:avLst/>
          </a:prstGeom>
          <a:solidFill>
            <a:srgbClr val="F4A200">
              <a:alpha val="18000"/>
            </a:srgbClr>
          </a:solidFill>
          <a:ln w="12700">
            <a:solidFill>
              <a:srgbClr val="F4A200">
                <a:alpha val="0"/>
              </a:srgbClr>
            </a:solidFill>
            <a:prstDash val="solid"/>
          </a:ln>
        </p:spPr>
      </p:sp>
      <p:sp>
        <p:nvSpPr>
          <p:cNvPr id="3" name="cover-circle-2"/>
          <p:cNvSpPr/>
          <p:nvPr/>
        </p:nvSpPr>
        <p:spPr>
          <a:xfrm>
            <a:off x="9418320" y="-1463040"/>
            <a:ext cx="3840480" cy="384048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  PREDICTIVE MAINTENANCE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INSPECTION MANUAL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คู่มือการตรวจเช็คเครื่องจักร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576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ARs 2400/52+50x19 และ Tripper Car Ü2200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สำหรับช่างซ่อมบำรุง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OB9-MAN-INS-01  ·  Rev 0  ·  7 ต.ค. 69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โครงการ Mae Moh Mine Overburden IX — Italian-Thai Development PCL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3400" dirty="0"/>
          </a:p>
        </p:txBody>
      </p:sp>
      <p:sp>
        <p:nvSpPr>
          <p:cNvPr id="3" name="agenda-card-0"/>
          <p:cNvSpPr/>
          <p:nvPr/>
        </p:nvSpPr>
        <p:spPr>
          <a:xfrm>
            <a:off x="548640" y="1371600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4" name="agenda-num-0"/>
          <p:cNvSpPr/>
          <p:nvPr/>
        </p:nvSpPr>
        <p:spPr>
          <a:xfrm>
            <a:off x="676656" y="1481328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426464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บทนำ</a:t>
            </a:r>
            <a:endParaRPr lang="en-US" sz="1600" dirty="0"/>
          </a:p>
        </p:txBody>
      </p:sp>
      <p:sp>
        <p:nvSpPr>
          <p:cNvPr id="7" name="agenda-card-1"/>
          <p:cNvSpPr/>
          <p:nvPr/>
        </p:nvSpPr>
        <p:spPr>
          <a:xfrm>
            <a:off x="548640" y="2157984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agenda-num-1"/>
          <p:cNvSpPr/>
          <p:nvPr/>
        </p:nvSpPr>
        <p:spPr>
          <a:xfrm>
            <a:off x="676656" y="2267712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212848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ความปลอดภัยก่อนตรวจเช็ค</a:t>
            </a:r>
            <a:endParaRPr lang="en-US" sz="1600" dirty="0"/>
          </a:p>
        </p:txBody>
      </p:sp>
      <p:sp>
        <p:nvSpPr>
          <p:cNvPr id="11" name="agenda-card-2"/>
          <p:cNvSpPr/>
          <p:nvPr/>
        </p:nvSpPr>
        <p:spPr>
          <a:xfrm>
            <a:off x="548640" y="2944368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agenda-num-2"/>
          <p:cNvSpPr/>
          <p:nvPr/>
        </p:nvSpPr>
        <p:spPr>
          <a:xfrm>
            <a:off x="676656" y="3054096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2999232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หลักการตรวจและรอบการตรวจ</a:t>
            </a:r>
            <a:endParaRPr lang="en-US" sz="1600" dirty="0"/>
          </a:p>
        </p:txBody>
      </p:sp>
      <p:sp>
        <p:nvSpPr>
          <p:cNvPr id="15" name="agenda-card-3"/>
          <p:cNvSpPr/>
          <p:nvPr/>
        </p:nvSpPr>
        <p:spPr>
          <a:xfrm>
            <a:off x="548640" y="3730752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agenda-num-3"/>
          <p:cNvSpPr/>
          <p:nvPr/>
        </p:nvSpPr>
        <p:spPr>
          <a:xfrm>
            <a:off x="676656" y="3840480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3785616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รายการตรวจ/บำรุงรักษาตามผู้ผลิต (ฉบับเต็ม)</a:t>
            </a:r>
            <a:endParaRPr lang="en-US" sz="1600" dirty="0"/>
          </a:p>
        </p:txBody>
      </p:sp>
      <p:sp>
        <p:nvSpPr>
          <p:cNvPr id="19" name="agenda-card-4"/>
          <p:cNvSpPr/>
          <p:nvPr/>
        </p:nvSpPr>
        <p:spPr>
          <a:xfrm>
            <a:off x="6141568" y="1371600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agenda-num-4"/>
          <p:cNvSpPr/>
          <p:nvPr/>
        </p:nvSpPr>
        <p:spPr>
          <a:xfrm>
            <a:off x="6269584" y="1481328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69584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4800" y="1426464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จุดตรวจวัดค่าสึกหรอ 25 จุด (OB9 Inspection)</a:t>
            </a:r>
            <a:endParaRPr lang="en-US" sz="1600" dirty="0"/>
          </a:p>
        </p:txBody>
      </p:sp>
      <p:sp>
        <p:nvSpPr>
          <p:cNvPr id="23" name="agenda-card-5"/>
          <p:cNvSpPr/>
          <p:nvPr/>
        </p:nvSpPr>
        <p:spPr>
          <a:xfrm>
            <a:off x="6141568" y="2157984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4" name="agenda-num-5"/>
          <p:cNvSpPr/>
          <p:nvPr/>
        </p:nvSpPr>
        <p:spPr>
          <a:xfrm>
            <a:off x="6269584" y="2267712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9584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854800" y="2212848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การประเมินผลและการดำเนินการ</a:t>
            </a:r>
            <a:endParaRPr lang="en-US" sz="1600" dirty="0"/>
          </a:p>
        </p:txBody>
      </p:sp>
      <p:sp>
        <p:nvSpPr>
          <p:cNvPr id="27" name="agenda-card-6"/>
          <p:cNvSpPr/>
          <p:nvPr/>
        </p:nvSpPr>
        <p:spPr>
          <a:xfrm>
            <a:off x="6141568" y="2944368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8" name="agenda-num-6"/>
          <p:cNvSpPr/>
          <p:nvPr/>
        </p:nvSpPr>
        <p:spPr>
          <a:xfrm>
            <a:off x="6269584" y="3054096"/>
            <a:ext cx="438912" cy="438912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9584" y="3054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2999232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การบันทึกและรายงานในระบบ OB9</a:t>
            </a:r>
            <a:endParaRPr lang="en-US" sz="1600" dirty="0"/>
          </a:p>
        </p:txBody>
      </p:sp>
      <p:sp>
        <p:nvSpPr>
          <p:cNvPr id="31" name="agenda-card-7"/>
          <p:cNvSpPr/>
          <p:nvPr/>
        </p:nvSpPr>
        <p:spPr>
          <a:xfrm>
            <a:off x="6141568" y="3730752"/>
            <a:ext cx="5364328" cy="658368"/>
          </a:xfrm>
          <a:prstGeom prst="roundRect">
            <a:avLst>
              <a:gd name="adj" fmla="val 13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32" name="agenda-num-7"/>
          <p:cNvSpPr/>
          <p:nvPr/>
        </p:nvSpPr>
        <p:spPr>
          <a:xfrm>
            <a:off x="6269584" y="3840480"/>
            <a:ext cx="438912" cy="438912"/>
          </a:xfrm>
          <a:prstGeom prst="ellipse">
            <a:avLst/>
          </a:prstGeom>
          <a:solidFill>
            <a:srgbClr val="5B6577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9584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854800" y="3785616"/>
            <a:ext cx="454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แบบตรวจเช็คประจำกะ (สำเนาใช้งาน)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บทนำ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1.1 วัตถุประสงค์</a:t>
            </a:r>
            <a:endParaRPr lang="en-US" sz="2800" dirty="0"/>
          </a:p>
        </p:txBody>
      </p:sp>
      <p:sp>
        <p:nvSpPr>
          <p:cNvPr id="4" name="para-card"/>
          <p:cNvSpPr/>
          <p:nvPr/>
        </p:nvSpPr>
        <p:spPr>
          <a:xfrm>
            <a:off x="548640" y="1554480"/>
            <a:ext cx="11094415" cy="2267712"/>
          </a:xfrm>
          <a:prstGeom prst="roundRect">
            <a:avLst>
              <a:gd name="adj" fmla="val 483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คู่มือฉบับนี้จัดทำเพื่อให้ช่างซ่อมบำรุงตรวจเช็คเครื่องจักร Spreader และ Tripper Car ได้อย่างเป็นระบบ ปลอดภัย และบันทึกผลได้สม่ำเสมอ โดยรวมรายการตรวจตามคู่มือผู้ผลิต (thyssenkrupp) และเกณฑ์จุดตรวจวัด 25 จุดที่โครงการใช้ในระบบ OB9 ไว้ในเล่มเดียว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ขอบเขต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A (08-SP0002) และ Spreader B (08-SP0003) แบบ ARs 2400/52+50x19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A (08-TP00001) และ Tripper Car B (08-TP00002) แบบ Ü2200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ครอบคลุมการตรวจประจำกะ/รายวัน รายสัปดาห์ รายเดือน และการตรวจวัดค่าสึกหรอ (จุดตรวจวัด 25 จุด)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1729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17296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ไม่ครอบคลุมขั้นตอนการซ่อมใหญ่ ให้ดูคู่มือ Maintenance and Repair ของผู้ผลิต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1.3 เอกสารอ้างอิง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772101"/>
                <a:gridCol w="7322314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เอกสาร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Operating Manual KXEO-00931-05 Rev 01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คู่มือการใช้งาน Spreader ARs 2400/52+50x19 (Machine-No. 3239, 3240)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Maintenance Manual (ARs 2200)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คู่มือซ่อมบำรุง ใช้อ้างอิงหัวข้อ 3.5.x ในจุดตรวจวัด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Maintenance list 6.6 (ARs)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ตารางรายการตรวจและรอบการตรวจ Spreader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Maintenance list 6.4 (TC)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Inspection and Maintenance Chart Tripper Car Ü2200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OB9 Training / Orientation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ภาพส่วนประกอบและตำแหน่งชิ้นส่วนอ้างอิง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ใบตรวจเช็ค Inspection (OB9)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เกณฑ์และขั้นตอนจุดตรวจวัด 25 จุดของโครงการ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1 · บทนำ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1.4 คำศัพท์และตัวย่อ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884548"/>
                <a:gridCol w="820986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ความหมาย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LOTO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Lockout / Tag out การล็อคและติดป้ายแหล่งพลังงานก่อนเข้าทำงาน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PPE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อุปกรณ์ป้องกันส่วนบุคคล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Drive 1 / Drive 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ชุดขับเคลื่อนข้างที่ 1 และข้างที่ 2 (ใช้ระบุตำแหน่งที่วัด)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 X / ค่า Y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ค่าที่วัดตามที่นิยามในแต่ละจุดตรวจ (เช่น X = ความหย่อน, Y = ระยะ Backlash)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 / 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 = ตรวจได้ขณะเครื่องเดิน, Off = ต้องหยุดเครื่องและป้องกันการสตาร์ทซ้ำก่อนตรวจ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WO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Work Order ใบแจ้งซ่อมในระบบ OB9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ความปลอดภัยก่อนตรวจเช็ค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ความปลอดภัยก่อนตรวจเช็ค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ความปลอดภัยก่อนตรวจเช็ค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2779776"/>
          </a:xfrm>
          <a:prstGeom prst="roundRect">
            <a:avLst>
              <a:gd name="adj" fmla="val 4934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715768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71576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อันตราย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ตรวจเช็ค ซ่อม หรือหล่อลื่นได้เฉพาะเมื่อเครื่องหยุดและป้องกันการสตาร์ทซ้ำแล้วเท่านั้น (ยกเว้นรายการที่คู่มือระบุว่าตรวจขณะเดินเครื่อง) และหลังปิดเครื่องระบบไฟฟ้ายังมีไฟอยู่ ให้ทำ LOTO ทุกครั้ง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ความปลอดภัยก่อนตรวจเช็ค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อุปกรณ์ป้องกันส่วนบุคคล (PPE) ขั้นต่ำ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หมวกนิรภัย รองเท้านิรภัย แว่นตานิรภัย ที่ป้องกันหู และถุงมือป้องกัน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อุปกรณ์ป้องกันการตกจากที่สูง เมื่อขึ้นปฏิบัติงานบนบูม โครงสร้าง หรือพื้นที่ไม่มีราวกั้น</a:t>
            </a:r>
            <a:endParaRPr lang="en-US" sz="1700" dirty="0"/>
          </a:p>
        </p:txBody>
      </p:sp>
      <p:sp>
        <p:nvSpPr>
          <p:cNvPr id="10" name="row-3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3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งานระบบไฟฟ้าแรงดันถึง 1,000 V: ชุดฉนวน ถุงมือฉนวน รองเท้าฉนวน เครื่องมือหุ้มฉนวน และเครื่องวัดแรงดันแบบสองขั้ว</a:t>
            </a:r>
            <a:endParaRPr lang="en-US" sz="1700" dirty="0"/>
          </a:p>
        </p:txBody>
      </p:sp>
      <p:sp>
        <p:nvSpPr>
          <p:cNvPr id="13" name="row-4"/>
          <p:cNvSpPr/>
          <p:nvPr/>
        </p:nvSpPr>
        <p:spPr>
          <a:xfrm>
            <a:off x="548640" y="348386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4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48386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ตรวจสภาพ PPE ด้วยสายตาก่อนใช้ทุกครั้ง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ความปลอดภัยก่อนตรวจเช็ค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ขั้นตอน Lockout / Tag out (LOTO)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แจ้งผู้ที่เกี่ยวข้องทั้งหมดว่าจะทำ LOTO พร้อมเหตุผล และตรวจสอบชนิดพลังงานของเครื่อง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หยุดเครื่องด้วยขั้นตอนปกติ (กดปุ่ม Stop)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81635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ปิดหรือตัดแหล่งพลังงาน (สวิตช์ วาล์ว) และปล่อยพลังงานสะสม เช่น แรงดันไฮดรอลิก สปริง ชิ้นส่วนที่ยกค้าง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48386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48386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คล้องกุญแจและติดป้ายประจำตัวที่จุดตัดพลังงาน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406908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414223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406908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ทดสอบกดปุ่มสตาร์ทเพื่อยืนยันว่าเครื่องไม่ทำงาน แล้วคืนปุ่มควบคุมไปตำแหน่ง Off/Neutral</a:t>
            </a:r>
            <a:endParaRPr lang="en-US" sz="1700" dirty="0"/>
          </a:p>
        </p:txBody>
      </p:sp>
      <p:sp>
        <p:nvSpPr>
          <p:cNvPr id="24" name="row-6"/>
          <p:cNvSpPr/>
          <p:nvPr/>
        </p:nvSpPr>
        <p:spPr>
          <a:xfrm>
            <a:off x="548640" y="465429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mark-6"/>
          <p:cNvSpPr/>
          <p:nvPr/>
        </p:nvSpPr>
        <p:spPr>
          <a:xfrm>
            <a:off x="685800" y="488289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465429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เมื่อเสร็จงาน: ตรวจว่าไม่มีคนอยู่ในพื้นที่ ติดตั้ง guard กลับ แล้วผู้ที่ล็อคเป็นผู้ปลดล็อคเท่านั้น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2 · ความปลอดภัยก่อนตรวจเช็ค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ข้อควรระวังเฉพาะงาน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550213"/>
                <a:gridCol w="754420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สถานการณ์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ข้อปฏิบัติ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ทำความสะอาดโครงสร้างชั้นบน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ห้ามยืนใต้ส่วนที่กำลังทำความสะอาด เพราะดินอาจตกใส่ ต้องสวมหมวกนิรภัยตลอด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บันได ทางเดิน พื้นเปียก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ตรวจความลื่นก่อนขึ้นเครื่อง กำจัดอันตรายก่อนเข้าพื้นที่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งานระบบไฟฟ้า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ผู้ที่ผ่านการอบรมเท่านั้น และดูเอกสาร Electrotechnical Documentation ประกอบ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ผู้ที่ผ่านการอบรมเท่านั้น และระวังท่อที่มีแรงดัน คลายแรงดันก่อนเปิดจุดวัด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พื้นผิวร้อน (เกียร์บ็อกซ์)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วัดอุณหภูมิตัวเรือนด้วยความระมัดระวัง พื้นผิวอาจร้อนเกิน 95 °C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เสร็จงาน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ติดตั้ง safety device ที่ถอดออกกลับให้ครบก่อนสตาร์ทเครื่อง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หลักการตรวจและรอบการตรวจ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หลักการตรวจและรอบการตรวจ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หลักการตรวจและรอบการตรวจ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รอบการตรวจในตารางบทที่ 4 ใช้รหัสตามคู่มือผู้ผลิต สรุปความหมายได้ดังนี้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3328325"/>
                <a:gridCol w="576909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รหัส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รายวัน / ทุกกะ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 เสียง การรั่วซึม ก่อนเริ่มงานทุกกะ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รายสัปดาห์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รวมการทำความสะอาด และเติมจาระบีตามจุด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M1, M3, M6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ทุก 1 / 3 / 6 เดือน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ตรวจละเอียดขึ้น ต้องหยุดเครื่อง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M12, M24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ทุก 12 / 24 เดือน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วัดค่าสึกหรอ ตรวจแบริ่ง ตรวจเชิงลึก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รายเดือน (ตามรายการ)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ตามที่ระบุในรายการ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หลักการตรวจและรอบการตรวจ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การตรวจประจำกะก่อนเริ่มงาน (Daily check) (1/2)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ตามคู่มือผู้ผลิตบทที่ 7.4.1 ผู้ตรวจต้องดำเนินการดังนี้ทุกครั้งที่เปิดเครื่อง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192024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199339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192024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ตรวจสายพานทุกเส้นหาความเสียหายที่มองเห็นได้ รายงานความผิดปกติและการสึกหรอทันที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50545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57860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50545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ทดสอบการทำงานของ limit switch (safety, operational, emergency) และปุ่ม Emergency Stop ทุกตัว</a:t>
            </a:r>
            <a:endParaRPr lang="en-US" sz="1700" dirty="0"/>
          </a:p>
        </p:txBody>
      </p:sp>
      <p:sp>
        <p:nvSpPr>
          <p:cNvPr id="11" name="row-3"/>
          <p:cNvSpPr/>
          <p:nvPr/>
        </p:nvSpPr>
        <p:spPr>
          <a:xfrm>
            <a:off x="548640" y="309067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mark-3"/>
          <p:cNvSpPr/>
          <p:nvPr/>
        </p:nvSpPr>
        <p:spPr>
          <a:xfrm>
            <a:off x="685800" y="316382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09067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ทำความสะอาดสวิตช์ proximity และชิ้นส่วนที่ฝุ่นจับ และหล่อลื่นตามความจำเป็น</a:t>
            </a:r>
            <a:endParaRPr lang="en-US" sz="1700" dirty="0"/>
          </a:p>
        </p:txBody>
      </p:sp>
      <p:sp>
        <p:nvSpPr>
          <p:cNvPr id="14" name="row-4"/>
          <p:cNvSpPr/>
          <p:nvPr/>
        </p:nvSpPr>
        <p:spPr>
          <a:xfrm>
            <a:off x="548640" y="367588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5" name="mark-4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367588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ตรวจสายเคเบิลที่เคลื่อนที่ว่าถลอกหรือชำรุดหรือไม่ ถ้าฉนวนเสียหายให้เปลี่ยนทันที</a:t>
            </a:r>
            <a:endParaRPr lang="en-US" sz="1700" dirty="0"/>
          </a:p>
        </p:txBody>
      </p:sp>
      <p:sp>
        <p:nvSpPr>
          <p:cNvPr id="17" name="row-5"/>
          <p:cNvSpPr/>
          <p:nvPr/>
        </p:nvSpPr>
        <p:spPr>
          <a:xfrm>
            <a:off x="548640" y="426110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5"/>
          <p:cNvSpPr/>
          <p:nvPr/>
        </p:nvSpPr>
        <p:spPr>
          <a:xfrm>
            <a:off x="685800" y="4334256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4440" y="426110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ตรวจความสกปรกของเครื่อง โดยเฉพาะดินติดที่ลูกกลิ้งและ idler</a:t>
            </a:r>
            <a:endParaRPr lang="en-US" sz="1700" dirty="0"/>
          </a:p>
        </p:txBody>
      </p:sp>
      <p:sp>
        <p:nvSpPr>
          <p:cNvPr id="20" name="row-6"/>
          <p:cNvSpPr/>
          <p:nvPr/>
        </p:nvSpPr>
        <p:spPr>
          <a:xfrm>
            <a:off x="548640" y="4846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6"/>
          <p:cNvSpPr/>
          <p:nvPr/>
        </p:nvSpPr>
        <p:spPr>
          <a:xfrm>
            <a:off x="685800" y="4919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34440" y="4846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scraper ทุกตัวหาดินติดแน่น ระดับการสึก และการทำงาน</a:t>
            </a:r>
            <a:endParaRPr lang="en-US" sz="1700" dirty="0"/>
          </a:p>
        </p:txBody>
      </p:sp>
      <p:sp>
        <p:nvSpPr>
          <p:cNvPr id="23" name="row-7"/>
          <p:cNvSpPr/>
          <p:nvPr/>
        </p:nvSpPr>
        <p:spPr>
          <a:xfrm>
            <a:off x="548640" y="5431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4" name="mark-7"/>
          <p:cNvSpPr/>
          <p:nvPr/>
        </p:nvSpPr>
        <p:spPr>
          <a:xfrm>
            <a:off x="685800" y="5504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5431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ตรวจระดับน้ำมันเกียร์และระบบไฮดรอลิก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หลักการตรวจและรอบการตรวจ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การตรวจประจำกะก่อนเริ่มงาน (Daily check) (2/2)</a:t>
            </a:r>
            <a:endParaRPr lang="en-US" sz="2800" dirty="0"/>
          </a:p>
        </p:txBody>
      </p:sp>
      <p:sp>
        <p:nvSpPr>
          <p:cNvPr id="4" name="row-8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8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ฟังเสียงเกียร์ แบริ่ง ระบบไฮดรอลิก และตรวจการรั่วซึม รวมถึง thruster ของเบรก</a:t>
            </a:r>
            <a:endParaRPr lang="en-US" sz="1700" dirty="0"/>
          </a:p>
        </p:txBody>
      </p:sp>
      <p:sp>
        <p:nvSpPr>
          <p:cNvPr id="7" name="row-9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9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ตรวจเบรกของทุกชุดขับด้วยสายตา</a:t>
            </a:r>
            <a:endParaRPr lang="en-US" sz="1700" dirty="0"/>
          </a:p>
        </p:txBody>
      </p:sp>
      <p:sp>
        <p:nvSpPr>
          <p:cNvPr id="10" name="row-10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1" name="mark-10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ปรับระบบ tensioning กลับสู่ค่าตั้งทุกครั้งที่เปลี่ยนกะ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3 · หลักการตรวจและรอบการตรวจ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การตรวจประจำกะก่อนเริ่มงาน (Daily check)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E8F1FB"/>
          </a:solidFill>
          <a:ln w="19050">
            <a:solidFill>
              <a:srgbClr val="1A5FA8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ดินและฝุ่นที่สะสมหนามีผลต่อเสถียรภาพของเครื่องและอุณหภูมิของเกียร์ ให้ปรับรอบการทำความสะอาดตามสภาพหน้างาน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รายการตรวจ/บำรุงรักษาตามผู้ผลิต (ฉบับเต็ม)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รายการตรวจ/บำรุงรักษาตามผู้ผลิต (ฉบับเต็ม)</a:t>
            </a:r>
            <a:endParaRPr lang="en-US" sz="2800" dirty="0"/>
          </a:p>
        </p:txBody>
      </p:sp>
      <p:sp>
        <p:nvSpPr>
          <p:cNvPr id="4" name="para-card"/>
          <p:cNvSpPr/>
          <p:nvPr/>
        </p:nvSpPr>
        <p:spPr>
          <a:xfrm>
            <a:off x="548640" y="1554480"/>
            <a:ext cx="11094415" cy="2651760"/>
          </a:xfrm>
          <a:prstGeom prst="roundRect">
            <a:avLst>
              <a:gd name="adj" fmla="val 413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บทนี้แปลและรวบรวมรายการตรวจ/บำรุงรักษาจาก Maintenance list ของผู้ผลิต thyssenkrupp ฉบับเต็มทุกรายการ (Spreader 397 รายการ, Tripper Car 172 รายการ) จัดตามระบบ ขณะ: ON = ตรวจขณะเดินเครื่อง, OFF = ต้องหยุดเครื่องและล็อค (LOTO) ก่อน รอบ: D รายวัน, W รายสัปดาห์, M1/M3/M4/M6/M12/M24 ทุก 1/3/4/6/12/24 เดือน ข้อความในวงเล็บเหลี่ยมคือหมายเหตุของผู้ผลิต และ § คือหัวข้อในคู่มือซ่อม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รายการตรวจ/บำรุงรักษาตามผู้ผลิต (ฉบับเต็ม)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FFF4D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!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คำเตือน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รายการที่ระบุ OFF ต้องหยุดเครื่อง ปลดพลังงาน และล็อค/ติดป้าย (LOTO) ตามบทที่ 2 ก่อนเริ่มงานทุกครั้ง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 ทั้งเครื่อง (Entire Spreader) (8 รายการ)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61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ข้อต่อ bolt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ตรวจสีของข้อต่อ bolt แบบ HSFG ว่ามีรอยร้าวหรือไม่ [ดูคู่มือซ่อม §3.4.3.1]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1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ข้อต่อ bolt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ตรวจความแน่นของข้อต่อ bolt [ดูคู่มือซ่อม §3.4.3.1]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041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ตรวจทั่วไป [ดูคู่มือซ่อม §3.2.4 – (Notes on daily inspection)]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ลูกปืน และ coupling ทั้งหมด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ตรวจเสียงเดินและการรั่วซึม [ดูคู่มือซ่อม §3.1, §3.2]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61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ตรวจทั่วไป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ตรวจทางเดิน บันได และราวจับว่าสกปรกหรือไม่ และใช้งานได้อย่างปลอดภัย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1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งานสี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ตรวจสีว่าลอก แตก หรือเสื่อมสภาพหรือไม่ [ดูคู่มือซ่อม §3.4.1]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041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งานสี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ตรวจสีว่าพองหรือมีสนิม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41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งานสี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ตรวจว่ามองเห็นสีรองพื้น (primer) หรือไม่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2 โครงสร้างเหล็ก (Structural steel work) (9 รายการ) (1/2)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ตรวจความเสียหาย การบิดเบี้ยว และรอยร้าว [ดูคู่มือซ่อม §3.4.1]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ตรวจรอยร้าวของโครงสร้างส่วนที่รับแรงดึง [ดูคู่มือซ่อม §3.4.1]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ตรวจว่าประตูนิรภัย (safety gate) ทำงานได้ดี [ดูคู่มือซ่อม §3.4.1]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ตรวจว่าค้ำยัน (bracing) ยึดแน่น [ดูคู่มือซ่อม §3.4.1]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ตรวจโครงสร้างเหล็ก: ชำรุด รอยร้าว สีเสียหาย สนิมหรือการสึก ชิ้นส่วนโครงสร้างหาย [ดูคู่มือซ่อม §3.4.1]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รอยเชื่อม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ตรวจรอยเชื่อมว่าไม่มีรอยร้าว [ดูคู่มือซ่อม §3.4.1]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หน้าตัดและแผ่นเหล็ก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ตรวจหน้าตัดและรอยเชื่อมว่าไม่มีรอยร้าว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ทางเดิน บันได และราวจับ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ตรวจความสกปรกและความปลอดภัยในการใช้งาน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2 โครงสร้างเหล็ก (Structural steel work) (9 รายการ) (2/2)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ทางเดิน บันได และราวจับ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ตรวจทางเดิน นั่งร้าน และราวกั้นว่าบิดเบี้ยว เสียหาย หรือสกปรกหรือไม่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3 อุปกรณ์ความปลอดภัยและเฝ้าระวัง (8 รายการ) (1/2)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Belt misalignment switch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Belt misalignment switch [ดู Electrotechnical Documentation]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ตรวจความพร้อมใช้งานของปุ่ม Emergency stop, pull-wire switch และ limit switch ฉุกเฉินทั้งหมด [ดูคู่มือซ่อม §3.5.1]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limit switch ประจำที่และสำรอง [ดูคู่มือซ่อม §3.5.1]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ขจัดวัสดุพอกติดที่ limit switch, proximity switch และตัวกระตุ้น และหล่อลื่นถ้าจำเป็น [ดูคู่มือซ่อม §3.5.1]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ตรวจชิ้นส่วนสึกหรอทางไฟฟ้า เช่น ลูกปืน แปรงถ่าน สลิปริง และซ่อม/เปลี่ยนชิ้นที่ชำรุด [ดูคู่มือซ่อม §3.5.1]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ตรวจสายไฟเคลื่อนที่ว่าสึกหรือเสียหาย และเปลี่ยนสายที่เสียหายทันที [ดูคู่มือซ่อม §3.5.1]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ตรวจว่าขั้วต่อและจุดเชื่อมต่อแน่น และขันเพิ่มถ้าจำเป็น [ดูคู่มือซ่อม §3.5.1]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3 อุปกรณ์ความปลอดภัยและเฝ้าระวัง (8 รายการ) (2/2)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Spreader ทั้งเครื่อง / Pull-wire switch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ตรวจสายสลิงและสปริงของ pull-wire ด้วยสายตา [ดูคู่มือซ่อม §3.5.1]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3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ปุ่ม Emergency stop (คู่มือผู้ผลิต Figure 6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29785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1517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Emergency stop (คู่มือผู้ผลิต Figure 64)</a:t>
            </a:r>
            <a:endParaRPr lang="en-US" sz="1200" dirty="0"/>
          </a:p>
        </p:txBody>
      </p:sp>
      <p:pic>
        <p:nvPicPr>
          <p:cNvPr id="6" name="Image 1" descr="Pull rope switch (คู่มือผู้ผลิต Figure 65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921" y="1371600"/>
            <a:ext cx="4698221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rope switch (คู่มือผู้ผลิต Figure 65)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3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อุปกรณ์ความปลอดภัยเชิงกล (คู่มือผู้ผลิต Figure 6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02674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4406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อุปกรณ์ความปลอดภัยเชิงกล (คู่มือผู้ผลิต Figure 67)</a:t>
            </a:r>
            <a:endParaRPr lang="en-US" sz="1200" dirty="0"/>
          </a:p>
        </p:txBody>
      </p:sp>
      <p:pic>
        <p:nvPicPr>
          <p:cNvPr id="6" name="Image 1" descr="Limit switch ระยะเดินของสะพาน C1 (คู่มือผู้ผลิต Figure 6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480" y="1371600"/>
            <a:ext cx="5253103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Limit switch ระยะเดินของสะพาน C1 (คู่มือผู้ผลิต Figure 68)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3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การตรวจมุมหมุนและ slew limit switch (คู่มือผู้ผลิต Figure 6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6700" y="1371600"/>
            <a:ext cx="4133927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การตรวจมุมหมุนและ slew limit switch (คู่มือผู้ผลิต Figure 69)</a:t>
            </a:r>
            <a:endParaRPr lang="en-US" sz="1200" dirty="0"/>
          </a:p>
        </p:txBody>
      </p:sp>
      <p:pic>
        <p:nvPicPr>
          <p:cNvPr id="6" name="Image 1" descr="Belt misalignment switch (คู่มือผู้ผลิต Figure 7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2541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671423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misalignment switch (คู่มือผู้ผลิต Figure 70)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3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Belt slip control (คู่มือผู้ผลิต Figure 7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42087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26031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slip control (คู่มือผู้ผลิต Figure 71)</a:t>
            </a:r>
            <a:endParaRPr lang="en-US" sz="1200" dirty="0"/>
          </a:p>
        </p:txBody>
      </p:sp>
      <p:pic>
        <p:nvPicPr>
          <p:cNvPr id="6" name="Image 1" descr="ระบบป้องกันการชน (Collision protection) (คู่มือผู้ผลิต Figure 7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223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64038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ระบบป้องกันการชน (Collision protection) (คู่มือผู้ผลิต Figure 72)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(1/8)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frame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ขจัดดินที่พอกติดระหว่าง crawler track ด้านบนกับ crawler frame [ดูคู่มือซ่อม §3.5.1.2]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Crawler track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ตรวจระดับความสกปรกและทำความสะอาดตามความจำเป็น [ดูคู่มือซ่อม §3.5.1.2]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Drive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ตรวจการรั่วซึมด้วยสายตา (เช่น radial shaft seal และจุกอุด)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Drive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ตรวจเสียงเดินผิดปกติของ drive unit และลูกปืน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ซีล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อัดจาระบีซีลทุกจุดใหม่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Torque bracket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ตรวจยางกันกระแทกของ torque bracket ว่าเสียหายหรือไม่ [ตรวจทุก 3,000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Torque bracket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ตรวจข้อต่อเกลียวที่ torque bracket [ทุกครั้งที่เปลี่ยนน้ำมัน]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(2/8)</a:t>
            </a:r>
            <a:endParaRPr lang="en-US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ตรวจแนวศูนย์ของเพลาขาเข้าและขาออก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Planetary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เปลี่ยนน้ำมันครั้งแรก [500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Planetary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เปลี่ยนน้ำมันครั้งถัดไป [ทุก 10,000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ตรวจอุณหภูมิเกียร์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ตรวจเสียงเดิน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 [ดูคู่มือผู้ผลิตของชิ้นส่วน – และคู่มือซ่อม §6.3.1.1.2]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ตรวจคุณภาพน้ำมัน [ดูคู่มือผู้ผลิตของชิ้นส่วน – และคู่มือซ่อม §6.3.1.1.2]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(3/8)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ตรวจการรั่วซึมของเกียร์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ตรวจสีด้วยสายตา [หากสีเคลือบชิ้นส่วนภายนอกของเกียร์เสียหาย การป้องกันสนิมจะเสียไป ต้องทาซ่อมทันที]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 vent valve [ล้าง vent valve ที่ถอดออกด้วย petroleum ether แล้วเป่าแห้ง/ลมอัด ต้องระบายอากาศเพียงพอ (เสี่ยงระเบิด)]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เปลี่ยนน้ำมันครั้งแรก [หลัง 2,000 ชม.เดินเครื่อง (ดูคู่มือผู้ผลิต)]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เปลี่ยนน้ำมันครั้งถัดไป [หลังจากนั้นทุก 15,000 ชม. หรือ 60 เดือน (ดูคู่มือผู้ผลิต)]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ทำความสะอาดตัวเกียร์ [ห้ามใช้น้ำแรงดันสูงหรือสารทำความสะอาดเข้มข้นขจัดสิ่งสกปรก]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Worm gear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ตรวจความแน่นของสกรูยึด [ดูคู่มือผู้ผลิตของชิ้นส่วน]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(4/8)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เพลา Cardan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หล่อลื่น U-joint [จนกว่าจาระบีจะดันออกที่ซีล]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เพลา Cardan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หล่อลื่นชุดชดเชยความยาว (length compensation) [ทุก 90 วัน หรือ 1,000 ชม.เดินเครื่อง ในตำแหน่งหดสั้นสุด/ถูกอัด]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ตรวจเบรกด้วยสายตาและทดสอบการทำงาน เน้น: การกัดกร่อน การสึกของผ้าเบรก สภาพข้อต่อสกรู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Brake thruster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thruster เป็นประจำ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Brake thruster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ตรวจว่าความหนืดของน้ำมันเปลี่ยนไปหรือน้ำมันคล้ำขึ้นหรือไม่ [เปลี่ยนน้ำมันถ้าจำเป็น]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track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ตรวจว่าโซ่และ drive tumbler ขบกันดี มิฉะนั้นให้ปรับความตึง crawler track ใหม่ [ดูคู่มือซ่อม §3.5.1.4.3]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track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 track pin และ bush [ดูคู่มือซ่อม §3.5.1.10.1]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(5/8)</a:t>
            </a:r>
            <a:endParaRPr lang="en-US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track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ตรวจปริมาณน้ำมันของชุดปรับตึงไฮดรอลิก [ดูคู่มือซ่อม §6.3.1.2]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bogie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bogie บิดเบี้ยวหรือรอยเชื่อมร้าวหรือไม่ [ดูคู่มือซ่อม §3.5.1.6]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bogie / Bogie 2 ล้อ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ตรวจการสึกตามแนวแกนและแนวรัศมีของจุดยึด bogie แบบ 2 ล้อใน crawler frame [ดูคู่มือซ่อม §3.5.1.6]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bogie / Bogie 4 ล้อ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ตรวจการสึกตามแนวแกนและแนวรัศมีของจุดยึด bogie แบบ 4 ล้อใน crawler frame [ดูคู่มือซ่อม §3.5.1.6]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bogie / Track wheel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วัดการสึกตามแนวแกนและแนวรัศมีของลูกปืน track wheel [ดูคู่มือซ่อม §3.5.1.6.5]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bogie / Track wheel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 track wheel [ดูคู่มือซ่อม §3.5.1.6.5]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Supporting wheel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ตรวจการสึกตามแนวแกนและแนวรัศมีของ supporting wheel [ดูคู่มือซ่อม §3.5.1.7]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Supporting wheel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 supporting wheel [ดูคู่มือซ่อม §3.5.1.7]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(6/8)</a:t>
            </a:r>
            <a:endParaRPr lang="en-US" sz="2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Drive tumbler / ลูกปืนเพลา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วัดการสึกตามแนวแกนและแนวรัศมีของลูกปืนเพลา drive tumbler [ดูคู่มือซ่อม §3.5.1.4]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Drive tumbler / Cam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 cam ที่ drive tumbler [ดูคู่มือซ่อม §3.5.1.4]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Take-up tumbler / ลูกปืนเพลา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วัดการสึกตามแนวแกนและแนวรัศมีของลูกปืนเพลา [ดูคู่มือซ่อม §3.5.1.5]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Take-up tumbler / ชุดปรับตั้ง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ทำความสะอาดและหล่อลื่นชุดปรับตั้ง [ก่อนปรับความตึง track ทุกครั้ง หรืออย่างช้าหนึ่งปี]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Take-up tumbler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ตรวจว่าจาระบีที่ไหลออกจาก take-up tumbler มีเศษโลหะปนหรือไม่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Take-up tumbler / ตัว tumbler wheel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วัดการสึกของตัว tumbler wheel และตรวจสภาพ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ทำความสะอาดและอัดจาระบี sliding block, รางเลื่อน และเกลียวปรับตึง (take-up spindle)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(7/8)</a:t>
            </a:r>
            <a:endParaRPr lang="en-US" sz="2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103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ตรวจกระบอกไฮดรอลิกของชุดปรับตึงด้วยสายตา: กระบอกและก้านสูบไม่เสียหาย/ไม่บิดงอ ข้อต่อไม่เสียหาย ไม่รั่ว สกรูทุกตัวแน่น coupling ครบและแน่น ต่อเข้าออกง่าย มีฝาครอบกันฝุ่น ป้ายชื่อ/ป้ายเตือนครบอ่านออก อุปกรณ์ประกอบไม่เสียหาย [หลังใช้งานทุกครั้ง อย่างน้อยปีละครั้ง]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ทดสอบการทำงาน: ก้านสูบชักเข้า-ออกได้เต็มช่วงชัก เคลื่อนที่นุ่มนวลเมื่อมีแรงดัน ไม่มีเสียงผิดปกติขณะทำงาน [ทุก 3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ท่อไฮดรอลิก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ตรวจท่อไฮดรอลิกว่ามีความเสียหายหรือข้อบกพร่องที่มองเห็นหรือไม่ [ก่อนนำเข้าใช้งาน (ทุกครั้งที่ปรับตึงโซ่ crawler ใหม่)]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ท่อไฮดรอลิก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ให้ผู้เชี่ยวชาญตรวจสภาพท่อไฮดรอลิก [ดูคู่มือซ่อม §3.2.5]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1343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Hand pump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ตรวจด้วยสายตา: ข้อต่อไฮดรอลิกแน่น ไม่รั่ว ไม่มีความเสียหายที่ตัวปั๊ม/valve block/ชิ้นส่วนยึด (โดยเฉพาะก้านสูบ) ระดับของเหลวอยู่ในเกณฑ์ ชิ้นส่วนที่ไม่เคลื่อนที่ยึดแน่น ไม่มีสนิม คันปั๊ม กลไกล็อก และมือหมุนเคลื่อนได้คล่อง coupling ต่อง่าย ฝากันฝุ่นอยู่ครบ ป้ายและสติ๊กเกอร์ครบอ่านออก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Hand pump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ตรวจการทำงาน: ไม่มีเสียงผิดปกติ ทดสอบที่โหลดสูงสุด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(8/8)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Distributor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ตรวจด้วยสายตา: ข้อต่อไฮดรอลิกแน่น ไม่รั่ว ไม่มีความเสียหายที่วาล์ว ข้อต่อที่ไม่เคลื่อนที่แน่น ปุ่มหมุนหมุนง่าย ไม่มีสนิม ป้ายชื่อ ป้ายเตือน และเครื่องหมายครบอ่านออก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Distributor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ทดสอบการทำงาน: ไม่มีเสียงผิดปกติ ทดสอบที่โหลดสูงสุด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frame / ลูกปืนเพลา crawler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วัดการสึกตามแนวรัศมีของลูกปืนเพลา crawler [ดูคู่มือซ่อม §3.5.1.8.1]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Crawler frame / ลูกปืนเพลากลาง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วัดการสึกตามแนวรัศมีของลูกปืนเพลากลาง (middle axle) [ดูคู่มือซ่อม §3.5.1.8.2]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· ภาพประกอบ</a:t>
            </a:r>
            <a:endParaRPr lang="en-US" sz="2800" dirty="0"/>
          </a:p>
        </p:txBody>
      </p:sp>
      <p:pic>
        <p:nvPicPr>
          <p:cNvPr id="4" name="Image 0" descr="ภาพประกอบ: หน้าตัด Drive tumbler ของชุด crawler (OB9 Traini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1318" y="1371600"/>
            <a:ext cx="3909060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ภาพประกอบ: หน้าตัด Drive tumbler ของชุด crawler (OB9 Training)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· ภาพประกอบ</a:t>
            </a:r>
            <a:endParaRPr lang="en-US" sz="2800" dirty="0"/>
          </a:p>
        </p:txBody>
      </p:sp>
      <p:pic>
        <p:nvPicPr>
          <p:cNvPr id="4" name="Image 0" descr="Crawler track assembly (คู่มือผู้ผลิต Figure 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04" y="1371600"/>
            <a:ext cx="513012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Crawler track assembly (คู่มือผู้ผลิต Figure 5)</a:t>
            </a:r>
            <a:endParaRPr lang="en-US" sz="1200" dirty="0"/>
          </a:p>
        </p:txBody>
      </p:sp>
      <p:pic>
        <p:nvPicPr>
          <p:cNvPr id="6" name="Image 1" descr="ส่วนประกอบ crawler track (คู่มือผู้ผลิต Figure 1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87007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28739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ส่วนประกอบ crawler track (คู่มือผู้ผลิต Figure 10)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· ภาพประกอบ</a:t>
            </a:r>
            <a:endParaRPr lang="en-US" sz="2800" dirty="0"/>
          </a:p>
        </p:txBody>
      </p:sp>
      <p:pic>
        <p:nvPicPr>
          <p:cNvPr id="4" name="Image 0" descr="Travel drive (คู่มือผู้ผลิต Figure 1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2944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1179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Travel drive (คู่มือผู้ผลิต Figure 11)</a:t>
            </a:r>
            <a:endParaRPr lang="en-US" sz="1200" dirty="0"/>
          </a:p>
        </p:txBody>
      </p:sp>
      <p:pic>
        <p:nvPicPr>
          <p:cNvPr id="6" name="Image 1" descr="Drive tumbler (คู่มือผู้ผลิต Figure 1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908" y="1371600"/>
            <a:ext cx="4208247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Drive tumbler (คู่มือผู้ผลิต Figure 12)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· ภาพประกอบ</a:t>
            </a:r>
            <a:endParaRPr lang="en-US" sz="2800" dirty="0"/>
          </a:p>
        </p:txBody>
      </p:sp>
      <p:pic>
        <p:nvPicPr>
          <p:cNvPr id="4" name="Image 0" descr="Bogie และชิ้นส่วน (bogie 2 ล้อ) (คู่มือผู้ผลิต Figure 1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4539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5660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Bogie และชิ้นส่วน (bogie 2 ล้อ) (คู่มือผู้ผลิต Figure 14)</a:t>
            </a:r>
            <a:endParaRPr lang="en-US" sz="1200" dirty="0"/>
          </a:p>
        </p:txBody>
      </p:sp>
      <p:pic>
        <p:nvPicPr>
          <p:cNvPr id="6" name="Image 1" descr="Track wheel และ bogie (คู่มือผู้ผลิต Figure 1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433" y="1371600"/>
            <a:ext cx="4339197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Track wheel และ bogie (คู่มือผู้ผลิต Figure 16)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4 Crawler track assembly (ระบบเดินตีนตะขาบ) (53 รายการ) · ภาพประกอบ</a:t>
            </a:r>
            <a:endParaRPr lang="en-US" sz="2800" dirty="0"/>
          </a:p>
        </p:txBody>
      </p:sp>
      <p:pic>
        <p:nvPicPr>
          <p:cNvPr id="4" name="Image 0" descr="Crawler track (แผ่นโซ่) (คู่มือผู้ผลิต Figure 1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868" y="1371600"/>
            <a:ext cx="5209592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Crawler track (แผ่นโซ่) (คู่มือผู้ผลิต Figure 17)</a:t>
            </a:r>
            <a:endParaRPr lang="en-US" sz="1200" dirty="0"/>
          </a:p>
        </p:txBody>
      </p:sp>
      <p:pic>
        <p:nvPicPr>
          <p:cNvPr id="6" name="Image 1" descr="Support wheel (คู่มือผู้ผลิต Figure 1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30546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722783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 wheel (คู่มือผู้ผลิต Figure 18)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(1/6)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Slew bearing / ข้อต่อ bolt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 bolt [ตรวจครั้งแรกหลัง 100 ชม. ครั้งที่สองหลัง 600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Slew bearing / ซีลยืดหยุ่น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ตรวจสภาพซีลยางยืดหยุ่นของ ball bearing [ดูคู่มือซ่อม §6.3.2.1]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Slew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ขจัดจาระบีที่สะสมบริเวณวงในและวงนอก [ดูคู่มือซ่อม §6.3.2.1]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Slew bearing / Slewing 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วัดการสึกของ ball bearing slewing ring [ดูคู่มือซ่อม §3.5.2.1.2]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Slew bearing / ข้อต่อ bolt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ของ ball bearing [ดูคู่มือซ่อม §3.5.2.1.3]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Slew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ขจัดสิ่งสกปรก [ดูคู่มือซ่อม §6.3.2.1]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การบำรุงรักษารวม: ตรวจอุณหภูมิที่จุดลูกปืน ตรวจระดับน้ำมัน กำกับการเปลี่ยนน้ำมัน ตรวจเสียง ตรวจการรั่ว และทำความสะอาด vent/รูระบายอากาศ [รอบหล่อลื่นลูกปืนและเกียร์ ดูคู่มือการใช้งานของแต่ละชิ้นส่วน]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(2/6)</a:t>
            </a:r>
            <a:endParaRPr lang="en-US" sz="2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ตรวจการหล่อลื่นของ gear rim และ pinion ของ slewing drive [ดูคู่มือซ่อม §3.5.2.1.1]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ตรวจการสึกหรือความเสียหายของ gear rim และ pinion ของ slewing drive [ดูคู่มือซ่อม §3.5.2.1.4]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วัดความหนาฟันที่ pitch circle [ดูคู่มือซ่อม §3.5.2.1.4]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ตรวจการรั่วซึมด้วยสายตา (เช่น radial shaft seal และจุกอุด)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ตรวจเสียงเดินผิดปกติของเกียร์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ตรวจความร้อนเกินของเกียร์ อุณหภูมิตัวเกียร์ต้องไม่เกิน 95 °C (ความสกปรกมากทำให้อุณหภูมิสูงขึ้น ให้ขจัดสิ่งสกปรก — ระวังผิวร้อน)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ตรวจระดับน้ำมันและเติมถ้าจำเป็น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(3/6)</a:t>
            </a:r>
            <a:endParaRPr lang="en-US" sz="28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ขจัดฝุ่นและสิ่งสกปรกที่ผิวเกียร์ [ลดรอบถ้าจำเป็น]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ซีล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อัดจาระบีซีลทุกจุดใหม่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Torque bracket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ตรวจยางกันกระแทกของ torque bracket ว่าเสียหายหรือไม่ [ตรวจทุก 3,000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ตรวจสีเคลือบผิวชิ้นส่วนทั้งหมดและซ่อมถ้าเสียหาย [ตรวจทุก 3,000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หากมี shrink disc ให้ตรวจแรงบิดของสกรูรัด [ตรวจทุก 3,000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วิเคราะห์น้ำมันและเปลี่ยนน้ำมันถ้าจำเป็น [เก็บตัวอย่างน้ำมันขณะเกียร์ทำงาน อย่างน้อยทุก 3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vent ว่าเสียหายหรืออุดตันด้วยสิ่งสกปรกหรือไม่ [ทุกครั้งที่เปลี่ยนน้ำมัน]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(4/6)</a:t>
            </a:r>
            <a:endParaRPr lang="en-US" sz="28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 ข้อต่อเกลียว และแนวศูนย์ของฝาครอบป้องกัน [ทุกครั้งที่เปลี่ยนน้ำมัน]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Torque bracket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ตรวจข้อต่อเกลียวที่ torque bracket [ทุกครั้งที่เปลี่ยนน้ำมัน]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ตรวจพื้นผิวสัมผัสของฟันที่เข้าถึงได้ผ่านช่องตรวจ [ทุกครั้งที่เปลี่ยนน้ำมัน]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เพลา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ตรวจแนวศูนย์ของเพลาขาเข้าและขาออก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ตรวจพื้นผิวสัมผัสของฟันที่เข้าถึงได้ผ่านช่องตรวจ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ตรวจสีว่าเสียหายหรือไม่ [ลดรอบถ้าจำเป็น]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coupling 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(5/6)</a:t>
            </a:r>
            <a:endParaRPr lang="en-US" sz="2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 spider ของ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ตรวจแนวศูนย์ของ coupling และปรับศูนย์ใหม่ถ้าจำเป็น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ตรวจชิ้นส่วน coupling ว่าเสียหายหรือไม่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ตรวจข้อต่อสกรูด้วยสายตา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ตรวจแรงขันของสกรู [ตามรอบตรวจปกติ]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ตรวจสภาพผ้าเบรกและจานเบรกด้วยสายตา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ตรวจระยะชักสำรองขณะเบรกอยู่ในตำแหน่งปิด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ตรวจแรงเบรกที่ตั้งไว้ขณะเบรกอยู่ในตำแหน่งปิด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(6/6)</a:t>
            </a:r>
            <a:endParaRPr lang="en-US" sz="28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bolt ปรับคันโยกขณะเบรกอยู่ในตำแหน่งปล่อย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 bolt 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ตรวจการสึกหรือความเสียหายของดรัม/จานเบรก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ตรวจอุปกรณ์เสริม (limit switch, ปลดเบรกด้วยมือ ฯลฯ)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ตรวจระดับน้ำมันของ hydraulic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ตรวจระบบเบรกทั้งชุดอย่างครบถ้วน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ตรวจสายไฟเลี้ยง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ตรวจท่อไฮดรอลิกหรือท่อลม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ตรวจน้ำมันใน hydraulic unit (ระดับและสภาพ)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ตรวจผ้าเบรก ก้ามเบรก และดรัม/จานเบรก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ตรวจแรงยึดของเบรกถ้าจำเป็น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หมุน (Slewing mechanism) (คู่มือผู้ผลิต Figure 1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44007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1803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ระบบหมุน (Slewing mechanism) (คู่มือผู้ผลิต Figure 19)</a:t>
            </a:r>
            <a:endParaRPr lang="en-US" sz="1200" dirty="0"/>
          </a:p>
        </p:txBody>
      </p:sp>
      <p:pic>
        <p:nvPicPr>
          <p:cNvPr id="6" name="Image 1" descr="Ball race bearing (คู่มือผู้ผลิต Figure 2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1280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545404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Ball race bearing (คู่มือผู้ผลิต Figure 20)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5 Main slewing mechanism (ระบบหมุน) (47 รายการ) · ภาพประกอบ</a:t>
            </a:r>
            <a:endParaRPr lang="en-US" sz="2800" dirty="0"/>
          </a:p>
        </p:txBody>
      </p:sp>
      <p:pic>
        <p:nvPicPr>
          <p:cNvPr id="4" name="Image 0" descr="Slewing drive (คู่มือผู้ผลิต Figure 2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42957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13059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Slewing drive (คู่มือผู้ผลิต Figure 21)</a:t>
            </a:r>
            <a:endParaRPr lang="en-US" sz="1200" dirty="0"/>
          </a:p>
        </p:txBody>
      </p:sp>
      <p:pic>
        <p:nvPicPr>
          <p:cNvPr id="6" name="Image 1" descr="Locking device ของระบบหมุน (คู่มือผู้ผลิต Figure 2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479" y="1371600"/>
            <a:ext cx="4485105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Locking device ของระบบหมุน (คู่มือผู้ผลิต Figure 22)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(1/12)</a:t>
            </a:r>
            <a:endParaRPr lang="en-US" sz="28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ตรวจระบบสายพานว่ามีสิ่งผิดปกติหรือไม่: เสียง* อุณหภูมิ* การสั่นสะเทือน* กลิ่น* สัญญาณ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ตรวจระบบสายพานว่ามีส่วนหลวมหรือไม่: bolt สายไฟ ท่อจาระบี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ตรวจระบบสายพานว่ามีชำรุดที่: สายพาน, idler, pulley, อุปกรณ์ไฟฟ้า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ตรวจความสกปรกของระบบสายพาน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wet-air filter [ตามความจำเป็น]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 air filter [ตามความจำเป็น]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ทำความสะอาดพัดลมและตัวเกียร์ [ตามความจำเป็น]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(2/12)</a:t>
            </a:r>
            <a:endParaRPr lang="en-US" sz="2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backstop [ดูป้ายบนเกียร์]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อุณหภูมิน้ำมัน ความดันน้ำมัน (ถ้ามีระบบหล่อลื่นแบบอัดแรงดัน) และเสียงเกียร์ที่เปลี่ยนไป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การรั่ว และระดับน้ำมัน [ก่อนสตาร์ททุกครั้ง]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ตรวจปริมาณน้ำในน้ำมัน [400 ชม.เดินเครื่องหลังเริ่มใช้งาน]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 (หรือตามผลวิเคราะห์น้ำมัน) [400 ชม.เดินเครื่องหลังเริ่มใช้งาน]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bolt ยึดทุกตัวแน่น [400 ชม.เดินเครื่องหลังเริ่มใช้งาน]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การเฝ้าติดตามความเร็วของ auxiliary drive และ auxiliary drive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(3/12)</a:t>
            </a:r>
            <a:endParaRPr lang="en-US" sz="2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ทำความสะอาด: oil filter และ air filter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วัดระดับการสั่นสะเทือนของลูกปืนแบบลูกกลิ้ง [ทุก 3,000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อัดจาระบีใหม่: ซีล Taconite และ Tacolab [ทุก 3,000 ชม. อย่างน้อยทุก 6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เติมจาระบีในท่อกักน้ำมัน [ทุก 5,000 ชม. อย่างน้อยทุก 10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ผ้าเสียดทานของ torque-limiting backstop และปริมาณน้ำในน้ำมัน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ท่อไฮดรอลิก และ shrink disk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(4/12)</a:t>
            </a:r>
            <a:endParaRPr lang="en-US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 หากใช้น้ำมันแร่ API Group I/II หรือ synthetic ester แบบอิ่มตัว (หรือตามผลวิเคราะห์น้ำมัน) [ทุก 10,000 ชม. อย่างน้อยทุก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air-oil cooler และ water-oil cooler [พร้อมกับการเปลี่ยนน้ำมัน]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ตรวจทั่วไปตัวเกียร์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ตรวจน้ำมันหล่อเย็น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bolt ยึดทุกตัวแน่น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ทำความสะอาดพัดลมและตัวเกียร์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(5/12)</a:t>
            </a:r>
            <a:endParaRPr lang="en-US" sz="28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 หากใช้น้ำมันกึ่งสังเคราะห์ API Group III, PAO หรือ PG (หรือตามผลวิเคราะห์น้ำมัน) [ทุก 20,000 ชม. อย่างน้อยทุก 4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เปลี่ยนท่อ/สายไฮดรอลิก [6 ปีนับจากวันผลิตที่ระบุ]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เปลี่ยนของเหลวทำงาน [ปรับรอบตามสภาพใช้งานตามตารางในคู่มือผู้ผลิต]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ตรวจสภาพผ้าเบรกและจานเบรกด้วยสายตา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ตรวจระยะชักสำรองขณะเบรกอยู่ในตำแหน่งปิด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ตรวจแรงเบรกที่ตั้งไว้ขณะเบรกอยู่ในตำแหน่งปิด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bolt ปรับคันโยกขณะเบรกอยู่ในตำแหน่งปล่อย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 bolt 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ตรวจการสึก/ความเสียหายของจานเบรก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(6/12)</a:t>
            </a:r>
            <a:endParaRPr lang="en-US" sz="2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ตรวจอุปกรณ์เสริม (limit switch, ปลดเบรกด้วยมือ ฯลฯ)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ตรวจระดับน้ำมันของ hydraulic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ตรวจระบบเบรกทั้งชุดอย่างครบถ้วน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ตรวจสายไฟเลี้ยง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ตรวจท่อไฮดรอลิกหรือท่อลม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ตรวจน้ำมันใน hydraulic unit (ระดับและสภาพ)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ตรวจผ้าเบรก ก้ามเบรก และดรัม/จานเบรก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ตรวจแรงยึดของเบรกถ้าจำเป็น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ตรวจสภาพสายพาน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ตรวจการวิ่งตรงศูนย์ของสายพาน (belt tracking)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ตรวจการเคลื่อนที่/การวิ่งของสายพาน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(7/12)</a:t>
            </a:r>
            <a:endParaRPr lang="en-US" sz="2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ตรวจแรงตึงสายพานและปรับตึงเพิ่มถ้าจำเป็น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pulley สายพาน: ความเสียหาย การอุดตัน เสียงเดินผิดปกติ การสึกของยางหุ้ม กลิ่น/อุณหภูมิผิดปกติของลูกปืน bolt หลวม ท่อหล่อลื่นหลวม และสายเซนเซอร์หลวม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ขจัดเศษวัสดุสะสมบริเวณ pulley กลับทิศ (deflection) ถ้าจำเป็น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 / ลูกปืน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อัดจาระบีลูกปืนแบบ self-aligning ใหม่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 / ลูกปืน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ที่ขันยึด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 / ลูกปืน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ตรวจความเสียหายของลูกปืน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ตรวจใหญ่ (revision) pulley สายพาน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Idler / Garland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idler: เสียงผิดปกติ และ idler ติดตาย [ดูคู่มือซ่อม §3.5.3.4]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(8/12)</a:t>
            </a:r>
            <a:endParaRPr lang="en-US" sz="2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Idler / Garland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idler: idler หาย สายพานเสียดสีกับขาจับ/ค้ำยัน เสียดสีเพราะ idler หรือวัสดุพอกติด เปลือก idler สึก รอยแหว่งที่ผิวหน้า ลูกปืนเสียหาย idler เอียง สายพานเสียดสี/วิ่งเบี้ยว [ดูคู่มือซ่อม §3.5.3.4]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ตรวจว่าใบมีดไม่มีวัสดุพอกติด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ตรวจว่าแรงกดตั้งต้น (pre-tension) ถูกต้อง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ตรวจว่าใบมีดสัมผัสสายพานเต็มแนว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ตรวจการเคลื่อนที่ของแกน segment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ตรวจว่าใบมีดสึกเกินใช้งานหรือไม่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ตรวจว่าใบมีดเสียหายหรือไม่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ตรวจว่าฐานใบมีดยังหมุนได้อิสระเพื่อปรับตึง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(9/12)</a:t>
            </a:r>
            <a:endParaRPr lang="en-US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ตรวจว่าใบมีดสะอาดไม่มีเศษค้าง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ตรวจว่าแรงกดตั้งต้น (pre-tension) ถูกต้อง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ตรวจว่าใบมีดทุกใบแนบสายพานตามข้อกำหนด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ตรวจว่าแกนใบมีดเคลื่อนที่ได้อิสระ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ตรวจว่าใบมีดสึกหมดหรือไม่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ตรวจว่าใบมีดไม่เสียหาย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ตรวจว่าฐานใบมีดหมุนได้อิสระเพื่อปรับตึง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ทำความสะอาดเศษค้างที่ใบมีด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ตรวจว่าการเคลื่อนที่อิสระเป็นไปตามข้อกำหนด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(10/12)</a:t>
            </a:r>
            <a:endParaRPr lang="en-US" sz="2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connecting pin ของแขนนำ (guide arm) ว่าเสียหายหรือไม่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ตรวจการสึกของใบมีดยาง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ตรวจการเชื่อมต่อของโซ่กับโครงเหล็กและ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[หลังสายพานหยุด]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Steel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ตรวจการสึกของใบมีด steel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Steel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ตรวจระยะห่างระหว่าง snub pulley กับใบมีด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(11/12)</a:t>
            </a:r>
            <a:endParaRPr lang="en-US" sz="28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103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ตรวจกระบอกไฮดรอลิกของชุดปรับตึงด้วยสายตา: กระบอกและก้านสูบไม่เสียหาย/ไม่บิดงอ ข้อต่อไม่เสียหาย ไม่รั่ว สกรูทุกตัวแน่น coupling ครบและแน่น ต่อเข้าออกง่าย มีฝาครอบกันฝุ่น ป้ายชื่อ/ป้ายเตือนครบอ่านออก อุปกรณ์ประกอบไม่เสียหาย [หลังใช้งานทุกครั้ง อย่างน้อยปีละครั้ง]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ทดสอบการทำงาน: ก้านสูบชักเข้า-ออกได้เต็มช่วงชัก เคลื่อนที่นุ่มนวลเมื่อมีแรงดัน ไม่มีเสียงผิดปกติขณะทำงาน [ทุก 3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ท่อไฮดรอลิก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ตรวจท่อไฮดรอลิกว่ามีความเสียหายหรือข้อบกพร่องที่มองเห็นหรือไม่ [ก่อนนำเข้าใช้งาน (ทุกครั้งที่ปรับตึงโซ่ crawler ใหม่)]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ท่อไฮดรอลิก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ให้ผู้เชี่ยวชาญตรวจสภาพท่อไฮดรอลิก [ดูคู่มือซ่อม §3.5.3.2.5]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1343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Hand pump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ตรวจด้วยสายตา: ข้อต่อไฮดรอลิกแน่น ไม่รั่ว ไม่มีความเสียหายที่ตัวปั๊ม/valve block/ชิ้นส่วนยึด (โดยเฉพาะก้านสูบ) ระดับของเหลวอยู่ในเกณฑ์ ชิ้นส่วนที่ไม่เคลื่อนที่ยึดแน่น ไม่มีสนิม คันปั๊ม กลไกล็อก และมือหมุนเคลื่อนได้คล่อง coupling ต่อง่าย ฝากันฝุ่นอยู่ครบ ป้ายและสติ๊กเกอร์ครบอ่านออก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Hand pump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ตรวจการทำงาน: ไม่มีเสียงผิดปกติ ทดสอบที่โหลดสูงสุด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(12/12)</a:t>
            </a:r>
            <a:endParaRPr lang="en-US" sz="28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Distributor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ตรวจด้วยสายตา: ข้อต่อไฮดรอลิกแน่น ไม่รั่ว ไม่มีความเสียหายที่วาล์ว ข้อต่อที่ไม่เคลื่อนที่แน่น ปุ่มหมุนหมุนง่าย ไม่มีสนิม ป้ายชื่อ ป้ายเตือน และเครื่องหมายครบอ่านออก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Distributor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ทดสอบการทำงาน: ไม่มีเสียงผิดปกติ ทดสอบที่โหลดสูงสุด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chute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ตรวจการไหลของวัสดุ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chute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ตรวจการสึกและการยึดแน่นของ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chute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ตรวจการสึกของชิ้นส่วนยืดหยุ่น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hood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ตรวจการไหลของวัสดุ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hood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ตรวจการสึกและการยึดแน่นของ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hood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ตรวจการสึกของชิ้นส่วนยืดหยุ่น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· ภาพประกอบ</a:t>
            </a:r>
            <a:endParaRPr lang="en-US" sz="2800" dirty="0"/>
          </a:p>
        </p:txBody>
      </p:sp>
      <p:pic>
        <p:nvPicPr>
          <p:cNvPr id="4" name="Image 0" descr="Impact idler (หน้าตัด A-A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2547" y="1371600"/>
            <a:ext cx="1702234" cy="1965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3832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Impact idler (หน้าตัด A-A)</a:t>
            </a:r>
            <a:endParaRPr lang="en-US" sz="1200" dirty="0"/>
          </a:p>
        </p:txBody>
      </p:sp>
      <p:pic>
        <p:nvPicPr>
          <p:cNvPr id="6" name="Image 1" descr="Carrying / Return idler (หน้าตัด B-B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827" y="1371600"/>
            <a:ext cx="1534408" cy="1965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38328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Carrying / Return idler (หน้าตัด B-B)</a:t>
            </a:r>
            <a:endParaRPr lang="en-US" sz="1200" dirty="0"/>
          </a:p>
        </p:txBody>
      </p:sp>
      <p:pic>
        <p:nvPicPr>
          <p:cNvPr id="8" name="Image 2" descr="Snub pull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897" y="3977640"/>
            <a:ext cx="2025535" cy="19659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Snub pulley</a:t>
            </a:r>
            <a:endParaRPr lang="en-US" sz="1200" dirty="0"/>
          </a:p>
        </p:txBody>
      </p:sp>
      <p:pic>
        <p:nvPicPr>
          <p:cNvPr id="10" name="Image 3" descr="Belt cleaner / scrap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349" y="3977640"/>
            <a:ext cx="2539365" cy="19659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cleaner / scraper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· ภาพประกอบ</a:t>
            </a:r>
            <a:endParaRPr lang="en-US" sz="2800" dirty="0"/>
          </a:p>
        </p:txBody>
      </p:sp>
      <p:pic>
        <p:nvPicPr>
          <p:cNvPr id="4" name="Image 0" descr="Conveyor bridge C1 (คู่มือผู้ผลิต Figure 2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6565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7389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Conveyor bridge C1 (คู่มือผู้ผลิต Figure 25)</a:t>
            </a:r>
            <a:endParaRPr lang="en-US" sz="1200" dirty="0"/>
          </a:p>
        </p:txBody>
      </p:sp>
      <p:pic>
        <p:nvPicPr>
          <p:cNvPr id="6" name="Image 1" descr="จุดรองรับสะพาน (Support of conveyor bridge) (คู่มือผู้ผลิต Figure 2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190" y="1371600"/>
            <a:ext cx="4763683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จุดรองรับสะพาน (Support of conveyor bridge) (คู่มือผู้ผลิต Figure 26)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· ภาพประกอบ</a:t>
            </a:r>
            <a:endParaRPr lang="en-US" sz="2800" dirty="0"/>
          </a:p>
        </p:txBody>
      </p:sp>
      <p:pic>
        <p:nvPicPr>
          <p:cNvPr id="4" name="Image 0" descr="Receiving chute (คู่มือผู้ผลิต Figure 3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77" y="1371600"/>
            <a:ext cx="466957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Receiving chute (คู่มือผู้ผลิต Figure 30)</a:t>
            </a:r>
            <a:endParaRPr lang="en-US" sz="1200" dirty="0"/>
          </a:p>
        </p:txBody>
      </p:sp>
      <p:pic>
        <p:nvPicPr>
          <p:cNvPr id="6" name="Image 1" descr="Discharge hood (คู่มือผู้ผลิต Figure 31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735" y="1371600"/>
            <a:ext cx="4052592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Discharge hood (คู่มือผู้ผลิต Figure 31)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· ภาพประกอบ</a:t>
            </a:r>
            <a:endParaRPr lang="en-US" sz="2800" dirty="0"/>
          </a:p>
        </p:txBody>
      </p:sp>
      <p:pic>
        <p:nvPicPr>
          <p:cNvPr id="4" name="Image 0" descr="Conveyor drive ของ C1 (คู่มือผู้ผลิต Figure 3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552" y="1371600"/>
            <a:ext cx="503822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Conveyor drive ของ C1 (คู่มือผู้ผลิต Figure 32)</a:t>
            </a:r>
            <a:endParaRPr lang="en-US" sz="1200" dirty="0"/>
          </a:p>
        </p:txBody>
      </p:sp>
      <p:pic>
        <p:nvPicPr>
          <p:cNvPr id="6" name="Image 1" descr="Pulley ของ C1 (คู่มือผู้ผลิต Figure 33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433" y="1371600"/>
            <a:ext cx="4339197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Pulley ของ C1 (คู่มือผู้ผลิต Figure 33)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· ภาพประกอบ</a:t>
            </a:r>
            <a:endParaRPr lang="en-US" sz="2800" dirty="0"/>
          </a:p>
        </p:txBody>
      </p:sp>
      <p:pic>
        <p:nvPicPr>
          <p:cNvPr id="4" name="Image 0" descr="Idler frame และ garland ของ C1 (คู่มือผู้ผลิต Figure 3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8" y="1371600"/>
            <a:ext cx="5289331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Idler frame และ garland ของ C1 (คู่มือผู้ผลิต Figure 37)</a:t>
            </a:r>
            <a:endParaRPr lang="en-US" sz="1200" dirty="0"/>
          </a:p>
        </p:txBody>
      </p:sp>
      <p:pic>
        <p:nvPicPr>
          <p:cNvPr id="6" name="Image 1" descr="Steering idler station (คู่มือผู้ผลิต Figure 41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20871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626031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Steering idler station (คู่มือผู้ผลิต Figure 41)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· ภาพประกอบ</a:t>
            </a:r>
            <a:endParaRPr lang="en-US" sz="2800" dirty="0"/>
          </a:p>
        </p:txBody>
      </p:sp>
      <p:pic>
        <p:nvPicPr>
          <p:cNvPr id="4" name="Image 0" descr="Scraper ของ C1 (คู่มือผู้ผลิต Figure 4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7224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3975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Scraper ของ C1 (คู่มือผู้ผลิต Figure 42)</a:t>
            </a:r>
            <a:endParaRPr lang="en-US" sz="1200" dirty="0"/>
          </a:p>
        </p:txBody>
      </p:sp>
      <p:pic>
        <p:nvPicPr>
          <p:cNvPr id="6" name="Image 1" descr="Plough scraper (คู่มือผู้ผลิต Figure 44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1975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61490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Plough scraper (คู่มือผู้ผลิต Figure 44)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6 Bridge conveyor C1 (96 รายการ) · ภาพประกอบ</a:t>
            </a:r>
            <a:endParaRPr lang="en-US" sz="2800" dirty="0"/>
          </a:p>
        </p:txBody>
      </p:sp>
      <p:pic>
        <p:nvPicPr>
          <p:cNvPr id="4" name="Image 0" descr="Take-up station ของ C1 (คู่มือผู้ผลิต Figure 4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7896" y="1371600"/>
            <a:ext cx="663590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Take-up station ของ C1 (คู่มือผู้ผลิต Figure 46)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(1/12)</a:t>
            </a:r>
            <a:endParaRPr lang="en-US" sz="28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ตรวจระบบสายพานว่ามีสิ่งผิดปกติหรือไม่: เสียง* อุณหภูมิ* การสั่นสะเทือน* กลิ่น* สัญญาณ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ตรวจระบบสายพานว่ามีส่วนหลวมหรือไม่: bolt สายไฟ ท่อจาระบี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ตรวจระบบสายพานว่ามีชำรุดที่: สายพาน, idler, pulley, อุปกรณ์ไฟฟ้า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ตรวจความสกปรกของระบบสายพาน [ดูคู่มือซ่อม §3.5.3]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wet-air filter [ตามความจำเป็น]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 air filter [ตามความจำเป็น]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ทำความสะอาดพัดลมและตัวเกียร์ [ตามความจำเป็น]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(2/12)</a:t>
            </a:r>
            <a:endParaRPr lang="en-US" sz="28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backstop [ดูป้ายบนเกียร์]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อุณหภูมิน้ำมัน ความดันน้ำมัน (ถ้ามีระบบหล่อลื่นแบบอัดแรงดัน) และเสียงเกียร์ที่เปลี่ยนไป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conveyor C2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อุณหภูมิน้ำมัน ความดันน้ำมัน (ถ้ามีระบบหล่อลื่นแบบอัดแรงดัน) และเสียงเกียร์ที่เปลี่ยนไป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การรั่ว และระดับน้ำมัน [ก่อนสตาร์ททุกครั้ง]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ตรวจปริมาณน้ำในน้ำมัน [400 ชม.เดินเครื่องหลังเริ่มใช้งาน]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 (หรือตามผลวิเคราะห์น้ำมัน) [400 ชม.เดินเครื่องหลังเริ่มใช้งาน]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bolt ยึดทุกตัวแน่น [400 ชม.เดินเครื่องหลังเริ่มใช้งาน]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(3/12)</a:t>
            </a:r>
            <a:endParaRPr lang="en-US" sz="28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การเฝ้าติดตามความเร็วของ auxiliary drive และ auxiliary drive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ทำความสะอาด: oil filter และ air filter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วัดระดับการสั่นสะเทือนของลูกปืนแบบลูกกลิ้ง [ทุก 3,000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อัดจาระบีใหม่: ซีล Taconite และ Tacolab [ทุก 3,000 ชม. อย่างน้อยทุก 6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เติมจาระบีในท่อกักน้ำมัน [ทุก 5,000 ชม. อย่างน้อยทุก 10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ผ้าเสียดทานของ torque-limiting backstop และปริมาณน้ำในน้ำมัน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ท่อไฮดรอลิก และ shrink disk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(4/12)</a:t>
            </a:r>
            <a:endParaRPr lang="en-US" sz="2800" dirty="0"/>
          </a:p>
        </p:txBody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 หากใช้น้ำมันแร่ API Group I/II หรือ synthetic ester แบบอิ่มตัว (หรือตามผลวิเคราะห์น้ำมัน) [ทุก 10,000 ชม. อย่างน้อยทุก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air-oil cooler และ water-oil cooler [พร้อมกับการเปลี่ยนน้ำมัน]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ตรวจทั่วไปตัวเกียร์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ตรวจน้ำมันหล่อเย็น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bolt ยึดทุกตัวแน่น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ทำความสะอาดพัดลมและตัวเกียร์ [ทุก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(5/12)</a:t>
            </a:r>
            <a:endParaRPr lang="en-US" sz="2800" dirty="0"/>
          </a:p>
        </p:txBody>
      </p:sp>
      <p:graphicFrame>
        <p:nvGraphicFramePr>
          <p:cNvPr id="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 หากใช้น้ำมันกึ่งสังเคราะห์ API Group III, PAO หรือ PG (หรือตามผลวิเคราะห์น้ำมัน) [ทุก 20,000 ชม. อย่างน้อยทุก 4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เปลี่ยนท่อ/สายไฮดรอลิก [6 ปีนับจากวันผลิตที่ระบุ]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Coupling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เปลี่ยนของเหลวทำงาน [ปรับรอบตามสภาพใช้งานตามตารางในคู่มือผู้ผลิต]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ตรวจสภาพผ้าเบรกและจานเบรกด้วยสายตา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ตรวจระยะชักสำรองขณะเบรกอยู่ในตำแหน่งปิด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ตรวจแรงเบรกที่ตั้งไว้ขณะเบรกอยู่ในตำแหน่งปิด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bolt ปรับคันโยกขณะเบรกอยู่ในตำแหน่งปล่อย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 bolt ด้วยสายตา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ตรวจการสึก/ความเสียหายของจานเบรก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(6/12)</a:t>
            </a:r>
            <a:endParaRPr lang="en-US" sz="2800" dirty="0"/>
          </a:p>
        </p:txBody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ตรวจอุปกรณ์เสริม (limit switch, ปลดเบรกด้วยมือ ฯลฯ)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ตรวจระดับน้ำมันของ hydraulic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ตรวจระบบเบรกทั้งชุดอย่างครบถ้วน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ตรวจสายไฟเลี้ยง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ตรวจท่อไฮดรอลิกหรือท่อลม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ตรวจน้ำมันใน hydraulic unit (ระดับและสภาพ)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ตรวจผ้าเบรก ก้ามเบรก และดรัม/จานเบรก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(gear unit)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ตรวจแรงยึดของเบรกถ้าจำเป็น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ตรวจสภาพสายพาน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ตรวจการวิ่งตรงศูนย์ของสายพาน (belt tracking)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ตรวจการเคลื่อนที่/การวิ่งของสายพาน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(7/12)</a:t>
            </a:r>
            <a:endParaRPr lang="en-US" sz="28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ตรวจแรงตึงสายพานและปรับตึงเพิ่มถ้าจำเป็น [ดูคู่มือซ่อม §3.5.3.2]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pulley สายพาน: ความเสียหาย การอุดตัน เสียงเดินผิดปกติ การสึกของยางหุ้ม กลิ่น/อุณหภูมิผิดปกติของลูกปืน bolt หลวม ท่อหล่อลื่นหลวม และสายเซนเซอร์หลวม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ขจัดเศษวัสดุสะสมบริเวณ pulley กลับทิศ (deflection) ถ้าจำเป็น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 / ลูกปืน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อัดจาระบีลูกปืนแบบ self-aligning ใหม่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 / ลูกปืน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ที่ขันยึด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 / ลูกปืน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ตรวจความเสียหายของลูกปืน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ตรวจใหญ่ (revision) pulley สายพาน [ดูคู่มือซ่อม §3.5.3.3]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Idler / Garland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idler: เสียงผิดปกติ และ idler ติดตาย [ดูคู่มือซ่อม §3.5.3.4]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(8/12)</a:t>
            </a:r>
            <a:endParaRPr lang="en-US" sz="28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Idler / Garland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idler: idler หาย สายพานเสียดสีกับขาจับ/ค้ำยัน เสียดสีเพราะ idler หรือวัสดุพอกติด เปลือก idler สึก รอยแหว่งที่ผิวหน้า ลูกปืนเสียหาย idler เอียง สายพานเสียดสี/วิ่งเบี้ยว [ดูคู่มือซ่อม §3.5.3.4]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ตรวจว่าใบมีดไม่มีวัสดุพอกติด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ตรวจว่าแรงกดตั้งต้น (pre-tension) ถูกต้อง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ตรวจว่าใบมีดสัมผัสสายพานเต็มแนว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ตรวจการเคลื่อนที่ของแกน segment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ตรวจว่าใบมีดสึกเกินใช้งานหรือไม่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ตรวจว่าใบมีดเสียหายหรือไม่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ตรวจว่าฐานใบมีดยังหมุนได้อิสระเพื่อปรับตึง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(9/12)</a:t>
            </a:r>
            <a:endParaRPr lang="en-US" sz="28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ตรวจว่าใบมีดสะอาดไม่มีเศษค้าง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ตรวจว่าแรงกดตั้งต้น (pre-tension) ถูกต้อง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ตรวจว่าใบมีดทุกใบแนบสายพานตามข้อกำหนด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ตรวจว่าแกนใบมีดเคลื่อนที่ได้อิสระ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ตรวจว่าใบมีดสึกหมดหรือไม่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ตรวจว่าใบมีดไม่เสียหาย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ตรวจว่าฐานใบมีดหมุนได้อิสระเพื่อปรับตึง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ทำความสะอาดเศษค้างที่ใบมีด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ตรวจว่าการเคลื่อนที่อิสระเป็นไปตามข้อกำหนด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(10/12)</a:t>
            </a:r>
            <a:endParaRPr lang="en-US" sz="28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connecting pin ของแขนนำ (guide arm) ว่าเสียหายหรือไม่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ตรวจการสึกของใบมีดยาง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ตรวจการเชื่อมต่อของโซ่กับโครงเหล็กและ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Plough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Steel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ตรวจการสึกของใบมีด steel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Steel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ตรวจระยะห่างระหว่าง snub pulley กับใบมีด scraper [ดูคู่มือซ่อม §3.5.3.5]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(11/12)</a:t>
            </a:r>
            <a:endParaRPr lang="en-US" sz="2800" dirty="0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1038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ตรวจกระบอกไฮดรอลิกของชุดปรับตึงด้วยสายตา: กระบอกและก้านสูบไม่เสียหาย/ไม่บิดงอ ข้อต่อไม่เสียหาย ไม่รั่ว สกรูทุกตัวแน่น coupling ครบและแน่น ต่อเข้าออกง่าย มีฝาครอบกันฝุ่น ป้ายชื่อ/ป้ายเตือนครบอ่านออก อุปกรณ์ประกอบไม่เสียหาย [หลังใช้งานทุกครั้ง อย่างน้อยปีละครั้ง]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ทดสอบการทำงาน: ก้านสูบชักเข้า-ออกได้เต็มช่วงชัก เคลื่อนที่นุ่มนวลเมื่อมีแรงดัน ไม่มีเสียงผิดปกติขณะทำงาน [ทุก 3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ท่อไฮดรอลิก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ตรวจท่อไฮดรอลิกว่ามีความเสียหายหรือข้อบกพร่องที่มองเห็นหรือไม่ [ก่อนนำเข้าใช้งาน (ทุกครั้งที่ปรับตึงโซ่ crawler ใหม่)]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ท่อไฮดรอลิก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ให้ผู้เชี่ยวชาญตรวจสภาพท่อไฮดรอลิก [ดูคู่มือซ่อม §3.5.3.2.5]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134327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Hand pump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ตรวจด้วยสายตา: ข้อต่อไฮดรอลิกแน่น ไม่รั่ว ไม่มีความเสียหายที่ตัวปั๊ม/valve block/ชิ้นส่วนยึด (โดยเฉพาะก้านสูบ) ระดับของเหลวอยู่ในเกณฑ์ ชิ้นส่วนที่ไม่เคลื่อนที่ยึดแน่น ไม่มีสนิม คันปั๊ม กลไกล็อก และมือหมุนเคลื่อนได้คล่อง coupling ต่อง่าย ฝากันฝุ่นอยู่ครบ ป้ายและสติ๊กเกอร์ครบอ่านออก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Hand pump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ตรวจการทำงาน: ไม่มีเสียงผิดปกติ ทดสอบที่โหลดสูงสุด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(12/12)</a:t>
            </a:r>
            <a:endParaRPr lang="en-US" sz="2800" dirty="0"/>
          </a:p>
        </p:txBody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Distributor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ตรวจด้วยสายตา: ข้อต่อไฮดรอลิกแน่น ไม่รั่ว ไม่มีความเสียหายที่วาล์ว ข้อต่อที่ไม่เคลื่อนที่แน่น ปุ่มหมุนหมุนง่าย ไม่มีสนิม ป้ายชื่อ ป้ายเตือน และเครื่องหมายครบอ่านออก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 take-up / Distributor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ทดสอบการทำงาน: ไม่มีเสียงผิดปกติ ทดสอบที่โหลดสูงสุด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chute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ตรวจการไหลของวัสดุ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chute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ตรวจการสึกและการยึดแน่นของ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Receiving chute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ตรวจการสึกของชิ้นส่วนยืดหยุ่น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hood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ตรวจการไหลของวัสดุ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hood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ตรวจการสึกและการยึดแน่นของ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hood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ตรวจการสึกของชิ้นส่วนยืดหยุ่น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· ภาพประกอบ</a:t>
            </a:r>
            <a:endParaRPr lang="en-US" sz="2800" dirty="0"/>
          </a:p>
        </p:txBody>
      </p:sp>
      <p:pic>
        <p:nvPicPr>
          <p:cNvPr id="4" name="Image 0" descr="Discharge conveyor boom C2 (คู่มือผู้ผลิต Figure 4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9831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0050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Discharge conveyor boom C2 (คู่มือผู้ผลิต Figure 47)</a:t>
            </a:r>
            <a:endParaRPr lang="en-US" sz="1200" dirty="0"/>
          </a:p>
        </p:txBody>
      </p:sp>
      <p:pic>
        <p:nvPicPr>
          <p:cNvPr id="6" name="Image 1" descr="Bearing ของ discharge boom (คู่มือผู้ผลิต Figure 4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31870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736021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Bearing ของ discharge boom (คู่มือผู้ผลิต Figure 48)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· ภาพประกอบ</a:t>
            </a:r>
            <a:endParaRPr lang="en-US" sz="2800" dirty="0"/>
          </a:p>
        </p:txBody>
      </p:sp>
      <p:pic>
        <p:nvPicPr>
          <p:cNvPr id="4" name="Image 0" descr="Receiving chute ของ C2 (คู่มือผู้ผลิต Figure 4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185" y="1371600"/>
            <a:ext cx="4800958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Receiving chute ของ C2 (คู่มือผู้ผลิต Figure 49)</a:t>
            </a:r>
            <a:endParaRPr lang="en-US" sz="1200" dirty="0"/>
          </a:p>
        </p:txBody>
      </p:sp>
      <p:pic>
        <p:nvPicPr>
          <p:cNvPr id="6" name="Image 1" descr="Conveyor drive ของ C2 (คู่มือผู้ผลิต Figure 5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685" y="1371600"/>
            <a:ext cx="5364694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Conveyor drive ของ C2 (คู่มือผู้ผลิต Figure 50)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· ภาพประกอบ</a:t>
            </a:r>
            <a:endParaRPr lang="en-US" sz="2800" dirty="0"/>
          </a:p>
        </p:txBody>
      </p:sp>
      <p:pic>
        <p:nvPicPr>
          <p:cNvPr id="4" name="Image 0" descr="Pulley ของ C2 (คู่มือผู้ผลิต Figure 5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597" y="1371600"/>
            <a:ext cx="485413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Pulley ของ C2 (คู่มือผู้ผลิต Figure 51)</a:t>
            </a:r>
            <a:endParaRPr lang="en-US" sz="1200" dirty="0"/>
          </a:p>
        </p:txBody>
      </p:sp>
      <p:pic>
        <p:nvPicPr>
          <p:cNvPr id="6" name="Image 1" descr="Idler frame และ garland ของ C2 (คู่มือผู้ผลิต Figure 5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658" y="1371600"/>
            <a:ext cx="5200747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Idler frame และ garland ของ C2 (คู่มือผู้ผลิต Figure 52)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7 Discharge conveyor C2 (97 รายการ) · ภาพประกอบ</a:t>
            </a:r>
            <a:endParaRPr lang="en-US" sz="2800" dirty="0"/>
          </a:p>
        </p:txBody>
      </p:sp>
      <p:pic>
        <p:nvPicPr>
          <p:cNvPr id="4" name="Image 0" descr="Scraper ของ C2 (คู่มือผู้ผลิต Figure 5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428933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0665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Scraper ของ C2 (คู่มือผู้ผลิต Figure 53)</a:t>
            </a:r>
            <a:endParaRPr lang="en-US" sz="1200" dirty="0"/>
          </a:p>
        </p:txBody>
      </p:sp>
      <p:pic>
        <p:nvPicPr>
          <p:cNvPr id="6" name="Image 1" descr="Take-up station ของ C2 (คู่มือผู้ผลิต Figure 54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4801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897515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Take-up station ของ C2 (คู่มือผู้ผลิต Figure 54)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9 จุด Bearing และจุดรองรับ (32 รายการ) (1/6)</a:t>
            </a:r>
            <a:endParaRPr lang="en-US" sz="280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จุดแขวนสะพาน (bridge suspension) / Slew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 bolt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จุดแขวนสะพาน (bridge suspension) / Slew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ตรวจสภาพซีลยางยืดหยุ่นของ ball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จุดแขวนสะพาน (bridge suspension) / Slew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ขจัดจาระบีที่สะสมบริเวณวงในและวงนอก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จุดแขวนสะพาน (bridge suspension) / Slew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วัดการสึกของ ball bearing slewing 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จุดแขวนสะพาน (bridge suspension) / Slew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ของ ball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สายยึด ballast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ตรวจสายยึด (guying) ว่าร้าว เสียหาย หรือมีสนิม [ปรับรอบตามสภาพใช้งาน และให้ผู้เชี่ยวชาญตรวจเพิ่มทุก 24 เดือน – ดูคู่มือซ่อม §3.4.2.3]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9 จุด Bearing และจุดรองรับ (32 รายการ) (2/6)</a:t>
            </a:r>
            <a:endParaRPr lang="en-US" sz="280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สายยึด ballast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eye plate ทั้งหมดว่าร้าว เสียหาย หรือมีสนิม [ปรับรอบตามสภาพใช้งาน และให้ผู้เชี่ยวชาญตรวจเพิ่มทุก 24 เดือน – ดูคู่มือซ่อม §3.4.2.3]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สายยึด ballast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ตรวจรอยเชื่อมที่จุดรับสายยึดว่าร้าว เสียหาย หรือมีสนิม [ปรับรอบตามสภาพใช้งาน และให้ผู้เชี่ยวชาญตรวจเพิ่มทุก 24 เดือน – ดูคู่มือซ่อม §3.4.2.3]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สายยึด ballast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 bolt ระหว่าง tower กับ ballast boom ว่ามีสนิมหรือเสียหาย [ปรับรอบตามสภาพใช้งาน และให้ผู้เชี่ยวชาญตรวจเพิ่มทุก 24 เดือน – ดูคู่มือซ่อม §3.4.2.3]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สายยึด ballast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bolt หลวม [ดูคู่มือซ่อม §3.4.2.3]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จุดหมุน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bolt ยึดแน่น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จุดหมุน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ตรวจการหล่อลื่นให้เพียงพอ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จุดหมุน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ตรวจเสียงผิดปกติขณะยก-ลดบูม [ดูคู่มือซ่อม §3.4.2.6]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9 จุด Bearing และจุดรองรับ (32 รายการ) (3/6)</a:t>
            </a:r>
            <a:endParaRPr lang="en-US" sz="2800" dirty="0"/>
          </a:p>
        </p:txBody>
      </p:sp>
      <p:graphicFrame>
        <p:nvGraphicFramePr>
          <p:cNvPr id="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ตรวจสลิงแขวน (suspension rope) ว่าร้าวหรือเสียหาย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ตรวจปลายสลิงว่าร้าวหรือมีสนิม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ตรวจรอยเชื่อมที่จุดรับสลิงแขวนว่าร้าวหรือเสียหาย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ตรวจข้อต่อเสา (mast joint) ว่าร้าวหรือมีสนิม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ตรวจกระบอกปรับตึงสลิงที่ปลายสายยึดว่าเสียหายหรือมีสนิม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ตรวจเสียงผิดปกติขณะยก-ลดบูม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9 จุด Bearing และจุดรองรับ (32 รายการ) (4/6)</a:t>
            </a:r>
            <a:endParaRPr lang="en-US" sz="2800" dirty="0"/>
          </a:p>
        </p:txBody>
      </p:sp>
      <p:graphicFrame>
        <p:nvGraphicFramePr>
          <p:cNvPr id="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จุดแขวน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bolt หลวม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ตรวจจุดรองรับ bearing ว่าร้าว สนิม เสียหาย หรือรอยเชื่อมเสียหาย [ปรับรอบตามสภาพใช้งาน และให้ผู้เชี่ยวชาญตรวจเพิ่มทุก 24 เดือน – ดูคู่มือซ่อม §3.4.2.6]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ตรวจจุดรองรับ discharge boom ว่าร้าว สนิม เสียหาย หรือรอยเชื่อมเสียหาย [ปรับรอบตามสภาพใช้งาน และให้ผู้เชี่ยวชาญตรวจเพิ่มทุก 24 เดือน – ดูคู่มือซ่อม §3.4.2.6]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ขจัดสิ่งสกปรก [ปรับรอบตามสภาพใช้งาน และให้ผู้เชี่ยวชาญตรวจเพิ่มทุก 24 เดือน – ดูคู่มือซ่อม §3.4.2.6]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bolt หลวม [ปรับรอบตามสภาพใช้งาน และให้ผู้เชี่ยวชาญตรวจเพิ่มทุก 24 เดือน – ดูคู่มือซ่อม §3.4.2.6]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discharge boom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ตรวจการหล่อลื่นให้เพียงพอ [ปรับรอบตามสภาพใช้งาน และให้ผู้เชี่ยวชาญตรวจเพิ่มทุก 24 เดือน – ดูคู่มือซ่อม §3.4.2.6]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9 จุด Bearing และจุดรองรับ (32 รายการ) (5/6)</a:t>
            </a:r>
            <a:endParaRPr lang="en-US" sz="2800" dirty="0"/>
          </a:p>
        </p:txBody>
      </p:sp>
      <p:graphicFrame>
        <p:nvGraphicFramePr>
          <p:cNvPr id="9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เสา discharge boom พร้อมจุดแขวน / จุดยึดกระบอกไฮดรอลิก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ตรวจสายยึด (guying) ว่าร้าวหรือเสียหาย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เสา discharge boom พร้อมจุดแขวน / จุดยึดกระบอกไฮดรอลิก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eye plate ทั้งหมดว่าร้าวหรือเสียหาย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เสา discharge boom พร้อมจุดแขวน / จุดยึดกระบอกไฮดรอลิก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ตรวจรอยเชื่อมที่สายยึดว่าร้าวหรือเสียหาย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เสา discharge boom พร้อมจุดแขวน / จุดยึดกระบอกไฮดรอลิก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ตรวจสายยึดของ discharge boom ว่ามีสนิม [ปรับรอบตามสภาพใช้งาน และให้ผู้เชี่ยวชาญตรวจเพิ่มทุก 24 เดือน – ดูคู่มือซ่อม §3.4.2.4]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cable saddle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ตรวจการสึกของจุด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cable saddle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ตรวจการหล่อลื่นให้เพียงพอ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9 จุด Bearing และจุดรองรับ (32 รายการ) (6/6)</a:t>
            </a:r>
            <a:endParaRPr lang="en-US" sz="2800" dirty="0"/>
          </a:p>
        </p:txBody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cable saddle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 bolt [ตรวจครั้งแรกหลัง 100 ชม. ครั้งที่สองหลัง 600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10 สลิง/สายยึด (Ropes) (4 รายการ)</a:t>
            </a:r>
            <a:endParaRPr lang="en-US" sz="2800" dirty="0"/>
          </a:p>
        </p:txBody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ชุดปรับตึงที่ discharge boom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บำรุงรักษาสลิงเป็นประจำ [ตาม DIN 15020/ISO 4309 หรือกฎระเบียบท้องถิ่น]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ชุดปรับตึงที่ discharge boom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ทำความสะอาดสลิงลวดเหล็ก [ก่อนตัดแต่ง (dressing)]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ชุดปรับตึงที่ discharge boom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อัดจาระบี/น้ำมันสลิงลวดตามรอบ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ชุดปรับตึงที่ discharge boom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ตัดปลายลวดที่ขาดออก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11 ระบบหล่อลื่นอัตโนมัติ (2 รายการ)</a:t>
            </a:r>
            <a:endParaRPr lang="en-US" sz="28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Automatic lubrication systems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 สาย และชิ้นส่วนของระบบหล่อลื่นส่วนกลางว่ารั่วหรือไม่ [ตรวจเป็นระยะ]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Automatic lubrication systems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filter ด้านเติมสะอาด [ทุก 2,000 ชม.เดินเครื่อง]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11 ระบบหล่อลื่นอัตโนมัติ (2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หล่อลื่น S1 (คู่มือผู้ผลิต Figure 58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819" y="1371600"/>
            <a:ext cx="3061689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ระบบหล่อลื่น S1 (คู่มือผู้ผลิต Figure 58)</a:t>
            </a:r>
            <a:endParaRPr lang="en-US" sz="1200" dirty="0"/>
          </a:p>
        </p:txBody>
      </p:sp>
      <p:pic>
        <p:nvPicPr>
          <p:cNvPr id="6" name="Image 1" descr="ระบบหล่อลื่น S2 (คู่มือผู้ผลิต Figure 59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231743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3734758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ระบบหล่อลื่น S2 (คู่มือผู้ผลิต Figure 59)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11 ระบบหล่อลื่นอัตโนมัติ (2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หล่อลื่น S3 (คู่มือผู้ผลิต Figure 6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2385" y="1371600"/>
            <a:ext cx="6886925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ระบบหล่อลื่น S3 (คู่มือผู้ผลิต Figure 60)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12 ระบบไฮดรอลิก (15 รายการ) (1/2)</a:t>
            </a:r>
            <a:endParaRPr lang="en-US" sz="2800" dirty="0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ตรวจระบบไฮดรอลิกทั้งระบบ [ดูคู่มือซ่อม §3.2.5]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ทำความสะอาดก้านสูบกระบอกไฮดรอลิก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ทาน้ำมันซิลิโคนทั่วก้านสูบ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bolt ยึดขันแน่น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ตรวจความแน่นหนาของท่อไฮดรอลิกและข้อต่อ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ตรวจความแน่นหนาของกระบอกไฮดรอลิก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ตรวจอุณหภูมิน้ำมัน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ตรวจระดับความสกปรกของ filter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pressure valve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วิเคราะห์น้ำมัน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12 ระบบไฮดรอลิก (15 รายการ) (2/2)</a:t>
            </a:r>
            <a:endParaRPr lang="en-US" sz="2800" dirty="0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 / Hydraulic accumulator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accumulator ตามรอบที่กฎหมายกำหนด [เป็นหน้าที่ของผู้ใช้งาน (operator)]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 / ชุดท่อ/สายไฮดรอลิก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เฝ้าติดตามชุดท่อ/สายไฮดรอลิกและ compensator อย่างต่อเนื่อง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 / ท่อน้ำ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ตรวจท่อ: การกัดกร่อน การรั่ว รอยร้าว และร่องรอยของแรงภายนอก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 / ถังและโครงเหล็ก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ตรวจด้วยสายตา: การรั่ว รอยร้าว การกัดกร่อน และรอยบุ๋มจากแรงภายนอก [ดูคู่มือซ่อม §6.3.5]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12 ระบบไฮดรอลิก (15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ไฮดรอลิก (คู่มือผู้ผลิต Figure 5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741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5862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ระบบไฮดรอลิก (คู่มือผู้ผลิต Figure 55)</a:t>
            </a:r>
            <a:endParaRPr lang="en-US" sz="1200" dirty="0"/>
          </a:p>
        </p:txBody>
      </p:sp>
      <p:pic>
        <p:nvPicPr>
          <p:cNvPr id="6" name="Image 1" descr="Hydraulic unit (คู่มือผู้ผลิต Figure 5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542" y="1371600"/>
            <a:ext cx="448497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unit (คู่มือผู้ผลิต Figure 56)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12 ระบบไฮดรอลิก (15 รายการ) · ภาพประกอบ</a:t>
            </a:r>
            <a:endParaRPr lang="en-US" sz="2800" dirty="0"/>
          </a:p>
        </p:txBody>
      </p:sp>
      <p:pic>
        <p:nvPicPr>
          <p:cNvPr id="4" name="Image 0" descr="Hydraulic cylinder (คู่มือผู้ผลิต Figure 5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8849" y="1371600"/>
            <a:ext cx="4573997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cylinder (คู่มือผู้ผลิต Figure 57)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12 รอกยก (Hoist) (13 รายการ) (1/2)</a:t>
            </a:r>
            <a:endParaRPr lang="en-US" sz="28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ให้ผู้มีคุณสมบัติตรวจอุปกรณ์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ข้อต่อสกรู [ตอนเริ่มใช้งาน (commissioning)]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การทำงานของเบรก – จานเบรก [ตอนเริ่มใช้งาน (commissioning)]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การป้องกันโหลดเกินแบบ slipping clutch (ถ้ามี) [ตอนเริ่มใช้งาน (commissioning)]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การป้องกันโหลดเกินแบบตัดกระแส (รอกไฟฟ้า) (ถ้ามี) [ตอนเริ่มใช้งาน (commissioning)]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การป้องกันโหลดเกินแบบ air relief valve (รอกลม) (ถ้ามี) [ตอนเริ่มใช้งาน (commissioning)]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โซ่ยก ทำความสะอาดและหยอดน้ำมัน [ตรวจทุกวัน]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โซ่ยก การยืดและการสึก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ตะขอยก รอยร้าวและการบิดเบี้ยว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12 รอกยก (Hoist) (13 รายการ) (2/2)</a:t>
            </a:r>
            <a:endParaRPr lang="en-US" sz="28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ลูกปืนของล้อโซ่ ตรวจและหล่อลื่น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เกียร์ของรอก เปลี่ยนน้ำมัน [ทุก 36/60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การสึกของล้อ trolley [ตอนเริ่มใช้งาน (commissioning)]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Hoist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ล้อ trolley หล่อลื่นเฟือง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12 รอกยก (Hoist) (13 รายการ) · ภาพประกอบ</a:t>
            </a:r>
            <a:endParaRPr lang="en-US" sz="2800" dirty="0"/>
          </a:p>
        </p:txBody>
      </p:sp>
      <p:pic>
        <p:nvPicPr>
          <p:cNvPr id="4" name="Image 0" descr="รอกยก (Hoist) (คู่มือผู้ผลิต Figure 6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2193" y="1371600"/>
            <a:ext cx="4427309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รอกยก (Hoist) (คู่มือผู้ผลิต Figure 63)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13 ระบบดับเพลิง (1 รายการ)</a:t>
            </a:r>
            <a:endParaRPr lang="en-US" sz="28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Fire extinguishing system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ตรวจว่าถังดับเพลิงอยู่ที่เดิมและพร้อมใช้งาน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13 ระบบดับเพลิง (1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ดับเพลิง (คู่มือผู้ผลิต Figure 6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5665" y="1371600"/>
            <a:ext cx="5320364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ระบบดับเพลิง (คู่มือผู้ผลิต Figure 61)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14 ระบบพ่นน้ำลดฝุ่น (12 รายการ) (1/2)</a:t>
            </a:r>
            <a:endParaRPr lang="en-US" sz="2800" dirty="0"/>
          </a:p>
        </p:txBody>
      </p:sp>
      <p:graphicFrame>
        <p:nvGraphicFramePr>
          <p:cNvPr id="1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ระบบเพิ่มแรงดันน้ำ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ตรวจทั่วไป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ตรวจชิ้นส่วนหลวม การรั่ว และผลกระทบ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 / ตู้วาล์ว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ตรวจตู้วาล์วว่าทำงานดี ไม่รั่ว วาล์ว เกจ ฯลฯ ยึดแน่น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 / ท่อน้ำ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ตรวจท่อน้ำและท่อจ่ายว่าไม่รั่ว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 / ฮีตเตอร์ในตู้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ตรวจฮีตเตอร์ในตู้ว่าทำงาน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ตรวจแผงวาล์วว่าทำงานดี ไม่รั่ว วาล์วและมาโนมิเตอร์ยึดแน่น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ตรวจไฟฟ้าของแผงวาล์ว: การต่อลงดิน สายหลวม สายเสียหาย การทำงานของ solenoid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ตรวจฮีตเตอร์ว่าทำงานและสมบูรณ์ [ก่อนเข้าฤดูใช้ฮีตเตอร์]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ถอดที่ดักตะกอน (dirt trap) ในท่อน้ำ ล้างและเปลี่ยนถ้าจำเป็น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14 ระบบพ่นน้ำลดฝุ่น (12 รายการ) (2/2)</a:t>
            </a:r>
            <a:endParaRPr lang="en-US" sz="2800" dirty="0"/>
          </a:p>
        </p:txBody>
      </p:sp>
      <p:graphicFrame>
        <p:nvGraphicFramePr>
          <p:cNvPr id="10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ถอดหัวฉีด ล้างทำความสะอาด ตรวจรูปแบบการพ่น และซ่อม/เปลี่ยนถ้าจำเป็น [เมื่อจำเป็น]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ตรวจหัวฉีดและ nozzle block ว่าเสียหายหรือไม่ และปรับทิศทางใหม่ถ้าจำเป็น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ตรวจการทำงานขณะระบบเดินอยู่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Spreader ข้อ 14 ระบบพ่นน้ำลดฝุ่น (12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ลดฝุ่น (DR1–DR3) (คู่มือผู้ผลิต Figure 62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44807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98075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ระบบลดฝุ่น (DR1–DR3) (คู่มือผู้ผลิต Figure 62)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 ทั่วไป (7 รายการ)</a:t>
            </a:r>
            <a:endParaRPr lang="en-US" sz="2800" dirty="0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98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 ลูกปืน และ coupling ทั้งหมด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ตรวจเสียงเดินผิดปกติและการรั่วซึม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5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Tripper Car ทั้งคัน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ตรวจระดับความสกปรกและทำความสะอาดตามความจำเป็น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98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ทางเดิน บันได และราวจับ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ตรวจความสกปรกและความปลอดภัยในการใช้งาน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โครงสร้างเหล็ก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ตรวจความเสียหาย การบิดเบี้ยว และรอยร้าว [ดูหัวข้อ General inspection]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98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งานเหล็ก (ทั้งโครงสร้าง)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ตรวจสีและการป้องกันการกัดกร่อน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จุดต่อ Tripper Car – Support car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ตรวจการเชื่อมต่อของก้านเชื่อม (rod) ว่าแน่นและทำงานถูกต้อง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225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Connecting pin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 pin ที่ต่อระหว่างส่วนต่างๆ ของ Tripper Car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 Rail travel mechanism (ระบบเดินบนราง) (7 รายการ) (1/2)</a:t>
            </a:r>
            <a:endParaRPr lang="en-US" sz="2800" dirty="0"/>
          </a:p>
        </p:txBody>
      </p:sp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Drive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ตรวจการยึดของ drive unit, torque lever และล้อขับเคลื่อน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ข้อต่อ bolt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ตรวจด้วยสายตาว่า bolt ขันแน่น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ข้อต่อ bolt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ที่ขันยึด [ตรวจครั้งแรก 2 เดือนหลังเดินเครื่อง จากนั้นทุก 12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Supporting segment, ล้อเดิน และ rail sweeper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ตรวจการสึกหรอของ supporting segment, ล้อเดิน และที่กวาดราง (rail sweeper)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bogie / Spherical plain bearing และ shim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ตรวจการสึกหรอของ spherical plain bearing และ shim [ตอนเริ่มใช้งานต้องวัดค่าและจดบันทึก ตรวจซ้ำหลัง 3 เดือน เปรียบเทียบค่าแล้วปรับรอบบำรุงรักษาตามผล – ดูคู่มือซ่อม §3.5.1.4]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bogie / Bushing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ตรวจการสึกหรอตามแนวรัศมีของ bushing [ตอนเริ่มใช้งานต้องวัดค่าและจดบันทึก ตรวจซ้ำหลัง 3 เดือน เปรียบเทียบค่าแล้วปรับรอบบำรุงรักษาตามผล – ดูคู่มือซ่อม §3.5.1.4]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 Rail travel mechanism (ระบบเดินบนราง) (7 รายการ) (2/2)</a:t>
            </a:r>
            <a:endParaRPr lang="en-US" sz="28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ลูกปืน bogie / Friction washer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ตรวจการสึกหรอตามแนวแกนของ friction washer [ตอนเริ่มใช้งานต้องวัดค่าและจดบันทึก ตรวจซ้ำหลัง 3 เดือน เปรียบเทียบค่าแล้วปรับรอบบำรุงรักษาตามผล – ดูคู่มือซ่อม §3.5.1.4]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 Rail travel mechanism (ระบบเดินบนราง) (7 รายการ) · ภาพประกอบ</a:t>
            </a:r>
            <a:endParaRPr lang="en-US" sz="2800" dirty="0"/>
          </a:p>
        </p:txBody>
      </p:sp>
      <p:pic>
        <p:nvPicPr>
          <p:cNvPr id="4" name="Image 0" descr="Rail travel mechanism (กลุ่มเดิน A–D) (คู่มือผู้ผลิต Figure 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819" y="1371600"/>
            <a:ext cx="4585689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Rail travel mechanism (กลุ่มเดิน A–D) (คู่มือผู้ผลิต Figure 5)</a:t>
            </a:r>
            <a:endParaRPr lang="en-US" sz="1200" dirty="0"/>
          </a:p>
        </p:txBody>
      </p:sp>
      <p:pic>
        <p:nvPicPr>
          <p:cNvPr id="6" name="Image 1" descr="Bogie 2 ล้อ แบบมีล้อขับเคลื่อน (คู่มือผู้ผลิต Figure 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26565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07389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Bogie 2 ล้อ แบบมีล้อขับเคลื่อน (คู่มือผู้ผลิต Figure 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 Rail travel mechanism (ระบบเดินบนราง) (7 รายการ) · ภาพประกอบ</a:t>
            </a:r>
            <a:endParaRPr lang="en-US" sz="2800" dirty="0"/>
          </a:p>
        </p:txBody>
      </p:sp>
      <p:pic>
        <p:nvPicPr>
          <p:cNvPr id="4" name="Image 0" descr="Bogie 2 ล้อ แบบล้อไม่ขับเคลื่อน (คู่มือผู้ผลิต Figure 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3233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4068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Bogie 2 ล้อ แบบล้อไม่ขับเคลื่อน (คู่มือผู้ผลิต Figure 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2.1 มอเตอร์ของ gear motor (5 รายการ)</a:t>
            </a:r>
            <a:endParaRPr lang="en-US" sz="2800" dirty="0"/>
          </a:p>
        </p:txBody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มอเตอร์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ตรวจคราบสกปรกที่มอเตอร์ซึ่งอาจบั่นทอนการระบายความร้อน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มอเตอร์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ตรวจเสียงเดินและ/หรือการสั่นสะเทือนผิดปกติ [ตรวจทุกสัปดาห์ หรือทุก 100 ชม.เดินเครื่อง ว่ามีเสียง/สั่นผิดปกติ]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มอเตอร์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ตรวจลูกปืนและเปลี่ยนตามความจำเป็น [ตรวจอย่างน้อยทุก 10,000 ชม.]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มอเตอร์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shaft sealing ring [เปลี่ยนทุก 10,000 ชม.]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มอเตอร์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ซ่อมใหญ่มอเตอร์ (general overhaul) [ซ่อมใหญ่ทุก 5 ปี]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2.2 เกียร์บ็อกซ์ของ gear motor (10 รายการ) (1/2)</a:t>
            </a:r>
            <a:endParaRPr lang="en-US" sz="2800" dirty="0"/>
          </a:p>
        </p:txBody>
      </p:sp>
      <p:graphicFrame>
        <p:nvGraphicFramePr>
          <p:cNvPr id="1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ตรวจการรั่วซึมของเกียร์บ็อกซ์ [เปลี่ยนซีลถ้าจำเป็น]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ตรวจด้วยสายตา [อย่างน้อยทุก 6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ตรวจเสียงเดิน [อย่างน้อยทุก 6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 [อย่างน้อยทุก 6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ตรวจสภาพท่อ/สายด้วยสายตา [อย่างน้อยทุก 6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อัดจาระบีใหม่ / ขจัดจาระบีส่วนเกิน [อย่างน้อยทุก 6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 (รอบเปลี่ยนเพิ่มเป็น 2 เท่าหากใช้น้ำมันสังเคราะห์) [ที่อุณหภูมิใช้งานไม่เกิน 80 °C ทุก 10,000 ชม. อย่างน้อยทุก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ทำความสะอาดหรือเปลี่ยน vent plug [ที่อุณหภูมิใช้งานไม่เกิน 80 °C ทุก 10,000 ชม. อย่างน้อยทุก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shaft sealing ring [ที่อุณหภูมิใช้งานไม่เกิน 80 °C ทุก 10,000 ชม. อย่างน้อยทุก 2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2.2 เกียร์บ็อกซ์ของ gear motor (10 รายการ) (2/2)</a:t>
            </a:r>
            <a:endParaRPr lang="en-US" sz="2800" dirty="0"/>
          </a:p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เกียร์บ็อกซ์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ซ่อมใหญ่ (general overhaul) [อย่างน้อยทุก 10 ปี]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2.3 ล้อเดิน (3 รายการ)</a:t>
            </a:r>
            <a:endParaRPr lang="en-US" sz="2800" dirty="0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ล้อเดิน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ตรวจการปรับตั้ง/การนำทางของล้อบนราง [ดูคู่มือซ่อม §3.5.1.5]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ล้อเดิน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ตรวจความเสียหายและการสึกหรอของล้อเดิน [ดูคู่มือซ่อม §3.5.1.5]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ล้อเดิน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หล่อลื่นลูกปืนของล้อขับเคลื่อน [ดูคู่มือซ่อม §3.5.1.5]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2.4 Rail clamp (11 รายการ) (1/2)</a:t>
            </a:r>
            <a:endParaRPr lang="en-US" sz="280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Guide roller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ตรวจว่าเมื่อปล่อย clamp ล้อนำ (guide roller) เป็นส่วนเดียวที่สัมผัสราง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Shoe (แผ่นจับราง)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ตรวจว่าฟันบนแผ่นจับ (shoe) ยังคมและไม่แบน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Shoe (แผ่นจับราง)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ตรวจว่าเมื่อ clamp จับ แผ่นจับสัมผัสรางเต็มหน้า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Guide rod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หล่อลื่นแกนนำ (guide rod) ของชุดสปริง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ชุด float block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หล่อลื่นชุด float block ผ่านนิปเปิลจาระบี และหล่อลื่นแกนนำแนวตั้งด้วยแปรงเล็กให้ทั่ว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สปริง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ทำความสะอาดสปริง (ฝุ่นอาจทำให้สีลอกเมื่อขดสปริงเสียดสีกัน) และหล่อลื่นสปริง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Eccentric pin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eccentric pin และหล่อลื่นตามความจำเป็น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2.4 Rail clamp (11 รายการ) (2/2)</a:t>
            </a:r>
            <a:endParaRPr lang="en-US" sz="2800" dirty="0"/>
          </a:p>
        </p:txBody>
      </p:sp>
      <p:graphicFrame>
        <p:nvGraphicFramePr>
          <p:cNvPr id="1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clamp ทำงานอยู่ในช่วงที่กำหนดบนป้ายแสดง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ปรับ wedge / toggle ตามคำแนะนำการปรับในคู่มือติดตั้ง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Pressure strainer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เปลี่ยนหรือทำความสะอาด pressure strainer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Guide roller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ตรวจชุดล้อนำและอัดจาระบีใหม่ถ้าจำเป็น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2.5 Hydraulic power unit ของ rail clamp (9 รายการ) (1/2)</a:t>
            </a:r>
            <a:endParaRPr lang="en-US" sz="280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ตรวจระดับของเหลวไฮดรอลิก [ทุก 500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ตรวจแรงดันที่เกิดขึ้นจากเกจวัดความดัน [ทุก 500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ตรวจท่อและข้อต่อไฮดรอลิกทั้งหมดว่ารั่วหรือไม่ [ทุก 500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ตรวจค่าตั้งทั้งหมด [ทุก 1,000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hand pump (ดูคำแนะนำภายในตู้ power unit) [ทุก 1,000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ตรวจเวลาทำงานของ clamp ให้ถูกต้อง (ปรับ flow control ถ้าจำเป็น) [ทุก 1,000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filler breather [ทุก 2,000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2.5 Hydraulic power unit ของ rail clamp (9 รายการ) (2/2)</a:t>
            </a:r>
            <a:endParaRPr lang="en-US" sz="280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ถ่ายน้ำมันไฮดรอลิกออกจากถังและเปลี่ยนใหม่ [ทุก 2,000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/ Hydraulic power unit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 filter [ทุก 2,000 รอบการทำงาน]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2.6 Rail sweeper (1 รายการ)</a:t>
            </a:r>
            <a:endParaRPr lang="en-US" sz="2800" dirty="0"/>
          </a:p>
        </p:txBody>
      </p:sp>
      <p:graphicFrame>
        <p:nvGraphicFramePr>
          <p:cNvPr id="1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sweeper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ตรวจการยึดและการทำงานของที่กวาดราง (rail sweeper) [ดูคู่มือซ่อม §3.5.1.7]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 ระบบสายพาน (Conveyor) (4 รายการ)</a:t>
            </a:r>
            <a:endParaRPr lang="en-US" sz="2800" dirty="0"/>
          </a:p>
        </p:txBody>
      </p:sp>
      <p:graphicFrame>
        <p:nvGraphicFramePr>
          <p:cNvPr id="1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Conveyor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ตรวจระบบสายพานว่ามีสิ่งผิดปกติหรือไม่: เสียง* อุณหภูมิ* การสั่นสะเทือน* กลิ่น* สัญญาณ [ดูคู่มือซ่อม §3.5.3.3]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Conveyor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ตรวจระบบสายพานว่ามีส่วนหลวมหรือไม่: bolt สายไฟ ท่อจาระบี [ดูคู่มือซ่อม §3.5.3.3]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Conveyor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ตรวจระบบสายพานว่ามีชำรุดที่: สายพาน, idler, pulley, อุปกรณ์ไฟฟ้า [ดูคู่มือซ่อม §3.5.3]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Conveyor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ตรวจความสกปรกของระบบสายพาน [ดูคู่มือซ่อม §3.5.3.3]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3.1 สายพาน (4 รายการ)</a:t>
            </a:r>
            <a:endParaRPr lang="en-US" sz="2800" dirty="0"/>
          </a:p>
        </p:txBody>
      </p:sp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ตรวจการวิ่งตรงศูนย์ของสายพาน (belt tracking)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ตรวจการเคลื่อนที่/การวิ่งของสายพาน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ตรวจแรงตึงสายพานและปรับตึงเพิ่มถ้าจำเป็น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3.2 Pulley (6 รายการ)</a:t>
            </a:r>
            <a:endParaRPr lang="en-US" sz="2800" dirty="0"/>
          </a:p>
        </p:txBody>
      </p:sp>
      <p:graphicFrame>
        <p:nvGraphicFramePr>
          <p:cNvPr id="1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2512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pulley สายพาน: ความเสียหาย การอุดตัน เสียงเดินผิดปกติ การสึกของยางหุ้ม กลิ่น/อุณหภูมิผิดปกติของลูกปืน bolt หลวม ท่อหล่อลื่นหลวม (กรณีมีระบบหล่อลื่นส่วนกลาง) และสายเซนเซอร์หลวม (กรณีมีการตรวจวัดลูกปืน) [ดูคู่มือซ่อม §3.5.3.2]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ขจัดเศษวัสดุสะสมบริเวณ pulley กลับทิศ (deflection) ถ้าจำเป็น [ดูคู่มือซ่อม §3.5.3.2]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987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อัดจาระบีลูกปืนแบบ self-aligning ใหม่ [ดูคู่มือซ่อม §3.5.3.2]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5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ที่ขันยึด [ดูคู่มือซ่อม §3.5.3.2]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225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ตรวจความเสียหายของลูกปืน [ดูคู่มือซ่อม §3.5.3.2]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52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Pulley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ตรวจใหญ่ (revision) pulley สายพาน [ดูคู่มือซ่อม §3.5.3.2]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5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3.2 Pulley (6 รายการ) · ภาพประกอบ</a:t>
            </a:r>
            <a:endParaRPr lang="en-US" sz="2800" dirty="0"/>
          </a:p>
        </p:txBody>
      </p:sp>
      <p:pic>
        <p:nvPicPr>
          <p:cNvPr id="4" name="Image 0" descr="ตำแหน่ง pulley ของ Tripper Car (คู่มือผู้ผลิต Figure 1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02" y="1371600"/>
            <a:ext cx="529972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 pulley ของ Tripper Car (คู่มือผู้ผลิต Figure 13)</a:t>
            </a:r>
            <a:endParaRPr lang="en-US" sz="1200" dirty="0"/>
          </a:p>
        </p:txBody>
      </p:sp>
      <p:pic>
        <p:nvPicPr>
          <p:cNvPr id="6" name="Image 1" descr="Return pulley (คู่มือผู้ผลิต Figure 14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188" y="1371600"/>
            <a:ext cx="435768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Return pulley (คู่มือผู้ผลิต Figure 14)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3.2 Pulley (6 รายการ) · ภาพประกอบ</a:t>
            </a:r>
            <a:endParaRPr lang="en-US" sz="2800" dirty="0"/>
          </a:p>
        </p:txBody>
      </p:sp>
      <p:pic>
        <p:nvPicPr>
          <p:cNvPr id="4" name="Image 0" descr="Take-up pulley (คู่มือผู้ผลิต Figure 1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8584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75763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Take-up pulley (คู่มือผู้ผลิต Figure 15)</a:t>
            </a:r>
            <a:endParaRPr lang="en-US" sz="1200" dirty="0"/>
          </a:p>
        </p:txBody>
      </p:sp>
      <p:pic>
        <p:nvPicPr>
          <p:cNvPr id="6" name="Image 1" descr="Bend pulley (คู่มือผู้ผลิต Figure 16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279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4215064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Bend pulley (คู่มือผู้ผลิต Figure 16)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3.3 Idler / garland (2 รายการ)</a:t>
            </a:r>
            <a:endParaRPr lang="en-US" sz="2800" dirty="0"/>
          </a:p>
        </p:txBody>
      </p:sp>
      <p:graphicFrame>
        <p:nvGraphicFramePr>
          <p:cNvPr id="1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Idler / garland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idler: เสียงผิดปกติ และ idler ติดตาย [ดูคู่มือซ่อม §3.5.3.3]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8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Idler / garland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idler: idler หาย สายพานเสียดสีกับขาจับ/ค้ำยัน เสียดสีเพราะ idler หรือวัสดุพอกติด เปลือก idler สึก รอยแหว่งที่ผิวหน้า ลูกปืนเสียหาย idler เอียง สายพานเสียดสี/วิ่งเบี้ยว [ดูคู่มือซ่อม §3.5.3.3]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3.4 Scraper ทำความสะอาดสายพาน (20 รายการ) (1/2)</a:t>
            </a:r>
            <a:endParaRPr lang="en-US" sz="2800" dirty="0"/>
          </a:p>
        </p:txBody>
      </p:sp>
      <p:graphicFrame>
        <p:nvGraphicFramePr>
          <p:cNvPr id="1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ตรวจว่าใบมีดไม่มีวัสดุพอกติด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ตรวจว่าแรงกดตั้งต้น (pre-tension) ถูกต้อง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ตรวจว่าใบมีดสัมผัสสายพานเต็มแนว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ตรวจการเคลื่อนที่ของแกน segment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ตรวจว่าใบมีดสึกเกินใช้งานหรือไม่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ตรวจว่าใบมีดเสียหายหรือไม่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ตรวจว่าฐานใบมีดยังหมุนได้อิสระเพื่อปรับตึง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Main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[หลังสายพานหยุด]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ตรวจว่าใบมีดสะอาดไม่มีเศษค้าง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ตรวจว่าแรงกดตั้งต้น (pre-tension) ถูกต้อง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3.4 Scraper ทำความสะอาดสายพาน (20 รายการ) (2/2)</a:t>
            </a:r>
            <a:endParaRPr lang="en-US" sz="2800" dirty="0"/>
          </a:p>
        </p:txBody>
      </p:sp>
      <p:graphicFrame>
        <p:nvGraphicFramePr>
          <p:cNvPr id="1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ตรวจว่าสกรูทุกตัวแน่น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ตรวจว่าใบมีดทุกใบแนบสายพานตามข้อกำหนด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ตรวจว่าแกนใบมีดเคลื่อนที่ได้อิสระ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ตรวจว่าใบมีดสึกหมดหรือไม่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ตรวจว่าใบมีดไม่เสียหาย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ตรวจว่าฐานใบมีดหมุนได้อิสระเพื่อปรับตึง [ดูคู่มือซ่อม §3.5.3.4.1]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Pre-scraper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scraper [หลังสายพานหยุด]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Steel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ตรวจการสึกของใบมีด steel scraper [ดูคู่มือซ่อม §3.5.3.4.2]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Steel scraper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ตรวจระยะห่างระหว่าง snub pulley กับใบมีด scraper [ดูคู่มือซ่อม §3.5.3.4.2]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3.4 Scraper ทำความสะอาดสายพาน (20 รายการ) · ภาพประกอบ</a:t>
            </a:r>
            <a:endParaRPr lang="en-US" sz="2800" dirty="0"/>
          </a:p>
        </p:txBody>
      </p:sp>
      <p:pic>
        <p:nvPicPr>
          <p:cNvPr id="4" name="Image 0" descr="Belt scraper (คู่มือผู้ผลิต Figure 1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0092" y="1371600"/>
            <a:ext cx="6971512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scraper (คู่มือผู้ผลิต Figure 17)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3.5 ระบบปรับตึงสายพาน (3 รายการ)</a:t>
            </a:r>
            <a:endParaRPr lang="en-US" sz="2800" dirty="0"/>
          </a:p>
        </p:txBody>
      </p:sp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8546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Sliding block, รางเลื่อน และ take-up spindle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ทำความสะอาดและอัดจาระบี sliding block, รางเลื่อน และเกลียวปรับตึง (take-up spindle)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ระบบไฮดรอลิก / ท่อไฮดรอลิก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ตรวจท่อไฮดรอลิกว่ามีความเสียหายหรือข้อบกพร่องที่มองเห็นหรือไม่ [ก่อนนำเข้าใช้งาน]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ระบบไฮดรอลิก / ท่อไฮดรอลิก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ให้ผู้เชี่ยวชาญตรวจสภาพท่อไฮดรอลิก [ดูคู่มือซ่อม §3.2.5]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3.5 ระบบปรับตึงสายพาน (3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ปรับตึงสายพาน (Tensioning system) (คู่มือผู้ผลิต Figure 18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8851" y="1371600"/>
            <a:ext cx="517399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ระบบปรับตึงสายพาน (Tensioning system) (คู่มือผู้ผลิต Figure 18)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3.5.1.1 ไฮดรอลิกทั่วไป (1 รายการ)</a:t>
            </a:r>
            <a:endParaRPr lang="en-US" sz="2800" dirty="0"/>
          </a:p>
        </p:txBody>
      </p:sp>
      <p:graphicFrame>
        <p:nvGraphicFramePr>
          <p:cNvPr id="1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ตรวจระบบไฮดรอลิกทั้งระบบ [ดูคู่มือซ่อม §3.2.5, §3.5.3.1]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3.5.1.2 Hydraulic power unit (5 รายการ)</a:t>
            </a:r>
            <a:endParaRPr lang="en-US" sz="2800" dirty="0"/>
          </a:p>
        </p:txBody>
      </p:sp>
      <p:graphicFrame>
        <p:nvGraphicFramePr>
          <p:cNvPr id="1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ตรวจระดับน้ำมันในถัง [ตรวจทุก 8 ชม.เดินเครื่อง]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 / Filter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ตรวจระดับความสกปรกของ filter [ตรวจทุก 8 ชม.เดินเครื่อง]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 / Valve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pressure valve [ตรวจอย่างน้อยทุก 6 เดือน]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เก็บตัวอย่างน้ำมันไฮดรอลิกส่งวิเคราะห์ [เก็บตัวอย่างน้ำมันอย่างน้อยปีละครั้ง]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Hydraulic power unit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เปลี่ยนน้ำมันไฮดรอลิกตามผลการวิเคราะห์น้ำมัน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3.5.1.2 Hydraulic power unit (5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ไฮดรอลิก (คู่มือผู้ผลิต Figure 2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602" y="1371600"/>
            <a:ext cx="524412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ระบบไฮดรอลิก (คู่มือผู้ผลิต Figure 24)</a:t>
            </a:r>
            <a:endParaRPr lang="en-US" sz="1200" dirty="0"/>
          </a:p>
        </p:txBody>
      </p:sp>
      <p:pic>
        <p:nvPicPr>
          <p:cNvPr id="6" name="Image 1" descr="Hydraulic power unit (คู่มือผู้ผลิต Figure 25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065" y="1371600"/>
            <a:ext cx="5191932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power unit (คู่มือผู้ผลิต Figure 25)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3.5.1.2 Hydraulic power unit (5 รายการ) · ภาพประกอบ</a:t>
            </a:r>
            <a:endParaRPr lang="en-US" sz="2800" dirty="0"/>
          </a:p>
        </p:txBody>
      </p:sp>
      <p:pic>
        <p:nvPicPr>
          <p:cNvPr id="4" name="Image 0" descr="Hydraulic cylinder (คู่มือผู้ผลิต Figure 26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186" y="1371600"/>
            <a:ext cx="671932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Hydraulic cylinder (คู่มือผู้ผลิต Figure 26)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3.5.1.3 กระบอกไฮดรอลิก (4 รายการ)</a:t>
            </a:r>
            <a:endParaRPr lang="en-US" sz="2800" dirty="0"/>
          </a:p>
        </p:txBody>
      </p:sp>
      <p:graphicFrame>
        <p:nvGraphicFramePr>
          <p:cNvPr id="1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bearing ข้อต่อของกระบอกไฮดรอลิกว่ามีการสึกที่มองเห็นหรือไม่ [ดูคู่มือซ่อม §3.2.5, §3.5.3.1.1]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bolt ยึดขันแน่น [ดูคู่มือซ่อม §3.2.5, §3.5.3.1.1]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ตรวจความหนา/สภาพของท่อไฮดรอลิกและข้อต่อ [ดูคู่มือซ่อม §3.2.5, §3.5.3.1.1]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กระบอกไฮดรอลิก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ตรวจความหนา/สภาพของกระบอกไฮดรอลิก [ดูคู่มือซ่อม §3.2.5, §3.5.3.1.1]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4.1 Discharge head (11 รายการ) (1/2)</a:t>
            </a:r>
            <a:endParaRPr lang="en-US" sz="2800" dirty="0"/>
          </a:p>
        </p:txBody>
      </p:sp>
      <p:graphicFrame>
        <p:nvGraphicFramePr>
          <p:cNvPr id="1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ตรวจการไหลของวัสดุ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 /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ตรวจการสึกและการยึดแน่นของ wear plate ที่ baffle plate [ดูคู่มือซ่อม §3.5.4.2.1]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ตรวจการปรับตั้ง baffle plate [ดูคู่มือซ่อม §3.5.4.2.1]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 / แผ่นยาง (rubber mat)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ตรวจการแขวนของแผ่นยาง (rubber mat) [ดูคู่มือซ่อม §3.5.4.1]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ตรวจวัสดุพอกติด [ดูคู่มือซ่อม §3.5.4.2]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ตรวจทางเดินว่ามีวัสดุหกหล่นสะสม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 /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ตรวจการยึด wear plate ว่าแน่นหนา [ดูคู่มือซ่อม §3.5.4.2.1]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 /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ตรวจระดับการสึกของ wear plate หากหัวสกรูสึก ให้เปลี่ยน wear plate แผ่นนั้น [ดูคู่มือซ่อม §3.5.4.2.1]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4.1 Discharge head (11 รายการ) (2/2)</a:t>
            </a:r>
            <a:endParaRPr lang="en-US" sz="2800" dirty="0"/>
          </a:p>
        </p:txBody>
      </p:sp>
      <p:graphicFrame>
        <p:nvGraphicFramePr>
          <p:cNvPr id="1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 / Wear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 wear plate ที่หลวม [ดูคู่มือซ่อม §3.5.4.2]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ทำความสะอาดโครงสร้างบริเวณ baffle plate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Discharge head / แผ่นยาง (rubber mat)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ตรวจการสึกของแผ่นยาง (rubber mat) [ดูคู่มือซ่อม §3.5.4.1]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4.1 Discharge head (11 รายการ) · ภาพประกอบ</a:t>
            </a:r>
            <a:endParaRPr lang="en-US" sz="2800" dirty="0"/>
          </a:p>
        </p:txBody>
      </p:sp>
      <p:pic>
        <p:nvPicPr>
          <p:cNvPr id="4" name="Image 0" descr="Discharge head (คู่มือผู้ผลิต Figure 1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418" y="1371600"/>
            <a:ext cx="9596859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Discharge head (คู่มือผู้ผลิต Figure 19)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5.1 จุดยึดกระบอกไฮดรอลิก (5 รายการ)</a:t>
            </a:r>
            <a:endParaRPr lang="en-US" sz="2800" dirty="0"/>
          </a:p>
        </p:txBody>
      </p:sp>
      <p:graphicFrame>
        <p:nvGraphicFramePr>
          <p:cNvPr id="1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9197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จุดยึดกระบอกไฮดรอลิก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ตรวจกระบอกไฮดรอลิก ท่อและสายว่ารั่วหรือไม่ [ปรับรอบตามสภาพใช้งาน และให้ผู้เชี่ยวชาญตรวจเพิ่มทุก 24 เดือน – ดูคู่มือซ่อม §3.2.3, §3.5.3.1.1]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97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จุดยึดกระบอกไฮดรอลิก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ตรวจข้อต่อกระบอกไฮดรอลิกว่าสึก เป็นสนิม หรือเสียหายหรือไม่ [ปรับรอบตามสภาพใช้งาน และให้ผู้เชี่ยวชาญตรวจเพิ่มทุก 24 เดือน – ดูคู่มือซ่อม §3.2.3, §3.5.3.1.1]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619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จุดยึดกระบอกไฮดรอลิก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ตรวจรอยร้าวของสี [ปรับรอบตามสภาพใช้งาน และให้ผู้เชี่ยวชาญตรวจเพิ่มทุก 24 เดือน – ดูคู่มือซ่อม §3.2.3, §3.5.3.1.1]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97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จุดยึดกระบอกไฮดรอลิก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ตรวจรอยร้าวของโครงสร้างแท่น โครงสร้างจุดแขวน และกระบอก [ปรับรอบตามสภาพใช้งาน และให้ผู้เชี่ยวชาญตรวจเพิ่มทุก 24 เดือน – ดูคู่มือซ่อม §3.2.3, §3.5.3.1.1]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91973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จุดยึดกระบอกไฮดรอลิก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ตรวจรอยเชื่อมทั้งหมดว่ามีรอยร้าวหรือไม่ [ปรับรอบตามสภาพใช้งาน และให้ผู้เชี่ยวชาญตรวจเพิ่มทุก 24 เดือน – ดูคู่มือซ่อม §3.2.3, §3.5.3.1.1]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M4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6 Cable duct (3 รายการ)</a:t>
            </a:r>
            <a:endParaRPr lang="en-US" sz="2800" dirty="0"/>
          </a:p>
        </p:txBody>
      </p:sp>
      <p:graphicFrame>
        <p:nvGraphicFramePr>
          <p:cNvPr id="1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Ball race / Bolt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[ดูคู่มือซ่อม §3.5.5]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Ball race / ระบบซีล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ตรวจความแน่นหนาของระบบซีล [ดูคู่มือซ่อม §3.5.5]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Ball race / Raceway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 raceway [ดูคู่มือซ่อม §3.5.5]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7.1 Ball bearing slewing ring (3 รายการ)</a:t>
            </a:r>
            <a:endParaRPr lang="en-US" sz="2800" dirty="0"/>
          </a:p>
        </p:txBody>
      </p:sp>
      <p:graphicFrame>
        <p:nvGraphicFramePr>
          <p:cNvPr id="1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Ball bearing slewing ring / ระบบซีล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ตรวจความแน่นหนาของระบบซีล [ดูคู่มือซ่อม §3.5.2.4]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Ball bearing slewing ring / Bolt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 bolt [ดูคู่มือซ่อม §3.5.2.4]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Ball bearing slewing ring / Raceway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 raceway [ดูคู่มือซ่อม §3.5.2.4]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7.1 Ball bearing slewing ring (3 รายการ) · ภาพประกอบ</a:t>
            </a:r>
            <a:endParaRPr lang="en-US" sz="2800" dirty="0"/>
          </a:p>
        </p:txBody>
      </p:sp>
      <p:pic>
        <p:nvPicPr>
          <p:cNvPr id="4" name="Image 0" descr="Bearing ของ Support car (คู่มือผู้ผลิต Figure 2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510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277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Bearing ของ Support car (คู่มือผู้ผลิต Figure 21)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7.2 Bogie (รองรับสะพาน) (3 รายการ)</a:t>
            </a:r>
            <a:endParaRPr lang="en-US" sz="2800" dirty="0"/>
          </a:p>
        </p:txBody>
      </p:sp>
      <p:graphicFrame>
        <p:nvGraphicFramePr>
          <p:cNvPr id="1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398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Bogie (รองรับสะพาน) / Bushing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ตรวจการสึกหรอตามแนวรัศมีของ bushing [ตอนเริ่มใช้งานต้องวัดค่าและจดบันทึก ตรวจซ้ำหลัง 3 เดือน เปรียบเทียบค่าแล้วปรับรอบบำรุงรักษาตามผล – ดูคู่มือซ่อม §3.5.2.5]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98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Bogie (รองรับสะพาน) / Friction washer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ตรวจการสึกหรอตามแนวแกนของ friction washer [ตอนเริ่มใช้งานต้องวัดค่าและจดบันทึก ตรวจซ้ำหลัง 3 เดือน เปรียบเทียบค่าแล้วปรับรอบบำรุงรักษาตามผล – ดูคู่มือซ่อม §3.5.2.5]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Bogie (รองรับสะพาน) / Roller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ตรวจสภาพลูกกลิ้ง (roller)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8 ระบบหล่อลื่น (9 รายการ) (1/2)</a:t>
            </a:r>
            <a:endParaRPr lang="en-US" sz="2800" dirty="0"/>
          </a:p>
        </p:txBody>
      </p:sp>
      <p:graphicFrame>
        <p:nvGraphicFramePr>
          <p:cNvPr id="1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ระบบหล่อลื่นทั้งระบบ / ท่อ สาย และชิ้นส่วน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 สาย และชิ้นส่วนของระบบหล่อลื่นส่วนกลางว่ารั่วหรือไม่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ระบบหล่อลื่นทั้งระบบ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ตรวจทุกจุดหล่อลื่นว่ามีจาระบีส่วนเกินไหลออกหรือไม่ (เพื่อดูท่อ/สายอุดตัน)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ปั๊มจาระบี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ตรวจ/เติมถังจาระบี (ตรวจการทำงานของตัวบอกระดับ)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ปั๊มจาระบี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ตรวจเสียงผิดปกติของสถานีปั๊ม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ปั๊มจาระบี / Loading filter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 filter ด้านเติมสะอาด [ทุก 2,000 ชม.เดินเครื่อง]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ปั๊มจาระบี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ตรวจตัวบอกการเคลื่อนที่ของตัวจ่ายสารหล่อลื่นว่าทำงานสมบูรณ์ โดยสั่งชักเข้า-ออกจนถึงสวิตช์ลิมิต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ระบบหล่อลื่นทั้งระบบ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ตรวจความแน่นของข้อต่อเกลียวที่ชุดปั๊ม จุดหล่อลื่น และท่อ ด้วยสายตา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8 ระบบหล่อลื่น (9 รายการ) (2/2)</a:t>
            </a:r>
            <a:endParaRPr lang="en-US" sz="2800" dirty="0"/>
          </a:p>
        </p:txBody>
      </p:sp>
      <p:graphicFrame>
        <p:nvGraphicFramePr>
          <p:cNvPr id="1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ระบบหล่อลื่นทั้งระบบ / ท่อ สาย และชิ้นส่วน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ตรวจความแน่นของท่อ/สายและข้อต่อด้วยสายตา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ปั๊มจาระบี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ตรวจสกรูฐานยึดของสถานีปั๊มว่าแน่น [ดูคู่มือซ่อม §3.3.3.1]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8 ระบบหล่อลื่น (9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หล่อลื่น (คู่มือผู้ผลิต Figure 2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757" y="1371600"/>
            <a:ext cx="4658181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ระบบหล่อลื่น (คู่มือผู้ผลิต Figure 27)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9 เครนและรอก (15 รายการ) (1/3)</a:t>
            </a:r>
            <a:endParaRPr lang="en-US" sz="2800" dirty="0"/>
          </a:p>
        </p:txBody>
      </p:sp>
      <p:graphicFrame>
        <p:nvGraphicFramePr>
          <p:cNvPr id="1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ตรวจการทำงานของเบรก: จานเบรก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เบรก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เบรก – จานเบรก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เฟือง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ล้อ trolley หล่อลื่นเฟือง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โซ่ยก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ตรวจ: โซ่ยก (load chain)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โซ่ยก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โซ่ยก ทำความสะอาดและหยอดน้ำมัน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9 เครนและรอก (15 รายการ) (2/3)</a:t>
            </a:r>
            <a:endParaRPr lang="en-US" sz="2800" dirty="0"/>
          </a:p>
        </p:txBody>
      </p:sp>
      <p:graphicFrame>
        <p:nvGraphicFramePr>
          <p:cNvPr id="1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โซ่ยก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โซ่ยก การยืดและการสึก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ให้ผู้มีคุณสมบัติตรวจอุปกรณ์ (ตรวจตามรอบ)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ข้อต่อสกรู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การป้องกันโหลดเกิน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การป้องกันโหลดเกินแบบ slipping clutch (ถ้ามี)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การป้องกันโหลดเกิน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การป้องกันโหลดเกินแบบตัดกระแส (รอกไฟฟ้า) (ถ้ามี)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9 เครนและรอก (15 รายการ) (3/3)</a:t>
            </a:r>
            <a:endParaRPr lang="en-US" sz="2800" dirty="0"/>
          </a:p>
        </p:txBody>
      </p:sp>
      <p:graphicFrame>
        <p:nvGraphicFramePr>
          <p:cNvPr id="1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การป้องกันโหลดเกิน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การป้องกันโหลดเกินแบบ air relief valve (รอกลม) (ถ้ามี)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ตะขอยก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ตะขอยก รอยร้าวและการบิดเบี้ยว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ลูกปืนล้อโซ่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ลูกปืนของล้อโซ่ ตรวจและหล่อลื่น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เกียร์รอก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เกียร์ของรอก เปลี่ยนน้ำมัน [ตรวจและบำรุงรักษาทุก 36/60 เดือน]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86448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รอกโซ่ (chain hoist) / ล้อ trolley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ตรวจและบำรุงรักษา: การสึกของล้อ trolley [รอบที่ระบุใช้กับสภาพปกติและเดินกะเดียว หากใช้งานหนัก (เช่น ยกเต็มพิกัดบ่อย) หรือสภาพแวดล้อมรุนแรง (ร้อน ฝุ่น) ให้ลดรอบลง]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9 เครนและรอก (15 รายการ) · ภาพประกอบ</a:t>
            </a:r>
            <a:endParaRPr lang="en-US" sz="2800" dirty="0"/>
          </a:p>
        </p:txBody>
      </p:sp>
      <p:pic>
        <p:nvPicPr>
          <p:cNvPr id="4" name="Image 0" descr="รอกโซ่ไฟฟ้า (คู่มือผู้ผลิต Figure 30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5416" y="1371600"/>
            <a:ext cx="9580864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รอกโซ่ไฟฟ้า (คู่มือผู้ผลิต Figure 30)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10 อุปกรณ์ความปลอดภัยและเฝ้าระวัง (8 รายการ) (1/2)</a:t>
            </a:r>
            <a:endParaRPr lang="en-US" sz="2800" dirty="0"/>
          </a:p>
        </p:txBody>
      </p:sp>
      <p:graphicFrame>
        <p:nvGraphicFramePr>
          <p:cNvPr id="1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 / Belt misalignment switch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Belt misalignment switch [ดู Electrotechnical Documentation]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ON/OFF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ตรวจความพร้อมใช้งานของปุ่ม Emergency stop, pull-wire switch และ limit switch ฉุกเฉินทั้งหมด [ดูคู่มือซ่อม §3.2.1, §3.5.8]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ตรวจการทำงานของ limit switch ประจำที่และสำรอง [ดูคู่มือซ่อม §3.2.1, §3.5.8]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ขจัดวัสดุพอกติดที่ limit switch, proximity switch และตัวกระตุ้น และหล่อลื่นถ้าจำเป็น [ดูคู่มือซ่อม §3.2.1, §3.5.8]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ตรวจชิ้นส่วนสึกหรอทางไฟฟ้า เช่น ลูกปืน แปรงถ่าน สลิปริง และซ่อม/เปลี่ยนชิ้นที่ชำรุด [ดูคู่มือซ่อม §3.2.1, §3.5.8]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ตรวจสายไฟเคลื่อนที่ว่าสึกหรือเสียหาย และเปลี่ยนสายที่เสียหายทันที [ดูคู่มือซ่อม §3.2.1, §3.5.8]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ตรวจว่าขั้วต่อและจุดเชื่อมต่อแน่น และขันเพิ่มถ้าจำเป็น [ดูคู่มือซ่อม §3.2.1, §3.5.7]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10 อุปกรณ์ความปลอดภัยและเฝ้าระวัง (8 รายการ) (2/2)</a:t>
            </a:r>
            <a:endParaRPr lang="en-US" sz="2800" dirty="0"/>
          </a:p>
        </p:txBody>
      </p:sp>
      <p:graphicFrame>
        <p:nvGraphicFramePr>
          <p:cNvPr id="1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อุปกรณ์ไฟฟ้า / Pull-wire switch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ตรวจสายสลิงและสปริงของ pull-wire ด้วยสายตา [ดูคู่มือซ่อม §3.2.1, §3.5.7]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10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อุปกรณ์สัญญาณเตือน (คู่มือผู้ผลิต Figure 31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23704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787743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อุปกรณ์สัญญาณเตือน (คู่มือผู้ผลิต Figure 31)</a:t>
            </a:r>
            <a:endParaRPr lang="en-US" sz="1200" dirty="0"/>
          </a:p>
        </p:txBody>
      </p:sp>
      <p:pic>
        <p:nvPicPr>
          <p:cNvPr id="6" name="Image 1" descr="Pull rope switch (คู่มือผู้ผลิต Figure 32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031" y="1371600"/>
            <a:ext cx="4824000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Pull rope switch (คู่มือผู้ผลิต Figure 32)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10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การวัดระยะเดิน (Travel path) (คู่มือผู้ผลิต Figure 34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1986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40369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การวัดระยะเดิน (Travel path) (คู่มือผู้ผลิต Figure 34)</a:t>
            </a:r>
            <a:endParaRPr lang="en-US" sz="1200" dirty="0"/>
          </a:p>
        </p:txBody>
      </p:sp>
      <p:pic>
        <p:nvPicPr>
          <p:cNvPr id="6" name="Image 1" descr="Proximity/limit switch และ encoder มุมหมุน (คู่มือผู้ผลิต Figure 35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993" y="1371600"/>
            <a:ext cx="4956078" cy="4572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Proximity/limit switch และ encoder มุมหมุน (คู่มือผู้ผลิต Figure 35)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156</a:t>
            </a:fld>
            <a:endParaRPr 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10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Encoder ระยะเดินของ Support bridge (คู่มือผู้ผลิต Figure 3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10048" cy="38862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03524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 ระยะเดินของ Support bridge (คู่มือผู้ผลิต Figure 37)</a:t>
            </a:r>
            <a:endParaRPr lang="en-US" sz="1200" dirty="0"/>
          </a:p>
        </p:txBody>
      </p:sp>
      <p:pic>
        <p:nvPicPr>
          <p:cNvPr id="6" name="Image 1" descr="Belt misalignment switch (คู่มือผู้ผลิต Figure 38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39646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381997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Belt misalignment switch (คู่มือผู้ผลิต Figure 38)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157</a:t>
            </a:fld>
            <a:endParaRPr lang="en-US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10 อุปกรณ์ความปลอดภัยและเฝ้าระวัง (8 รายการ) · ภาพประกอบ</a:t>
            </a:r>
            <a:endParaRPr lang="en-US" sz="2800" dirty="0"/>
          </a:p>
        </p:txBody>
      </p:sp>
      <p:pic>
        <p:nvPicPr>
          <p:cNvPr id="4" name="Image 0" descr="Blocked chute detector (คู่มือผู้ผลิต Figure 3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147" y="1371600"/>
            <a:ext cx="3923033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Blocked chute detector (คู่มือผู้ผลิต Figure 39)</a:t>
            </a:r>
            <a:endParaRPr lang="en-US" sz="1200" dirty="0"/>
          </a:p>
        </p:txBody>
      </p:sp>
      <p:pic>
        <p:nvPicPr>
          <p:cNvPr id="6" name="Image 1" descr="Limit switch ของ take-up station (คู่มือผู้ผลิต Figure 40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1371600"/>
            <a:ext cx="5410048" cy="43926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233008" y="5809956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Limit switch ของ take-up station (คู่มือผู้ผลิต Figure 40)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158</a:t>
            </a:fld>
            <a:endParaRPr 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11 ระบบดับเพลิง (1 รายการ)</a:t>
            </a:r>
            <a:endParaRPr lang="en-US" sz="2800" dirty="0"/>
          </a:p>
        </p:txBody>
      </p:sp>
      <p:graphicFrame>
        <p:nvGraphicFramePr>
          <p:cNvPr id="1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ถังดับเพลิง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ตรวจว่าถังดับเพลิงอยู่ที่เดิมและพร้อมใช้งาน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159</a:t>
            </a:fld>
            <a:endParaRPr lang="en-US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11 ระบบดับเพลิง (1 รายการ) · ภาพประกอบ</a:t>
            </a:r>
            <a:endParaRPr lang="en-US" sz="2800" dirty="0"/>
          </a:p>
        </p:txBody>
      </p:sp>
      <p:pic>
        <p:nvPicPr>
          <p:cNvPr id="4" name="Image 0" descr="ถังดับเพลิง (คู่มือผู้ผลิต Figure 28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37919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0929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ถังดับเพลิง (คู่มือผู้ผลิต Figure 28)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160</a:t>
            </a:fld>
            <a:endParaRPr 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12 ระบบพ่นน้ำลดฝุ่น (12 รายการ) (1/2)</a:t>
            </a:r>
            <a:endParaRPr lang="en-US" sz="2800" dirty="0"/>
          </a:p>
        </p:txBody>
      </p:sp>
      <p:graphicFrame>
        <p:nvGraphicFramePr>
          <p:cNvPr id="1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ระบบเพิ่มแรงดันน้ำ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ตรวจทั่วไป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ตรวจชิ้นส่วนหลวม การรั่ว และผลกระทบ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 / ตู้วาล์ว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ตรวจตู้วาล์วว่าทำงานดี ไม่รั่ว วาล์ว เกจ ฯลฯ ยึดแน่น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 / ท่อน้ำ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ตรวจท่อน้ำและท่อจ่ายว่าไม่รั่ว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 / ฮีตเตอร์ในตู้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ตรวจฮีตเตอร์ในตู้ว่าทำงาน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ตรวจแผงวาล์วว่าทำงานดี ไม่รั่ว วาล์วและมาโนมิเตอร์ยึดแน่น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ตรวจไฟฟ้าของแผงวาล์ว: การต่อลงดิน สายหลวม สายเสียหาย การทำงานของ solenoid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ตรวจฮีตเตอร์ว่าทำงานและสมบูรณ์ [ก่อนเข้าฤดูใช้ฮีตเตอร์]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ถอดที่ดักตะกอน (dirt trap) ในท่อน้ำ ล้างและเปลี่ยนถ้าจำเป็น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161</a:t>
            </a:fld>
            <a:endParaRPr lang="en-US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12 ระบบพ่นน้ำลดฝุ่น (12 รายการ) (2/2)</a:t>
            </a:r>
            <a:endParaRPr lang="en-US" sz="2800" dirty="0"/>
          </a:p>
        </p:txBody>
      </p:sp>
      <p:graphicFrame>
        <p:nvGraphicFramePr>
          <p:cNvPr id="1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2329827"/>
                <a:gridCol w="5769096"/>
                <a:gridCol w="887553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ชิ้นส่วน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 / งานบำรุงรักษา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ขณะ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ถอดหัวฉีด ล้างทำความสะอาด ตรวจรูปแบบการพ่น และซ่อม/เปลี่ยนถ้าจำเป็น [เมื่อจำเป็น]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ตรวจหัวฉีดและ nozzle block ว่าเสียหายหรือไม่ และปรับทิศทางใหม่ถ้าจำเป็น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OFF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ตู้วาล์วและท่อ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ตรวจการทำงานขณะระบบเดินอยู่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162</a:t>
            </a:fld>
            <a:endParaRPr lang="en-US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4 · รายการตรวจ/บำรุงรักษาตามผู้ผลิต (ฉบับเต็ม)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Tripper Car ข้อ 12 ระบบพ่นน้ำลดฝุ่น (12 รายการ) · ภาพประกอบ</a:t>
            </a:r>
            <a:endParaRPr lang="en-US" sz="2800" dirty="0"/>
          </a:p>
        </p:txBody>
      </p:sp>
      <p:pic>
        <p:nvPicPr>
          <p:cNvPr id="4" name="Image 0" descr="ระบบลดฝุ่น (คู่มือผู้ผลิต Figure 2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44642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81541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ระบบลดฝุ่น (คู่มือผู้ผลิต Figure 29)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163</a:t>
            </a:fld>
            <a:endParaRPr 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จุดตรวจวัดค่าสึกหรอ 25 จุด (OB9 Inspection)</a:t>
            </a:r>
            <a:endParaRPr lang="en-US" sz="36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จุดตรวจวัดค่าสึกหรอ 25 จุด (OB9 Inspection) (1/3)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ตารางสรุปเกณฑ์จุดตรวจวัดที่โครงการใช้ในใบตรวจเช็ค Inspection และระบบ OB9 ทุกครั้งที่วัดให้บันทึกทั้ง Drive 1 และ Drive 2 (ถ้ามี)</a:t>
            </a:r>
            <a:endParaRPr lang="en-US" sz="1500" dirty="0"/>
          </a:p>
        </p:txBody>
      </p:sp>
      <p:graphicFrame>
        <p:nvGraphicFramePr>
          <p:cNvPr id="1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4437766"/>
                <a:gridCol w="4548710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จุดตรวจ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เกณฑ์ / ค่ามาตรฐาน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หน่วย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Spocket Cam — ระยะ Backlash (ค่า Y)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ระดับตึง/หย่อน Crawler track pad (ค่า X)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หย่อนได้ไม่เกิน 60-80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ระยะยึด Link crawler track pad (ค่า X)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615+15 (≈630)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Backlash Pinion Main Slewing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X 9-11, Y 0.72-0.96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ความหนาสายพาน BW2400 ST3500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28 - 35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แรงดันปั๊มหลัก (110 kW)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แรงดันใช้งาน 220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อัตราการไหลปั๊มหลัก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l/min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 Relief valve หลัก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ตั้งไว้ 230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 Discharge boom (ปกติ)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198 (Fz = 1,820 kN)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165</a:t>
            </a:fld>
            <a:endParaRPr 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จุดตรวจวัดค่าสึกหรอ 25 จุด (OB9 Inspection) (2/3)</a:t>
            </a:r>
            <a:endParaRPr lang="en-US" sz="2800" dirty="0"/>
          </a:p>
        </p:txBody>
      </p:sp>
      <p:graphicFrame>
        <p:nvGraphicFramePr>
          <p:cNvPr id="1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4437766"/>
                <a:gridCol w="4548710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จุดตรวจ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เกณฑ์ / ค่ามาตรฐาน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หน่วย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 Discharge boom (สูงสุด)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211 (Fz max = 2,165 kN)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 Pilot valve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แรงดันปั๊มสำรอง (5.5 kW)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อัตราการไหลปั๊มสำรอง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l/min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ความเร็วยืด/หด Boom cylinder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m/min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แรงดันปั๊ม Belt tensioning (Tripper car)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อัตราการไหลปั๊ม Belt tensioning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101.8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l/min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กำลังมอเตอร์ปั๊ม Belt tensioning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kW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ความเร็วรอบปั๊ม Belt tensioning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1,500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rpm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166</a:t>
            </a:fld>
            <a:endParaRPr lang="en-US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จุดตรวจวัดค่าสึกหรอ 25 จุด (OB9 Inspection) (3/3)</a:t>
            </a:r>
            <a:endParaRPr lang="en-US" sz="2800" dirty="0"/>
          </a:p>
        </p:txBody>
      </p:sp>
      <p:graphicFrame>
        <p:nvGraphicFramePr>
          <p:cNvPr id="1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76609"/>
                <a:gridCol w="4437766"/>
                <a:gridCol w="4548710"/>
                <a:gridCol w="133133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จุดตรวจ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เกณฑ์ / ค่ามาตรฐาน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หน่วย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ระดับน้ำมันถังพัก Tensioning device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297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ลิตร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09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แรงหนีบ Rail clamp ต่อตัว (Hillmar CTHV-TS-100-050)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ปริมาณน้ำมัน Rail clamp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ลิตร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ค่าสึกหรอ Slewing ring (วัด 4 จุด บน-ล่าง)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ทรุดตัวได้ไม่เกิน 1.6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แรงขันเบื้องต้นสลัก Ball bearing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610 (Bolted connection)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kN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Backlash Pinion Main Slewing (ขีดจำกัดสึกหรอ Y)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2.4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มม.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อุณหภูมิ Gearbox housing (Main slewing gear unit)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ไม่เกิน 95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°C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167</a:t>
            </a:fld>
            <a:endParaRPr lang="en-US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5.1 จุดที่ 1 — Spocket Cam (ระยะ Backlash)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นิยาม: ค่า Y คือระยะที่วัดระหว่าง cam ของ Drive tumbler กับ track link มาตรฐานติดตั้งไม่เกิน 6 มม. (คู่มือ 3.5.1.4.3, Figure 49)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21945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226771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9456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ก่อนปฏิบัติงานทุกครั้ง (คู่มือ 2.9)</a:t>
            </a:r>
            <a:endParaRPr lang="en-US" sz="1700" dirty="0"/>
          </a:p>
        </p:txBody>
      </p:sp>
      <p:sp>
        <p:nvSpPr>
          <p:cNvPr id="9" name="row-2"/>
          <p:cNvSpPr/>
          <p:nvPr/>
        </p:nvSpPr>
        <p:spPr>
          <a:xfrm>
            <a:off x="548640" y="277977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" name="mark-2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77977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ใช้เวอร์เนียร์คาลิปเปอร์วัดระยะ Y ระหว่าง cam ของ Drive tumbler กับ track link</a:t>
            </a:r>
            <a:endParaRPr lang="en-US" sz="1700" dirty="0"/>
          </a:p>
        </p:txBody>
      </p:sp>
      <p:sp>
        <p:nvSpPr>
          <p:cNvPr id="13" name="row-3"/>
          <p:cNvSpPr/>
          <p:nvPr/>
        </p:nvSpPr>
        <p:spPr>
          <a:xfrm>
            <a:off x="548640" y="336499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3"/>
          <p:cNvSpPr/>
          <p:nvPr/>
        </p:nvSpPr>
        <p:spPr>
          <a:xfrm>
            <a:off x="685800" y="343814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36499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วัดทั้ง Drive 1 และ Drive 2 แล้วบันทึกค่า</a:t>
            </a:r>
            <a:endParaRPr lang="en-US" sz="1700" dirty="0"/>
          </a:p>
        </p:txBody>
      </p:sp>
      <p:sp>
        <p:nvSpPr>
          <p:cNvPr id="17" name="row-4"/>
          <p:cNvSpPr/>
          <p:nvPr/>
        </p:nvSpPr>
        <p:spPr>
          <a:xfrm>
            <a:off x="548640" y="395020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4"/>
          <p:cNvSpPr/>
          <p:nvPr/>
        </p:nvSpPr>
        <p:spPr>
          <a:xfrm>
            <a:off x="685800" y="402336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95020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 Y ไม่เกิน 6 มม. ถือว่าปกติ ถ้าเกินต้องเปลี่ยน Cam Drive tumbler และ track link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168</a:t>
            </a:fld>
            <a:endParaRPr 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5.1 จุดที่ 1 — Spocket Cam (ระยะ Backlash) · ภาพประกอบ</a:t>
            </a:r>
            <a:endParaRPr lang="en-US" sz="2800" dirty="0"/>
          </a:p>
        </p:txBody>
      </p:sp>
      <p:pic>
        <p:nvPicPr>
          <p:cNvPr id="4" name="Image 0" descr="ภาพ: cam ของ Drive tumbler และระยะ Y (คู่มือ Figure 4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9307" y="1371600"/>
            <a:ext cx="5613081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cam ของ Drive tumbler และระยะ Y (คู่มือ Figure 49)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169</a:t>
            </a:fld>
            <a:endParaRPr 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5.2 จุดที่ 2 — ความตึง/หย่อน Crawler track pad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นิยาม: ระยะหย่อนของ track pad วัดจากช่องว่างระหว่างแผ่น มาตรฐานใช้งาน 60-80 มม. (คู่มือ 3.5.1.9.1, 3.5.1.10.2)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192024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199339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2024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ก่อนปฏิบัติงานทุกครั้ง</a:t>
            </a:r>
            <a:endParaRPr lang="en-US" sz="1700" dirty="0"/>
          </a:p>
        </p:txBody>
      </p:sp>
      <p:sp>
        <p:nvSpPr>
          <p:cNvPr id="9" name="row-2"/>
          <p:cNvSpPr/>
          <p:nvPr/>
        </p:nvSpPr>
        <p:spPr>
          <a:xfrm>
            <a:off x="548640" y="250545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" name="mark-2"/>
          <p:cNvSpPr/>
          <p:nvPr/>
        </p:nvSpPr>
        <p:spPr>
          <a:xfrm>
            <a:off x="685800" y="257860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0545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วัดระยะหย่อน (X) ที่จุดกึ่งกลางระหว่างล้อรองรับ ด้วยตลับเมตรหรือไม้บรรทัด</a:t>
            </a:r>
            <a:endParaRPr lang="en-US" sz="1700" dirty="0"/>
          </a:p>
        </p:txBody>
      </p:sp>
      <p:sp>
        <p:nvSpPr>
          <p:cNvPr id="13" name="row-3"/>
          <p:cNvSpPr/>
          <p:nvPr/>
        </p:nvSpPr>
        <p:spPr>
          <a:xfrm>
            <a:off x="548640" y="309067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3"/>
          <p:cNvSpPr/>
          <p:nvPr/>
        </p:nvSpPr>
        <p:spPr>
          <a:xfrm>
            <a:off x="685800" y="316382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9067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วัดทั้ง Drive 1 และ Drive 2 แล้วบันทึกค่า</a:t>
            </a:r>
            <a:endParaRPr lang="en-US" sz="1700" dirty="0"/>
          </a:p>
        </p:txBody>
      </p:sp>
      <p:sp>
        <p:nvSpPr>
          <p:cNvPr id="17" name="row-4"/>
          <p:cNvSpPr/>
          <p:nvPr/>
        </p:nvSpPr>
        <p:spPr>
          <a:xfrm>
            <a:off x="548640" y="3675888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4"/>
          <p:cNvSpPr/>
          <p:nvPr/>
        </p:nvSpPr>
        <p:spPr>
          <a:xfrm>
            <a:off x="685800" y="39044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675888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ถ้าหย่อนเกิน 80 มม. ให้ปรับความตึงด้วยกระบอกไฮดรอลิก (tensioning cylinder) จนค่าหย่อนต่ำกว่า 80 มม.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170</a:t>
            </a:fld>
            <a:endParaRPr lang="en-US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5.2 จุดที่ 2 — ความตึง/หย่อน Crawler track pad · ภาพประกอบ</a:t>
            </a:r>
            <a:endParaRPr lang="en-US" sz="2800" dirty="0"/>
          </a:p>
        </p:txBody>
      </p:sp>
      <p:pic>
        <p:nvPicPr>
          <p:cNvPr id="4" name="Image 0" descr="ภาพ: ระยะหย่อนของ crawler track (คู่มือ Figure 62) ค่ามาตรฐาน 60-80 มม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94415" cy="442557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4289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ระยะหย่อนของ crawler track (คู่มือ Figure 62) ค่ามาตรฐาน 60-80 มม.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171</a:t>
            </a:fld>
            <a:endParaRPr lang="en-US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5.3 จุดที่ 3 — ระยะยึด Link crawler track pad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นิยาม: ระยะพิทช์มาตรฐาน 615 มม. ถ้ายาวเกินประมาณ 15 มม. (รวม ≈ 630 มม.) ถือว่าโซ่สึกเกินเกณฑ์ (คู่มือ 3.5.1.10.1)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192024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199339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2024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ก่อนปฏิบัติงานทุกครั้ง</a:t>
            </a:r>
            <a:endParaRPr lang="en-US" sz="1700" dirty="0"/>
          </a:p>
        </p:txBody>
      </p:sp>
      <p:sp>
        <p:nvSpPr>
          <p:cNvPr id="9" name="row-2"/>
          <p:cNvSpPr/>
          <p:nvPr/>
        </p:nvSpPr>
        <p:spPr>
          <a:xfrm>
            <a:off x="548640" y="250545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" name="mark-2"/>
          <p:cNvSpPr/>
          <p:nvPr/>
        </p:nvSpPr>
        <p:spPr>
          <a:xfrm>
            <a:off x="685800" y="257860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0545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ใช้ตลับเมตรวัดระยะ X จากเครื่องหมายรูปลิ่ม (wedge mark) บนแผ่นตีนตะขาบจุดหนึ่งไปยังจุดถัดไป</a:t>
            </a:r>
            <a:endParaRPr lang="en-US" sz="1700" dirty="0"/>
          </a:p>
        </p:txBody>
      </p:sp>
      <p:sp>
        <p:nvSpPr>
          <p:cNvPr id="13" name="row-3"/>
          <p:cNvSpPr/>
          <p:nvPr/>
        </p:nvSpPr>
        <p:spPr>
          <a:xfrm>
            <a:off x="548640" y="309067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3"/>
          <p:cNvSpPr/>
          <p:nvPr/>
        </p:nvSpPr>
        <p:spPr>
          <a:xfrm>
            <a:off x="685800" y="316382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9067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วัดทั้ง Drive 1 และ Drive 2 แล้วบันทึกค่า</a:t>
            </a:r>
            <a:endParaRPr lang="en-US" sz="1700" dirty="0"/>
          </a:p>
        </p:txBody>
      </p:sp>
      <p:sp>
        <p:nvSpPr>
          <p:cNvPr id="17" name="row-4"/>
          <p:cNvSpPr/>
          <p:nvPr/>
        </p:nvSpPr>
        <p:spPr>
          <a:xfrm>
            <a:off x="548640" y="367588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4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67588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ถ้าเกิน 615+15 มม. ต้องถอดซ่อมโซ่ และเปลี่ยน cam ของ Drive tumbler พร้อมกัน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172</a:t>
            </a:fld>
            <a:endParaRPr lang="en-US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5.3 จุดที่ 3 — ระยะยึด Link crawler track pad · ภาพประกอบ</a:t>
            </a:r>
            <a:endParaRPr lang="en-US" sz="2800" dirty="0"/>
          </a:p>
        </p:txBody>
      </p:sp>
      <p:pic>
        <p:nvPicPr>
          <p:cNvPr id="4" name="Image 0" descr="ภาพ: การวัดระยะ X ระหว่างเครื่องหมายรูปลิ่มบน crawler pad (คู่มือ Figure 63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1682" y="1371600"/>
            <a:ext cx="6708330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การวัดระยะ X ระหว่างเครื่องหมายรูปลิ่มบน crawler pad (คู่มือ Figure 63)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173</a:t>
            </a:fld>
            <a:endParaRPr lang="en-US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5.3 จุดที่ 3 — ระยะยึด Link crawler track pad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ล้อ track wheel สึกถึงขีดจำกัดเส้นผ่านศูนย์กลาง 460 มม. (ของใหม่ 500 มม.)</a:t>
            </a:r>
            <a:endParaRPr lang="en-US" sz="1700" dirty="0"/>
          </a:p>
        </p:txBody>
      </p:sp>
      <p:sp>
        <p:nvSpPr>
          <p:cNvPr id="7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F4A200"/>
          </a:solidFill>
          <a:ln w="12700">
            <a:solidFill>
              <a:srgbClr val="F4A2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Crawler link มีทั้งหมด 54 ใบต่อข้าง จำนวนที่ถอดได้สูงสุดต่อครั้งคือ 1 ใบ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174</a:t>
            </a:fld>
            <a:endParaRPr lang="en-US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5.4 จุดที่ 4 และ 24 — Backlash Pinion Main Slewing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นิยาม: ค่า Backlash มาตรฐาน X 9-11 มม., Y 0.72-0.96 มม. ขีดจำกัดการสึก Y ประมาณ 2.4 มม. (คู่มือ 3.5.2.1.4, Figure 69)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21945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226771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9456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และล็อคกลไกหมุน (slew lock) ก่อนปฏิบัติงานทุกครั้ง</a:t>
            </a:r>
            <a:endParaRPr lang="en-US" sz="1700" dirty="0"/>
          </a:p>
        </p:txBody>
      </p:sp>
      <p:sp>
        <p:nvSpPr>
          <p:cNvPr id="9" name="row-2"/>
          <p:cNvSpPr/>
          <p:nvPr/>
        </p:nvSpPr>
        <p:spPr>
          <a:xfrm>
            <a:off x="548640" y="277977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" name="mark-2"/>
          <p:cNvSpPr/>
          <p:nvPr/>
        </p:nvSpPr>
        <p:spPr>
          <a:xfrm>
            <a:off x="685800" y="285292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77977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ตรวจระยะเผื่อหัวฟัน (head clearance) ก่อน แล้วจึงวัดระยะเผื่อข้างฟัน (tooth flank clearance)</a:t>
            </a:r>
            <a:endParaRPr lang="en-US" sz="1700" dirty="0"/>
          </a:p>
        </p:txBody>
      </p:sp>
      <p:sp>
        <p:nvSpPr>
          <p:cNvPr id="13" name="row-3"/>
          <p:cNvSpPr/>
          <p:nvPr/>
        </p:nvSpPr>
        <p:spPr>
          <a:xfrm>
            <a:off x="548640" y="336499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3"/>
          <p:cNvSpPr/>
          <p:nvPr/>
        </p:nvSpPr>
        <p:spPr>
          <a:xfrm>
            <a:off x="685800" y="343814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36499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วัดความหนาฟันที่ pitch circle ด้วยเกจหรือคาลิปเปอร์ แล้วบันทึกค่า X, Y</a:t>
            </a:r>
            <a:endParaRPr lang="en-US" sz="1700" dirty="0"/>
          </a:p>
        </p:txBody>
      </p:sp>
      <p:sp>
        <p:nvSpPr>
          <p:cNvPr id="17" name="row-4"/>
          <p:cNvSpPr/>
          <p:nvPr/>
        </p:nvSpPr>
        <p:spPr>
          <a:xfrm>
            <a:off x="548640" y="395020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4"/>
          <p:cNvSpPr/>
          <p:nvPr/>
        </p:nvSpPr>
        <p:spPr>
          <a:xfrm>
            <a:off x="685800" y="402336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95020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ฟันแตกบางซี่ยังใช้งานต่อได้ แต่ถ้าค่า Y เข้าใกล้ 2.4 มม. ต้องเปลี่ยน pinion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175</a:t>
            </a:fld>
            <a:endParaRPr lang="en-US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5.4 จุดที่ 4 และ 24 — Backlash Pinion Main Slewing · ภาพประกอบ</a:t>
            </a:r>
            <a:endParaRPr lang="en-US" sz="2800" dirty="0"/>
          </a:p>
        </p:txBody>
      </p:sp>
      <p:pic>
        <p:nvPicPr>
          <p:cNvPr id="4" name="Image 0" descr="ภาพ: Backlash ของ pinion (คู่มือ Figure 69) และค่ามาตรฐาน X, 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7156" y="1371600"/>
            <a:ext cx="6077383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Backlash ของ pinion (คู่มือ Figure 69) และค่ามาตรฐาน X, 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176</a:t>
            </a:fld>
            <a:endParaRPr lang="en-US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5.5 จุดที่ 22 — ค่าสึกหรอ Slewing 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นิยาม: การสึกหรอของวงแหวนลูกปืนหมุน หมายถึงโครงสร้างด้านบนทรุดตัวได้ไม่เกิน 1.6 มม. (คู่มือ 3.5.2.1.2, Figure 67)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192024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199339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2024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และล็อคกลไกหมุนก่อนปฏิบัติงาน</a:t>
            </a:r>
            <a:endParaRPr lang="en-US" sz="1700" dirty="0"/>
          </a:p>
        </p:txBody>
      </p:sp>
      <p:sp>
        <p:nvSpPr>
          <p:cNvPr id="9" name="row-2"/>
          <p:cNvSpPr/>
          <p:nvPr/>
        </p:nvSpPr>
        <p:spPr>
          <a:xfrm>
            <a:off x="548640" y="250545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" name="mark-2"/>
          <p:cNvSpPr/>
          <p:nvPr/>
        </p:nvSpPr>
        <p:spPr>
          <a:xfrm>
            <a:off x="685800" y="273405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05456"/>
            <a:ext cx="10225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กำหนดจุดวัดอย่างน้อย 4 จุด ห่างกัน 90° บนรางบน-ล่าง ทำเครื่องหมายถาวร แล้ววัดค่า X, Y แต่ละจุด (ละเอียด 1/10 มม.)</a:t>
            </a:r>
            <a:endParaRPr lang="en-US" sz="1700" dirty="0"/>
          </a:p>
        </p:txBody>
      </p:sp>
      <p:sp>
        <p:nvSpPr>
          <p:cNvPr id="13" name="row-3"/>
          <p:cNvSpPr/>
          <p:nvPr/>
        </p:nvSpPr>
        <p:spPr>
          <a:xfrm>
            <a:off x="548640" y="34015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3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0156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หมุนโครงสร้างด้านบน 90° แล้ววัดซ้ำจนครบ 8 จุด บันทึกและเปรียบเทียบกับครั้งแรก</a:t>
            </a:r>
            <a:endParaRPr lang="en-US" sz="1700" dirty="0"/>
          </a:p>
        </p:txBody>
      </p:sp>
      <p:sp>
        <p:nvSpPr>
          <p:cNvPr id="17" name="row-4"/>
          <p:cNvSpPr/>
          <p:nvPr/>
        </p:nvSpPr>
        <p:spPr>
          <a:xfrm>
            <a:off x="548640" y="398678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4"/>
          <p:cNvSpPr/>
          <p:nvPr/>
        </p:nvSpPr>
        <p:spPr>
          <a:xfrm>
            <a:off x="685800" y="405993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98678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ปีแรกวัดทุก 2 เดือน หลังจากนั้นวัดทุก 6 เดือน ถ้าสึกเร็วกว่ามาตรฐานให้ถี่ขึ้น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177</a:t>
            </a:fld>
            <a:endParaRPr lang="en-US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5.5 จุดที่ 22 — ค่าสึกหรอ Slewing ring · ภาพประกอบ</a:t>
            </a:r>
            <a:endParaRPr lang="en-US" sz="2800" dirty="0"/>
          </a:p>
        </p:txBody>
      </p:sp>
      <p:pic>
        <p:nvPicPr>
          <p:cNvPr id="4" name="Image 0" descr="ภาพ: จุดวัดการสึกหรอของ slewing ring X, Y (คู่มือ Figure 67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1387" y="1371600"/>
            <a:ext cx="5988921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จุดวัดการสึกหรอของ slewing ring X, Y (คู่มือ Figure 67)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178</a:t>
            </a:fld>
            <a:endParaRPr lang="en-US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5.6 จุดที่ 23 — แรงขันเบื้องต้นสลัก Ball bearing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นิยาม: สลักยึดวงแหวนลูกปืน (วงในและวงนอก) ต้องมีแรงขันเบื้องต้น Fv = 610 kN (คู่มือ 3.5.2.1.3, Figure 68)</a:t>
            </a:r>
            <a:endParaRPr lang="en-US" sz="1500" dirty="0"/>
          </a:p>
        </p:txBody>
      </p:sp>
      <p:sp>
        <p:nvSpPr>
          <p:cNvPr id="5" name="row-1"/>
          <p:cNvSpPr/>
          <p:nvPr/>
        </p:nvSpPr>
        <p:spPr>
          <a:xfrm>
            <a:off x="548640" y="192024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6" name="mark-1"/>
          <p:cNvSpPr/>
          <p:nvPr/>
        </p:nvSpPr>
        <p:spPr>
          <a:xfrm>
            <a:off x="685800" y="199339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2024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และล็อคกลไกหมุนก่อนปฏิบัติงาน</a:t>
            </a:r>
            <a:endParaRPr lang="en-US" sz="1700" dirty="0"/>
          </a:p>
        </p:txBody>
      </p:sp>
      <p:sp>
        <p:nvSpPr>
          <p:cNvPr id="9" name="row-2"/>
          <p:cNvSpPr/>
          <p:nvPr/>
        </p:nvSpPr>
        <p:spPr>
          <a:xfrm>
            <a:off x="548640" y="250545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0" name="mark-2"/>
          <p:cNvSpPr/>
          <p:nvPr/>
        </p:nvSpPr>
        <p:spPr>
          <a:xfrm>
            <a:off x="685800" y="257860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0545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ใช้เครื่องมือขันแรงดึงไฮดรอลิก (เช่น MS 36) ตรวจแรงขันของสลักวงแหวนในและวงแหวนนอก</a:t>
            </a:r>
            <a:endParaRPr lang="en-US" sz="1700" dirty="0"/>
          </a:p>
        </p:txBody>
      </p:sp>
      <p:sp>
        <p:nvSpPr>
          <p:cNvPr id="13" name="row-3"/>
          <p:cNvSpPr/>
          <p:nvPr/>
        </p:nvSpPr>
        <p:spPr>
          <a:xfrm>
            <a:off x="548640" y="309067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4" name="mark-3"/>
          <p:cNvSpPr/>
          <p:nvPr/>
        </p:nvSpPr>
        <p:spPr>
          <a:xfrm>
            <a:off x="685800" y="316382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09067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บันทึกค่าที่ได้เทียบกับ 610 kN</a:t>
            </a:r>
            <a:endParaRPr lang="en-US" sz="1700" dirty="0"/>
          </a:p>
        </p:txBody>
      </p:sp>
      <p:sp>
        <p:nvSpPr>
          <p:cNvPr id="17" name="row-4"/>
          <p:cNvSpPr/>
          <p:nvPr/>
        </p:nvSpPr>
        <p:spPr>
          <a:xfrm>
            <a:off x="548640" y="367588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8" name="mark-4"/>
          <p:cNvSpPr/>
          <p:nvPr/>
        </p:nvSpPr>
        <p:spPr>
          <a:xfrm>
            <a:off x="685800" y="374904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67588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ถ้าต่ำกว่ามาตรฐาน ให้ขันซ้ำตามขั้นตอนของผู้ผลิตเครื่องมือ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179</a:t>
            </a:fld>
            <a:endParaRPr lang="en-US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5.6 จุดที่ 23 — แรงขันเบื้องต้นสลัก Ball bearing · ภาพประกอบ</a:t>
            </a:r>
            <a:endParaRPr lang="en-US" sz="2800" dirty="0"/>
          </a:p>
        </p:txBody>
      </p:sp>
      <p:pic>
        <p:nvPicPr>
          <p:cNvPr id="4" name="Image 0" descr="ภาพ: สลักยึด ball bearing และแรงขันเบื้องต้น 610 kN (คู่มือ Figure 68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7963" y="1371600"/>
            <a:ext cx="5875770" cy="4526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ภาพ: สลักยึด ball bearing และแรงขันเบื้องต้น 610 kN (คู่มือ Figure 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180</a:t>
            </a:fld>
            <a:endParaRPr lang="en-US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5.7 จุดที่ 6-14 — ระบบไฮดรอลิก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และคลายแรงดันสะสมในระบบไฮดรอลิกก่อนเปิดจุดวัดทุกครั้ง (คู่มือ 2.9, 3.5.7.3)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ใช้เกจวัดแรงดันและเครื่องวัดอัตราการไหลตามมาตรฐานของแต่ละรายการ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บันทึกค่าที่วัดได้เทียบกับเกณฑ์ในตาราง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181</a:t>
            </a:fld>
            <a:endParaRPr lang="en-US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5.8 จุดที่ 15-21 — Tripper Car (Belt tensioning และ Rail clamp)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LOTO ก่อนปฏิบัติงานทุกครั้ง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วัดค่าตามมาตรฐานแต่ละรายการ แล้วบันทึกเทียบกับเกณฑ์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182</a:t>
            </a:fld>
            <a:endParaRPr lang="en-US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5 · จุดตรวจวัดค่าสึกหรอ 25 จุด (OB9 Inspection)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5.8 จุดที่ 15-21 — Tripper Car (Belt tensioning และ Rail clamp)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E8F1FB"/>
          </a:solidFill>
          <a:ln w="19050">
            <a:solidFill>
              <a:srgbClr val="1A5FA8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 20-21 (Rail clamp) ไม่มีภาพประกอบเฉพาะในคู่มือที่ได้รับ ให้ถ่ายภาพหน้างานแนบใบตรวจแทน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183</a:t>
            </a:fld>
            <a:endParaRPr lang="en-US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การประเมินผลและการดำเนินการ</a:t>
            </a:r>
            <a:endParaRPr lang="en-US" sz="36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 · การประเมินผลและการดำเนินการ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การประเมินผลและการดำเนินการ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 OB9 และใบตรวจเช็คใช้สถานะ 3 ระดับ เพื่อให้การตัดสินใจและการเปิดงานซ่อมเป็นมาตรฐานเดียวกัน</a:t>
            </a:r>
            <a:endParaRPr lang="en-US" sz="1500" dirty="0"/>
          </a:p>
        </p:txBody>
      </p:sp>
      <p:graphicFrame>
        <p:nvGraphicFramePr>
          <p:cNvPr id="1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3993989"/>
                <a:gridCol w="5325319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สถานะ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ความหมาย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การดำเนินการ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OK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อยู่ในเกณฑ์มาตรฐาน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บันทึกผล ตรวจตามรอบถัดไป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ALERT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ใกล้ขีดจำกัด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เปิด Backlog และเตรียมอะไหล่ล่วงหน้า เพิ่มความถี่การวัดถ้าแนวโน้มเพิ่มเร็ว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DANGER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เกินค่ามาตรฐาน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ต้องแก้ไขก่อนการหยุดครั้งถัดไป แจ้งหัวหน้างานและเปิด WO ทันที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185</a:t>
            </a:fld>
            <a:endParaRPr lang="en-US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6 · การประเมินผลและการดำเนินการ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6.1 เมื่อพบความผิดปกติ</a:t>
            </a:r>
            <a:endParaRPr lang="en-US" sz="2800" dirty="0"/>
          </a:p>
        </p:txBody>
      </p:sp>
      <p:sp>
        <p:nvSpPr>
          <p:cNvPr id="4" name="row-1"/>
          <p:cNvSpPr/>
          <p:nvPr/>
        </p:nvSpPr>
        <p:spPr>
          <a:xfrm>
            <a:off x="548640" y="141732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mark-1"/>
          <p:cNvSpPr/>
          <p:nvPr/>
        </p:nvSpPr>
        <p:spPr>
          <a:xfrm>
            <a:off x="685800" y="1490472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417320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ถ้ากระทบความปลอดภัย ให้หยุดเครื่องตามขั้นตอนและทำ LOTO</a:t>
            </a:r>
            <a:endParaRPr lang="en-US" sz="1700" dirty="0"/>
          </a:p>
        </p:txBody>
      </p:sp>
      <p:sp>
        <p:nvSpPr>
          <p:cNvPr id="8" name="row-2"/>
          <p:cNvSpPr/>
          <p:nvPr/>
        </p:nvSpPr>
        <p:spPr>
          <a:xfrm>
            <a:off x="548640" y="200253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rk-2"/>
          <p:cNvSpPr/>
          <p:nvPr/>
        </p:nvSpPr>
        <p:spPr>
          <a:xfrm>
            <a:off x="685800" y="2075688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002536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ถ่ายภาพ (และวิดีโอไม่เกิน 1 นาทีถ้าจำเป็น) บันทึกอาการ ตำแหน่ง และค่าที่วัดได้</a:t>
            </a:r>
            <a:endParaRPr lang="en-US" sz="1700" dirty="0"/>
          </a:p>
        </p:txBody>
      </p:sp>
      <p:sp>
        <p:nvSpPr>
          <p:cNvPr id="12" name="row-3"/>
          <p:cNvSpPr/>
          <p:nvPr/>
        </p:nvSpPr>
        <p:spPr>
          <a:xfrm>
            <a:off x="548640" y="258775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mark-3"/>
          <p:cNvSpPr/>
          <p:nvPr/>
        </p:nvSpPr>
        <p:spPr>
          <a:xfrm>
            <a:off x="685800" y="2660904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2587752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รายงานหัวหน้างาน/วิศวกรทันที</a:t>
            </a:r>
            <a:endParaRPr lang="en-US" sz="1700" dirty="0"/>
          </a:p>
        </p:txBody>
      </p:sp>
      <p:sp>
        <p:nvSpPr>
          <p:cNvPr id="16" name="row-4"/>
          <p:cNvSpPr/>
          <p:nvPr/>
        </p:nvSpPr>
        <p:spPr>
          <a:xfrm>
            <a:off x="548640" y="317296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mark-4"/>
          <p:cNvSpPr/>
          <p:nvPr/>
        </p:nvSpPr>
        <p:spPr>
          <a:xfrm>
            <a:off x="685800" y="3246120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72968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เปิดใบแจ้งซ่อม (WO) ในระบบ OB9 ระบุระบบ ชิ้นส่วน และตำแหน่งที่ผิดปกติ</a:t>
            </a:r>
            <a:endParaRPr lang="en-US" sz="1700" dirty="0"/>
          </a:p>
        </p:txBody>
      </p:sp>
      <p:sp>
        <p:nvSpPr>
          <p:cNvPr id="20" name="row-5"/>
          <p:cNvSpPr/>
          <p:nvPr/>
        </p:nvSpPr>
        <p:spPr>
          <a:xfrm>
            <a:off x="548640" y="3758184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1" name="mark-5"/>
          <p:cNvSpPr/>
          <p:nvPr/>
        </p:nvSpPr>
        <p:spPr>
          <a:xfrm>
            <a:off x="685800" y="3831336"/>
            <a:ext cx="365760" cy="3657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758184"/>
            <a:ext cx="102257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หากต้องใช้อะไหล่ ตรวจสต็อกใน Spare Parts และเสนอสั่งซื้อผ่านหัวหน้างาน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186</a:t>
            </a:fld>
            <a:endParaRPr lang="en-US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การบันทึกและรายงานในระบบ OB9</a:t>
            </a:r>
            <a:endParaRPr lang="en-US" sz="36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7 · การบันทึกและรายงานในระบบ OB9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การบันทึกและรายงานในระบบ OB9</a:t>
            </a:r>
            <a:endParaRPr lang="en-US" sz="2800" dirty="0"/>
          </a:p>
        </p:txBody>
      </p:sp>
      <p:graphicFrame>
        <p:nvGraphicFramePr>
          <p:cNvPr id="18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6436"/>
                <a:gridCol w="3772101"/>
                <a:gridCol w="421587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เมนูใน OB9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ข้อกำหนด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ตรวจเช็คประจำวัน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ตรวจเช็คประจำวัน / Daily Inspection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กรอกทุกข้อ ถ้าผิดปกติต้องใส่รายละเอียดและแนบรูป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แจ้งซ่อม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แจ้งซ่อม / Work Order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ระบุเครื่อง ระบบ ชิ้นส่วน ตำแหน่ง อาการ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ตรวจวัดค่าสึกหรอ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ใบตรวจเช็ค Inspection (25 จุด)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บันทึกค่า X/Y ทั้ง Drive 1 และ 2 พร้อมวันที่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24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การหล่อลื่น/เปลี่ยนน้ำมันเกียร์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ตารางหยอดน้ำมัน/จาระบี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บันทึกการปิดงานทุกครั้ง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PM ตามรอบ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PM Checklist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ติ๊กรายการและตรวจวันครบกำหนด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93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ส่งต่องานระหว่างกะ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Shift Handover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ระบุงานค้างและข้อควรระวัง</a:t>
                      </a:r>
                      <a:endParaRPr lang="en-US" sz="17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188</a:t>
            </a:fld>
            <a:endParaRPr lang="en-US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บทที่ 7 · การบันทึกและรายงานในระบบ OB9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การบันทึกและรายงานในระบบ OB9</a:t>
            </a:r>
            <a:endParaRPr lang="en-US" sz="2800" dirty="0"/>
          </a:p>
        </p:txBody>
      </p:sp>
      <p:sp>
        <p:nvSpPr>
          <p:cNvPr id="4" name="callout-card"/>
          <p:cNvSpPr/>
          <p:nvPr/>
        </p:nvSpPr>
        <p:spPr>
          <a:xfrm>
            <a:off x="548640" y="1737360"/>
            <a:ext cx="11094415" cy="1938528"/>
          </a:xfrm>
          <a:prstGeom prst="roundRect">
            <a:avLst>
              <a:gd name="adj" fmla="val 7075"/>
            </a:avLst>
          </a:prstGeom>
          <a:solidFill>
            <a:srgbClr val="E8F1FB"/>
          </a:solidFill>
          <a:ln w="19050">
            <a:solidFill>
              <a:srgbClr val="1A5FA8"/>
            </a:solidFill>
            <a:prstDash val="solid"/>
          </a:ln>
        </p:spPr>
      </p:sp>
      <p:sp>
        <p:nvSpPr>
          <p:cNvPr id="5" name="callout-badge"/>
          <p:cNvSpPr/>
          <p:nvPr/>
        </p:nvSpPr>
        <p:spPr>
          <a:xfrm>
            <a:off x="914400" y="2295144"/>
            <a:ext cx="822960" cy="822960"/>
          </a:xfrm>
          <a:prstGeom prst="ellipse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9514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874520"/>
            <a:ext cx="9265615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A5F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หมายเหตุ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ใบตรวจเช็คต้องมีลายเซ็นผู้ตรวจเช็ค (Inspector) และวิศวกรรับรอง (Certifying Engineer) พร้อมสรุปอาการผิดปกติที่พบ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189</a:t>
            </a:fld>
            <a:endParaRPr lang="en-US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1A5FA8">
              <a:alpha val="45000"/>
            </a:srgbClr>
          </a:solidFill>
          <a:ln w="12700">
            <a:solidFill>
              <a:srgbClr val="1A5F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0" y="2651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แบบตรวจเช็คประจำกะ (สำเนาใช้งาน)</a:t>
            </a:r>
            <a:endParaRPr lang="en-US" sz="36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· แบบตรวจเช็คประจำกะ (สำเนาใช้งาน)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แบบตรวจเช็คประจำกะ (สำเนาใช้งาน) (1/2)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 ____________  กะ ____________  เครื่อง ☐ Spreader A  ☐ Spreader B  ☐ Tripper Car A  ☐ Tripper Car B</a:t>
            </a:r>
            <a:endParaRPr lang="en-US" sz="1500" dirty="0"/>
          </a:p>
        </p:txBody>
      </p:sp>
      <p:graphicFrame>
        <p:nvGraphicFramePr>
          <p:cNvPr id="1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665665"/>
                <a:gridCol w="5769096"/>
                <a:gridCol w="998497"/>
                <a:gridCol w="1331330"/>
                <a:gridCol w="232982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ปกติ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ผิดปกติ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สายพานทุกเส้น: สภาพ การวิ่งตรง ความตึง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 Emergency stop / pull-wire / limit switch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ความสะอาดเครื่อง ลูกกลิ้ง idler ทางเดิน บันได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Scraper: ใบสึก ดินติด การสัมผัสสายพาน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ระดับน้ำมันเกียร์และระบบไฮดรอลิก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เสียงผิดปกติและการรั่วซึม เกียร์ แบริ่ง ไฮดรอลิก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7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เบรกทุกชุดขับ (ตรวจด้วยสายตา)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อุณหภูมิเกียร์ Main slewing (ไม่เกิน 95 °C)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สายเคเบิลเคลื่อนที่: ถลอก/เสียหาย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 tensioning กลับสู่ค่าตั้ง (เปลี่ยนกะ)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191</a:t>
            </a:fld>
            <a:endParaRPr lang="en-US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· แบบตรวจเช็คประจำกะ (สำเนาใช้งาน)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แบบตรวจเช็คประจำกะ (สำเนาใช้งาน) (2/2)</a:t>
            </a:r>
            <a:endParaRPr lang="en-US" sz="2800" dirty="0"/>
          </a:p>
        </p:txBody>
      </p:sp>
      <p:graphicFrame>
        <p:nvGraphicFramePr>
          <p:cNvPr id="1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665665"/>
                <a:gridCol w="5769096"/>
                <a:gridCol w="998497"/>
                <a:gridCol w="1331330"/>
                <a:gridCol w="2329827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รายการตรวจ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ปกติ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ผิดปกติ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หมายเหตุ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11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Rail clamp และราง Tripper Car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699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12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ระบบพ่นน้ำลดฝุ่น และถังน้ำบน Tripper Car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☐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192</a:t>
            </a:fld>
            <a:endParaRPr lang="en-US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ภาคผนวก · แบบตรวจเช็คประจำกะ (สำเนาใช้งาน)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แบบตรวจเช็คประจำกะ (สำเนาใช้งาน)</a:t>
            </a:r>
            <a:endParaRPr lang="en-US" sz="2800" dirty="0"/>
          </a:p>
        </p:txBody>
      </p:sp>
      <p:sp>
        <p:nvSpPr>
          <p:cNvPr id="4" name="para-card"/>
          <p:cNvSpPr/>
          <p:nvPr/>
        </p:nvSpPr>
        <p:spPr>
          <a:xfrm>
            <a:off x="548640" y="1554480"/>
            <a:ext cx="11094415" cy="1499616"/>
          </a:xfrm>
          <a:prstGeom prst="roundRect">
            <a:avLst>
              <a:gd name="adj" fmla="val 731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45920"/>
            <a:ext cx="1036289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ผู้ตรวจ ____________________   หัวหน้างาน ____________________   วิศวกรรับรอง ____________________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193</a:t>
            </a:fld>
            <a:endParaRPr lang="en-US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circle"/>
          <p:cNvSpPr/>
          <p:nvPr/>
        </p:nvSpPr>
        <p:spPr>
          <a:xfrm>
            <a:off x="7680960" y="1280160"/>
            <a:ext cx="4937760" cy="4937760"/>
          </a:xfrm>
          <a:prstGeom prst="ellipse">
            <a:avLst/>
          </a:prstGeom>
          <a:solidFill>
            <a:srgbClr val="F4A200">
              <a:alpha val="18000"/>
            </a:srgbClr>
          </a:solidFill>
          <a:ln w="12700">
            <a:solidFill>
              <a:srgbClr val="F4A200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ปลอดภัยไว้ก่อน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หยุดเครื่อง · ล็อค · ตรวจสอบ · จึงเริ่มงาน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OB9-MAN-INS-01  ·  Rev 0  ·  7 ต.ค. 69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FC0D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เอกสารนี้จัดเก็บใน Document Center (Admin เท่านั้น)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194</Slides>
  <Notes>194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194</vt:i4>
      </vt:variant>
    </vt:vector>
  </HeadingPairs>
  <TitlesOfParts>
    <vt:vector size="19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คู่มือการตรวจเช็คเครื่องจักร</dc:title>
  <dc:subject>Spreader ARs 2400/52+50x19 และ Tripper Car Ü2200</dc:subject>
  <dc:creator>OB9</dc:creator>
  <cp:lastModifiedBy>OB9</cp:lastModifiedBy>
  <cp:revision>1</cp:revision>
  <dcterms:created xsi:type="dcterms:W3CDTF">2026-10-07T02:03:59Z</dcterms:created>
  <dcterms:modified xsi:type="dcterms:W3CDTF">2026-10-07T02:03:59Z</dcterms:modified>
</cp:coreProperties>
</file>