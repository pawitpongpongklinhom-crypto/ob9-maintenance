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9144000" cy="141732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รายงานความคืบหน้าประจำสัปดาห์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4A200"/>
                </a:solidFill>
              </a:rPr>
              <a:t>WEEKLY PROGRESS REPORT — OB9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906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</a:rPr>
              <a:t>ITD / thyssenkrupp Industrial Solutions | Mae Moh 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ACC"/>
                </a:solidFill>
              </a:rPr>
              <a:t>สัปดาห์ที่: ___  |  วันที่: ___________  |  จัดทำโดย: 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5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82896"/>
            <a:ext cx="8229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4A200"/>
                </a:solidFill>
              </a:rPr>
              <a:t>CONFIDENTIAL — OB9 Maintenance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6E4F0"/>
                </a:solidFill>
              </a:rPr>
              <a:t>ITD / thyssenkrupp Industrial Solutions  |  Mae Moh Mine · OB9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4A200"/>
                </a:solidFill>
              </a:rPr>
              <a:t>OB9-WPR-YYYY-WNN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74980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8778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สรุป KPI ประจำสัปดาห์ / Weekly KPI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2743200" cy="1463040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OEE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9222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E8449"/>
                </a:solidFill>
              </a:rPr>
              <a:t>____%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เป้า: ≥78%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89888"/>
            <a:ext cx="2743200" cy="1463040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4538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9222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E8449"/>
                </a:solidFill>
              </a:rPr>
              <a:t>____%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682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เป้า: ≥85%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89888"/>
            <a:ext cx="2743200" cy="1463040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538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MTBF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9222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4A200"/>
                </a:solidFill>
              </a:rPr>
              <a:t>____ ชม.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682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เป้า: ≥650h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27248"/>
            <a:ext cx="2743200" cy="1463040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1912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MTTR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52958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4A200"/>
                </a:solidFill>
              </a:rPr>
              <a:t>____ ชม.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105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เป้า: ≤10h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127248"/>
            <a:ext cx="2743200" cy="1463040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1912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PM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52958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E8449"/>
                </a:solidFill>
              </a:rPr>
              <a:t>____%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105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เป้า: ≥90%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127248"/>
            <a:ext cx="2743200" cy="1463040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1912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PMP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52958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E8449"/>
                </a:solidFill>
              </a:rPr>
              <a:t>____%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105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เป้า: ≥75%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4882896"/>
            <a:ext cx="7315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4A200"/>
                </a:solidFill>
              </a:rPr>
              <a:t>OB9 Maintenance System · เหมืองแม่เมาะ |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8289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4A200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6E4F0"/>
                </a:solidFill>
              </a:rPr>
              <a:t>ITD / thyssenkrupp Industrial Solutions  |  Mae Moh Mine · OB9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4A200"/>
                </a:solidFill>
              </a:rPr>
              <a:t>OB9-WPR-YYYY-WNN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74980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8778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สถานะ Work Order ประจำสัปดาห์ / WO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44168"/>
            <a:ext cx="8778240" cy="347472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3441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ประเภท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441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เปิดใหม่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3441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ดำเนินการ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3441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ปิดแล้ว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3441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รวม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3441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% ตามแผน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6916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PM — ตรวจเช็ค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16916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1691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6916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691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6916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691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6916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1691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766559" y="169164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1691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148840"/>
            <a:ext cx="18288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CM — ซ่อมแก้ไข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2148840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148840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148840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2148840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6766559" y="2148840"/>
            <a:ext cx="12801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2148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6060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Emergency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26060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2606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26060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2606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6060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2606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26060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0" y="2606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6766559" y="260604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59" y="26060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3063240"/>
            <a:ext cx="18288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Contractor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0" y="3063240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11680" y="3063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3063240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0" y="3063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3063240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3063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3063240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77840" y="3063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6766559" y="3063240"/>
            <a:ext cx="12801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66559" y="3063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520440"/>
            <a:ext cx="1828800" cy="45720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3A6A"/>
                </a:solidFill>
              </a:rPr>
              <a:t>รวมทั้งหมด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11680" y="3520440"/>
            <a:ext cx="1188720" cy="45720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11680" y="3520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3520440"/>
            <a:ext cx="1188720" cy="45720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0" y="3520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3520440"/>
            <a:ext cx="1188720" cy="45720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0" y="3520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3520440"/>
            <a:ext cx="1188720" cy="45720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0" y="3520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6766559" y="3520440"/>
            <a:ext cx="1280160" cy="45720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66559" y="3520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2880" y="4882896"/>
            <a:ext cx="7315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4A200"/>
                </a:solidFill>
              </a:rPr>
              <a:t>OB9 Maintenance System · เหมืองแม่เมาะ | CONFIDENTIAL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488289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4A200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6E4F0"/>
                </a:solidFill>
              </a:rPr>
              <a:t>ITD / thyssenkrupp Industrial Solutions  |  Mae Moh Mine · OB9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4A200"/>
                </a:solidFill>
              </a:rPr>
              <a:t>OB9-WPR-YYYY-WNN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74980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8778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การวิเคราะห์ Downtime / Downtime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441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A"/>
                </a:solidFill>
              </a:rPr>
              <a:t>สรุป Downtime แยกตามเครื่องจักร (ชม.)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09928"/>
            <a:ext cx="2011680" cy="1389888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E4F0"/>
                </a:solidFill>
              </a:rPr>
              <a:t>Spreader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29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AACC"/>
                </a:solidFill>
              </a:rPr>
              <a:t>08-SP0002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677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7E22"/>
                </a:solidFill>
              </a:rPr>
              <a:t>____ ชม.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7614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 ≤20ชม./สัปดาห์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709928"/>
            <a:ext cx="2011680" cy="1389888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79" y="1737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E4F0"/>
                </a:solidFill>
              </a:rPr>
              <a:t>Spreader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79" y="2029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AACC"/>
                </a:solidFill>
              </a:rPr>
              <a:t>08-SP0003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22677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7E22"/>
                </a:solidFill>
              </a:rPr>
              <a:t>____ ชม.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79" y="27614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 ≤20ชม./สัปดาห์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709928"/>
            <a:ext cx="2011680" cy="1389888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737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E4F0"/>
                </a:solidFill>
              </a:rPr>
              <a:t>Tripper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029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AACC"/>
                </a:solidFill>
              </a:rPr>
              <a:t>08-TP00001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677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7E22"/>
                </a:solidFill>
              </a:rPr>
              <a:t>____ ชม.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7614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 ≤20ชม./สัปดาห์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7999" y="1709928"/>
            <a:ext cx="2011680" cy="1389888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7999" y="1737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E4F0"/>
                </a:solidFill>
              </a:rPr>
              <a:t>Tripper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7999" y="2029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AACC"/>
                </a:solidFill>
              </a:rPr>
              <a:t>08-TP00002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999" y="22677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7E22"/>
                </a:solidFill>
              </a:rPr>
              <a:t>____ ชม.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999" y="27614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เป้า ≤20ชม./สัปดาห์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2004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A"/>
                </a:solidFill>
              </a:rPr>
              <a:t>สาเหตุหลัก Downtime สัปดาห์นี้: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20440"/>
            <a:ext cx="8686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5204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3A6A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52044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Mechanical — Belt Slip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520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</a:rPr>
              <a:t>___%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831336"/>
            <a:ext cx="86868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8313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3A6A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831336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Electrical — Sensor Fault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83133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</a:rPr>
              <a:t>___%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142232"/>
            <a:ext cx="8686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14223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3A6A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14223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Hydraulic — Pressure Loss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1422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</a:rPr>
              <a:t>___%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453128"/>
            <a:ext cx="86868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45312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3A6A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45312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Structural — Idler Wear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4453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</a:rPr>
              <a:t>___%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4882896"/>
            <a:ext cx="7315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4A200"/>
                </a:solidFill>
              </a:rPr>
              <a:t>OB9 Maintenance System · เหมืองแม่เมาะ |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88289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4A200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6E4F0"/>
                </a:solidFill>
              </a:rPr>
              <a:t>ITD / thyssenkrupp Industrial Solutions  |  Mae Moh Mine · OB9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4A200"/>
                </a:solidFill>
              </a:rPr>
              <a:t>OB9-WPR-YYYY-WNN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74980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8778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อะไหล่ที่ใช้ประจำสัปดาห์ / Spare Parts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44168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A"/>
                </a:solidFill>
              </a:rPr>
              <a:t>Top 8 อะไหล่ที่ใช้สัปดาห์นี้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8686800" cy="33832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6420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ชื่ออะไหล่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6420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Part 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664208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จำนวน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64208"/>
            <a:ext cx="1463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มูลค่า (฿)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664208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เครื่อง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02536"/>
            <a:ext cx="365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0025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00253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0025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00253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0025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2002536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0025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00253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0025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00253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002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50008"/>
            <a:ext cx="3657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3500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350008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350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2350008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3500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2350008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2350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350008"/>
            <a:ext cx="14630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350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2350008"/>
            <a:ext cx="13716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2350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697480"/>
            <a:ext cx="365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6974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2697480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2697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2697480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2697480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0" y="26974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269748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2697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269748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0" y="2697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044952"/>
            <a:ext cx="3657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30449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044952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30449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3044952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60" y="3044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5212080" y="3044952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0" y="30449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044952"/>
            <a:ext cx="14630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30449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3044952"/>
            <a:ext cx="13716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0" y="30449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392424"/>
            <a:ext cx="365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33924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339242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33924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3566160" y="339242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66160" y="33924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3392424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0" y="3392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0" y="339242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26480" y="339242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0" y="339242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89520" y="3392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739896"/>
            <a:ext cx="3657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37398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3739896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37398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3566160" y="3739896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66160" y="37398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5212080" y="3739896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12080" y="37398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6126480" y="3739896"/>
            <a:ext cx="14630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26480" y="37398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7589520" y="3739896"/>
            <a:ext cx="13716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89520" y="3739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087368"/>
            <a:ext cx="365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40873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0080" y="4087368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" y="40873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3566160" y="408736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566160" y="40873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5212080" y="4087368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12080" y="40873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4087368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26480" y="40873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7589520" y="408736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89520" y="40873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4434840"/>
            <a:ext cx="3657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4320" y="44348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0080" y="4434840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" y="4434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3566160" y="4434840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566160" y="4434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5212080" y="4434840"/>
            <a:ext cx="914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12080" y="44348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107" name="Rectangle 106"/>
          <p:cNvSpPr/>
          <p:nvPr/>
        </p:nvSpPr>
        <p:spPr>
          <a:xfrm>
            <a:off x="6126480" y="4434840"/>
            <a:ext cx="14630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26480" y="44348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7589520" y="4434840"/>
            <a:ext cx="13716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589520" y="4434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4320" y="466344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A"/>
                </a:solidFill>
              </a:rPr>
              <a:t>ค่าใช้จ่ายอะไหล่รวม: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17520" y="46360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฿ __________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82880" y="4882896"/>
            <a:ext cx="7315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4A200"/>
                </a:solidFill>
              </a:rPr>
              <a:t>OB9 Maintenance System · เหมืองแม่เมาะ | CONFIDENTIAL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29600" y="488289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4A200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6E4F0"/>
                </a:solidFill>
              </a:rPr>
              <a:t>ITD / thyssenkrupp Industrial Solutions  |  Mae Moh Mine · OB9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4A200"/>
                </a:solidFill>
              </a:rPr>
              <a:t>OB9-WPR-YYYY-WNN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74980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8778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Safety &amp; ISO Compliance ประจำสัปดาห์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2011680" cy="1389888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264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E4F0"/>
                </a:solidFill>
              </a:rPr>
              <a:t>Safety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E8449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เหตุการณ์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79" y="1389888"/>
            <a:ext cx="2011680" cy="1389888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79" y="14264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E4F0"/>
                </a:solidFill>
              </a:rPr>
              <a:t>PTW Issued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178308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5F8A"/>
                </a:solidFill>
              </a:rPr>
              <a:t>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2331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ใบ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389888"/>
            <a:ext cx="2011680" cy="1389888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4264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E4F0"/>
                </a:solidFill>
              </a:rPr>
              <a:t>Near Miss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78308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67E22"/>
                </a:solidFill>
              </a:rPr>
              <a:t>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31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รายงานทันที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7999" y="1389888"/>
            <a:ext cx="2011680" cy="1389888"/>
          </a:xfrm>
          <a:prstGeom prst="rect">
            <a:avLst/>
          </a:prstGeom>
          <a:solidFill>
            <a:srgbClr val="0D1F30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14264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E4F0"/>
                </a:solidFill>
              </a:rPr>
              <a:t>ISO 14224 Logged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178308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3A6A"/>
                </a:solidFill>
              </a:rPr>
              <a:t>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2331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รายการ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A"/>
                </a:solidFill>
              </a:rPr>
              <a:t>PM Compliance &amp; PTW Checklist: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6440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PM ตรวจเช็คตามแผน:  ☐ ครบ   ☐ บางส่วน   ☐ ไม่ครบ — เหตุผล: 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75887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PTW/LOTO ครบถ้วน:  ☐ ใช่   ☐ ไม่   ☐ มีข้อยกเว้น — รายละเอียด: _____________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8736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ISO 14224 Failure Modes บันทึกครบ:  ☐ ใช่   ☐ ไม่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4882896"/>
            <a:ext cx="7315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4A200"/>
                </a:solidFill>
              </a:rPr>
              <a:t>OB9 Maintenance System · เหมืองแม่เมาะ |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8289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4A200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6E4F0"/>
                </a:solidFill>
              </a:rPr>
              <a:t>ITD / thyssenkrupp Industrial Solutions  |  Mae Moh Mine · OB9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4A200"/>
                </a:solidFill>
              </a:rPr>
              <a:t>OB9-WPR-YYYY-WNN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74980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8778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ปัญหาและแผนดำเนินการ / Issues &amp; Action Items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44168"/>
            <a:ext cx="8778240" cy="33832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34416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44168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ปัญหา/Issue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44168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เครื่อง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344168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344168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เจ้าของ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344168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กำหนด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344168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สถานะ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682496"/>
            <a:ext cx="365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1682496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682496"/>
            <a:ext cx="3200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682496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682496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168249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682496"/>
            <a:ext cx="822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682496"/>
            <a:ext cx="822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682496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168249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682496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68249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682496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8249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176272"/>
            <a:ext cx="36576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2176272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176272"/>
            <a:ext cx="320040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176272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2176272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39" y="2176272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176272"/>
            <a:ext cx="82296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176272"/>
            <a:ext cx="822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176272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2176272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2176272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2176272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2176272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2176272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2670048"/>
            <a:ext cx="365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2670048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670048"/>
            <a:ext cx="3200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2670048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2670048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39" y="2670048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2670048"/>
            <a:ext cx="822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2670048"/>
            <a:ext cx="822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2670048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2670048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6766560" y="2670048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2670048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0" y="2670048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63840" y="2670048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3163824"/>
            <a:ext cx="36576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" y="3163824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3163824"/>
            <a:ext cx="320040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3163824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3749039" y="3163824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49039" y="3163824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4846320" y="3163824"/>
            <a:ext cx="82296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6320" y="3163824"/>
            <a:ext cx="822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0" y="3163824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0" y="3163824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0" y="3163824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6560" y="3163824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7863840" y="3163824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63840" y="3163824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" y="3657600"/>
            <a:ext cx="365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2880" y="3657600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3657600"/>
            <a:ext cx="3200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3657600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3749039" y="3657600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49039" y="3657600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4846320" y="3657600"/>
            <a:ext cx="822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46320" y="3657600"/>
            <a:ext cx="822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0" y="3657600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0" y="3657600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3657600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66560" y="3657600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7863840" y="3657600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63840" y="3657600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" y="4151376"/>
            <a:ext cx="36576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82880" y="4151376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>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4151376"/>
            <a:ext cx="320040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4151376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3749039" y="4151376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49039" y="415137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4846320" y="4151376"/>
            <a:ext cx="82296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46320" y="4151376"/>
            <a:ext cx="822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4151376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69280" y="415137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6766560" y="4151376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66560" y="415137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7863840" y="4151376"/>
            <a:ext cx="1097280" cy="493776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63840" y="415137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3A6A"/>
                </a:solidFill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82880" y="4882896"/>
            <a:ext cx="7315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4A200"/>
                </a:solidFill>
              </a:rPr>
              <a:t>OB9 Maintenance System · เหมืองแม่เมาะ | CONFIDENTIAL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488289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4A200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6E4F0"/>
                </a:solidFill>
              </a:rPr>
              <a:t>ITD / thyssenkrupp Industrial Solutions  |  Mae Moh Mine · OB9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4A200"/>
                </a:solidFill>
              </a:rPr>
              <a:t>OB9-WPR-YYYY-WNN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74980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8778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สรุปค่าใช้จ่าย / Cost Summary (TDC)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4114800" cy="1005840"/>
          </a:xfrm>
          <a:prstGeom prst="rect">
            <a:avLst/>
          </a:prstGeom>
          <a:solidFill>
            <a:srgbClr val="0D1F30"/>
          </a:solidFill>
          <a:ln w="1270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ค่าอะไหล่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8449"/>
                </a:solidFill>
              </a:rPr>
              <a:t>฿ 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371600"/>
            <a:ext cx="4114800" cy="1005840"/>
          </a:xfrm>
          <a:prstGeom prst="rect">
            <a:avLst/>
          </a:prstGeom>
          <a:solidFill>
            <a:srgbClr val="0D1F30"/>
          </a:solidFill>
          <a:ln w="1270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417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ค่าอะไหล่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783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</a:rPr>
              <a:t>฿ __________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4114800" cy="1005840"/>
          </a:xfrm>
          <a:prstGeom prst="rect">
            <a:avLst/>
          </a:prstGeom>
          <a:solidFill>
            <a:srgbClr val="0D1F30"/>
          </a:solidFill>
          <a:ln w="1270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60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ค่าแรง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6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5F8A"/>
                </a:solidFill>
              </a:rPr>
              <a:t>฿ 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2514600"/>
            <a:ext cx="4114800" cy="1005840"/>
          </a:xfrm>
          <a:prstGeom prst="rect">
            <a:avLst/>
          </a:prstGeom>
          <a:solidFill>
            <a:srgbClr val="0D1F30"/>
          </a:solidFill>
          <a:ln w="1270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2560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Emergency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926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</a:rPr>
              <a:t>฿ 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57600"/>
            <a:ext cx="4114800" cy="1005840"/>
          </a:xfrm>
          <a:prstGeom prst="rect">
            <a:avLst/>
          </a:prstGeom>
          <a:solidFill>
            <a:srgbClr val="0D1F30"/>
          </a:solidFill>
          <a:ln w="1270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703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E4F0"/>
                </a:solidFill>
              </a:rPr>
              <a:t>Contractor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069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A"/>
                </a:solidFill>
              </a:rPr>
              <a:t>฿ 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3657600"/>
            <a:ext cx="4114800" cy="1005840"/>
          </a:xfrm>
          <a:prstGeom prst="rect">
            <a:avLst/>
          </a:prstGeom>
          <a:solidFill>
            <a:srgbClr val="1A3A6A"/>
          </a:solidFill>
          <a:ln w="25400">
            <a:solidFill>
              <a:srgbClr val="F4A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3703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4A200"/>
                </a:solidFill>
              </a:rPr>
              <a:t>TDC รวมสัปดาห์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069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4A200"/>
                </a:solidFill>
              </a:rPr>
              <a:t>฿ 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6451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เปรียบเทียบ Budget: งบสะสม YTD ___________ | ใช้แล้ว ___________ | คงเหลือ ___________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4882896"/>
            <a:ext cx="7315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4A200"/>
                </a:solidFill>
              </a:rPr>
              <a:t>OB9 Maintenance System · เหมืองแม่เมาะ |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8289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4A200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6E4F0"/>
                </a:solidFill>
              </a:rPr>
              <a:t>ITD / thyssenkrupp Industrial Solutions  |  Mae Moh Mine · OB9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4A200"/>
                </a:solidFill>
              </a:rPr>
              <a:t>OB9-WPR-YYYY-WNN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74980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8778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แผนงานสัปดาห์หน้า / Next Week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44168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A"/>
                </a:solidFill>
              </a:rPr>
              <a:t>PM งานที่วางแผนสัปดาห์หน้า: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73352"/>
            <a:ext cx="8686800" cy="33832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73352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เครื่อง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73352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งาน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7335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วัน/เวลา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67335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ช่างรับผิดชอบ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7335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Spare Parts ที่ต้องเตรียม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673352"/>
            <a:ext cx="1188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ชม.แรง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11680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2011680"/>
            <a:ext cx="2286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2011680"/>
            <a:ext cx="1371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2011680"/>
            <a:ext cx="1371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2011680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2011680"/>
            <a:ext cx="1188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41448"/>
            <a:ext cx="128016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54480" y="2441448"/>
            <a:ext cx="228600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0" y="2441448"/>
            <a:ext cx="137160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80" y="2441448"/>
            <a:ext cx="137160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441448"/>
            <a:ext cx="192024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2441448"/>
            <a:ext cx="118872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871216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54480" y="2871216"/>
            <a:ext cx="2286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0" y="2871216"/>
            <a:ext cx="1371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2871216"/>
            <a:ext cx="1371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2871216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2871216"/>
            <a:ext cx="1188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300984"/>
            <a:ext cx="128016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54480" y="3300984"/>
            <a:ext cx="228600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0" y="3300984"/>
            <a:ext cx="137160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12080" y="3300984"/>
            <a:ext cx="137160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3300984"/>
            <a:ext cx="192024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3920" y="3300984"/>
            <a:ext cx="1188720" cy="42976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730752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54480" y="3730752"/>
            <a:ext cx="2286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0" y="3730752"/>
            <a:ext cx="1371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12080" y="3730752"/>
            <a:ext cx="1371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3730752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03920" y="3730752"/>
            <a:ext cx="1188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17880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A"/>
                </a:solidFill>
              </a:rPr>
              <a:t>จุดเน้น / Focus Areas สัปดาห์หน้า: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48056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• Spreader A — ตรวจ Belt Tension ตามรอบ 500 SMU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70916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• Tripper A — เปลี่ยน Idler Roller ชุดที่ระบุ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93776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• ทำ LOTO Training ทีมช่าง 2 คน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" y="4882896"/>
            <a:ext cx="7315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4A200"/>
                </a:solidFill>
              </a:rPr>
              <a:t>OB9 Maintenance System · เหมืองแม่เมาะ | CONFIDENTIAL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88289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4A200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6E4F0"/>
                </a:solidFill>
              </a:rPr>
              <a:t>ITD / thyssenkrupp Industrial Solutions  |  Mae Moh Mine · OB9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4A200"/>
                </a:solidFill>
              </a:rPr>
              <a:t>OB9-WPR-YYYY-WNN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749808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8778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สรุปและลายเซ็น / Summary &amp; Signatures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4416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A"/>
                </a:solidFill>
              </a:rPr>
              <a:t>ประเด็นสำคัญที่ต้องติดตาม / Key Follow-ups: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86868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A"/>
                </a:solidFill>
              </a:rPr>
              <a:t>แผนงานพิเศษ / Special Requests: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87752"/>
            <a:ext cx="86868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10896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A"/>
                </a:solidFill>
              </a:rPr>
              <a:t>ข้อแนะนำ / Recommendations: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10712"/>
            <a:ext cx="86868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400507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A"/>
                </a:solidFill>
              </a:rPr>
              <a:t>การรับรอง / APPROVAL SIGNATURES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325112"/>
            <a:ext cx="2834640" cy="640080"/>
          </a:xfrm>
          <a:prstGeom prst="rect">
            <a:avLst/>
          </a:prstGeom>
          <a:solidFill>
            <a:srgbClr val="0D1F30"/>
          </a:solidFill>
          <a:ln w="1270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3525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6E4F0"/>
                </a:solidFill>
              </a:rPr>
              <a:t>ผู้จัดทำ / Prepared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634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ลายเซ็น / วันที่: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4325112"/>
            <a:ext cx="2834640" cy="640080"/>
          </a:xfrm>
          <a:prstGeom prst="rect">
            <a:avLst/>
          </a:prstGeom>
          <a:solidFill>
            <a:srgbClr val="0D1F30"/>
          </a:solidFill>
          <a:ln w="1270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3525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6E4F0"/>
                </a:solidFill>
              </a:rPr>
              <a:t>ตรวจสอบ / Reviewed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6634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ลายเซ็น / วันที่: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325112"/>
            <a:ext cx="2834640" cy="640080"/>
          </a:xfrm>
          <a:prstGeom prst="rect">
            <a:avLst/>
          </a:prstGeom>
          <a:solidFill>
            <a:srgbClr val="0D1F30"/>
          </a:solidFill>
          <a:ln w="1270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3525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6E4F0"/>
                </a:solidFill>
              </a:rPr>
              <a:t>อนุมัติ / Approved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6634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ACC"/>
                </a:solidFill>
              </a:rPr>
              <a:t>ลายเซ็น / วันที่: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4882896"/>
            <a:ext cx="7315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4A200"/>
                </a:solidFill>
              </a:rPr>
              <a:t>OB9 Maintenance System · เหมืองแม่เมาะ |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8289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4A200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